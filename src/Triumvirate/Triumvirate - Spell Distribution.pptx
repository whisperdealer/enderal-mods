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4164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A9A4D0"/>
                </a:solidFill>
                <a:latin typeface="Calibri"/>
              </a:rPr>
              <a:t>ENDERAL SE  ·  CONVERSION  ·  WD-16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Triumvirate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600"/>
              </a:spcAft>
            </a:pPr>
            <a:r>
              <a:rPr sz="5400" b="1">
                <a:solidFill>
                  <a:srgbClr val="C9A95C"/>
                </a:solidFill>
                <a:latin typeface="Calibri"/>
              </a:rPr>
              <a:t>Mage Archetypes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5D3E6"/>
                </a:solidFill>
                <a:latin typeface="Calibri"/>
              </a:rPr>
              <a:t>What the mod adds, and how its 75 spells actually reach the player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526280"/>
            <a:ext cx="2286000" cy="123444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t" wrap="square" lIns="201168" tIns="146304"/>
          <a:lstStyle/>
          <a:p>
            <a:pPr algn="l"/>
            <a:r>
              <a:rPr sz="3400" b="1">
                <a:solidFill>
                  <a:srgbClr val="2C2A4A"/>
                </a:solidFill>
                <a:latin typeface="Calibri"/>
              </a:rPr>
              <a:t>75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spells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01568" y="4526280"/>
            <a:ext cx="2286000" cy="123444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t" wrap="square" lIns="201168" tIns="146304"/>
          <a:lstStyle/>
          <a:p>
            <a:pPr algn="l"/>
            <a:r>
              <a:rPr sz="3400" b="1">
                <a:solidFill>
                  <a:srgbClr val="2C2A4A"/>
                </a:solidFill>
                <a:latin typeface="Calibri"/>
              </a:rPr>
              <a:t>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archetypes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88736" y="4526280"/>
            <a:ext cx="2286000" cy="123444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t" wrap="square" lIns="201168" tIns="146304"/>
          <a:lstStyle/>
          <a:p>
            <a:pPr algn="l"/>
            <a:r>
              <a:rPr sz="3400" b="1">
                <a:solidFill>
                  <a:srgbClr val="2C2A4A"/>
                </a:solidFill>
                <a:latin typeface="Calibri"/>
              </a:rPr>
              <a:t>10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merchants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375904" y="4526280"/>
            <a:ext cx="2286000" cy="123444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t" wrap="square" lIns="201168" tIns="146304"/>
          <a:lstStyle/>
          <a:p>
            <a:pPr algn="l"/>
            <a:r>
              <a:rPr sz="3400" b="1">
                <a:solidFill>
                  <a:srgbClr val="2C2A4A"/>
                </a:solidFill>
                <a:latin typeface="Calibri"/>
              </a:rPr>
              <a:t>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scripts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5332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Enai Siaion's mod, rebuilt for Enderal  ·  src/Triumvirate/  ·  branch feat/triumvirate-conversion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C2A4A"/>
                </a:solidFill>
                <a:latin typeface="Calibri"/>
              </a:rPr>
              <a:t>WHAT IT ADDS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Five archetypes, fifteen spells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Three magic schools per archetype, one spell at each of five tiers — 15 spells and 15 tomes apiece.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8105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ARCHETYPE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810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THEME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810512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ENDERAL DISCIPLINES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1051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TOMES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181051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STAVES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" y="2121408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6112" y="2121408"/>
            <a:ext cx="68580" cy="713232"/>
          </a:xfrm>
          <a:prstGeom prst="rect">
            <a:avLst/>
          </a:prstGeom>
          <a:solidFill>
            <a:srgbClr val="3F773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29514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F773F"/>
                </a:solidFill>
                <a:latin typeface="Calibri"/>
              </a:rPr>
              <a:t>Druid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Nature magic, shapeshifting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2295144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Mentalism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2295144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Entropy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295144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Light Magic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3317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35640" y="23317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2871216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" y="2871216"/>
            <a:ext cx="68580" cy="713232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0449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B3A6B"/>
                </a:solidFill>
                <a:latin typeface="Calibri"/>
              </a:rPr>
              <a:t>Shadow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0815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Stealth, illusion, misdirection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3044952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Mentalism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3044952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Elementalism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58784" y="3044952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Psionics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30815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35640" y="30815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" y="3621024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6112" y="3621024"/>
            <a:ext cx="68580" cy="713232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" y="37947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C2F39"/>
                </a:solidFill>
                <a:latin typeface="Calibri"/>
              </a:rPr>
              <a:t>Warlock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383133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Pacts, summons, raw destruction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3794760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Entropy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9752" y="3794760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Elementalism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58784" y="3794760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Psionics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83133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35640" y="383133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6112" y="4370832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6112" y="4370832"/>
            <a:ext cx="68580" cy="713232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5568" y="454456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4862C"/>
                </a:solidFill>
                <a:latin typeface="Calibri"/>
              </a:rPr>
              <a:t>Cleric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458114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Holy fire, wards, healing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720" y="4544568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Elementalism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59752" y="4544568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Psionics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58784" y="4544568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Light Magic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458114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35640" y="458114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6112" y="512064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6112" y="5120640"/>
            <a:ext cx="68580" cy="713232"/>
          </a:xfrm>
          <a:prstGeom prst="rect">
            <a:avLst/>
          </a:prstGeom>
          <a:solidFill>
            <a:srgbClr val="2A6E7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568" y="529437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A6E77"/>
                </a:solidFill>
                <a:latin typeface="Calibri"/>
              </a:rPr>
              <a:t>Shaman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3309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E5E70"/>
                </a:solidFill>
                <a:latin typeface="Calibri"/>
              </a:rPr>
              <a:t>Spirits, totems, the elements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60720" y="5294376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Mentalism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59752" y="5294376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Entropy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58784" y="5294376"/>
            <a:ext cx="1325880" cy="36576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1B1B24"/>
                </a:solidFill>
                <a:latin typeface="Calibri"/>
              </a:rPr>
              <a:t>Light Magic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3309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35640" y="53309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" y="59436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School names are Enderal's own. Alteration is Mentalism and Illusion is Psionics — the intuitive pairing is the wrong one.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26 staves in total, sold as ordinary weapons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A8332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A8332B"/>
                </a:solidFill>
                <a:latin typeface="Calibri"/>
              </a:rPr>
              <a:t>THE PROBLEM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Enai's distribution does nothing in Enderal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The original mod hands out its spells at runtime, from a StartGameEnabled quest script. In Enderal every single receiver it reaches for is absent.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148840"/>
            <a:ext cx="10881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317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1B24"/>
                </a:solidFill>
                <a:latin typeface="Consolas"/>
              </a:rPr>
              <a:t>AddToFaction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→ 10 named Skyrim NPCs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47802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1B24"/>
                </a:solidFill>
                <a:latin typeface="Calibri"/>
              </a:rPr>
              <a:t>Turns priests and herbalists into vendors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404872"/>
            <a:ext cx="3931920" cy="512064"/>
          </a:xfrm>
          <a:prstGeom prst="rect">
            <a:avLst/>
          </a:prstGeom>
          <a:solidFill>
            <a:srgbClr val="F7E9E8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A8332B"/>
                </a:solidFill>
                <a:latin typeface="Calibri"/>
              </a:rPr>
              <a:t>None of the 10 NPCs exist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264408"/>
            <a:ext cx="10881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4472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1B24"/>
                </a:solidFill>
                <a:latin typeface="Consolas"/>
              </a:rPr>
              <a:t>AddItem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→ 14 vanilla merchant chests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5935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1B24"/>
                </a:solidFill>
                <a:latin typeface="Calibri"/>
              </a:rPr>
              <a:t>Drops tome bundles into shop inventories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520440"/>
            <a:ext cx="3931920" cy="512064"/>
          </a:xfrm>
          <a:prstGeom prst="rect">
            <a:avLst/>
          </a:prstGeom>
          <a:solidFill>
            <a:srgbClr val="F7E9E8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A8332B"/>
                </a:solidFill>
                <a:latin typeface="Calibri"/>
              </a:rPr>
              <a:t>None of the 14 chests exist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379976"/>
            <a:ext cx="10881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5628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1B24"/>
                </a:solidFill>
                <a:latin typeface="Consolas"/>
              </a:rPr>
              <a:t>AddForm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→ vanilla staff loot lists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7091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1B24"/>
                </a:solidFill>
                <a:latin typeface="Calibri"/>
              </a:rPr>
              <a:t>Seeds 21 staves into world loot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636008"/>
            <a:ext cx="3931920" cy="512064"/>
          </a:xfrm>
          <a:prstGeom prst="rect">
            <a:avLst/>
          </a:prstGeom>
          <a:solidFill>
            <a:srgbClr val="F7E9E8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A8332B"/>
                </a:solidFill>
                <a:latin typeface="Calibri"/>
              </a:rPr>
              <a:t>Enderal has no staff loot lists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532120"/>
            <a:ext cx="10881360" cy="658368"/>
          </a:xfrm>
          <a:prstGeom prst="rect">
            <a:avLst/>
          </a:prstGeom>
          <a:solidFill>
            <a:srgbClr val="A8332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76 runtime calls  ·  0 of them land  ·  every one logs a “Cannot call … on a None object” line at game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Enderal's Skyrim.esm is Enderal — Bethesda's vendor and loot FormIDs largely did not survive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6F4F"/>
                </a:solidFill>
                <a:latin typeface="Calibri"/>
              </a:rPr>
              <a:t>THE REBUILD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Placed directly in the record, not handed out by a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5331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Ten Enderal merchant chests are overridden and the mod's own tome bundles appended as ordinary items. No scripting, no save-state, no leveled-list dice.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86000"/>
            <a:ext cx="224028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C2A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2286000"/>
            <a:ext cx="2240280" cy="310896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MERCHANT CHEST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71576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1B1B24"/>
                </a:solidFill>
                <a:latin typeface="Consolas"/>
              </a:rPr>
              <a:t>_00E_Merchant_CCMarius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CONT record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overridden verbatim from FS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9544" y="2871216"/>
            <a:ext cx="493776" cy="201168"/>
          </a:xfrm>
          <a:prstGeom prst="rightArrow">
            <a:avLst/>
          </a:prstGeom>
          <a:solidFill>
            <a:srgbClr val="C2C2C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76472" y="2286000"/>
            <a:ext cx="224028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4862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76472" y="2286000"/>
            <a:ext cx="2240280" cy="310896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PARENT BUNDLE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3632" y="271576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1B1B24"/>
                </a:solidFill>
                <a:latin typeface="Consolas"/>
              </a:rPr>
              <a:t>TVR_Tomes_Litem_
Cleric_Restoration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LeveledItem · UseAll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5 entries, one per tier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89904" y="2871216"/>
            <a:ext cx="493776" cy="201168"/>
          </a:xfrm>
          <a:prstGeom prst="rightArrow">
            <a:avLst/>
          </a:prstGeom>
          <a:solidFill>
            <a:srgbClr val="C2C2C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2286000"/>
            <a:ext cx="224028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4862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6832" y="2286000"/>
            <a:ext cx="2240280" cy="310896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TIER BUNDLE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271576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1B1B24"/>
                </a:solidFill>
                <a:latin typeface="Consolas"/>
              </a:rPr>
              <a:t>TVR_Tomes_Litem_
Cleric_050_Restoration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LeveledItem · UseAll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1 entry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970264" y="2871216"/>
            <a:ext cx="493776" cy="201168"/>
          </a:xfrm>
          <a:prstGeom prst="rightArrow">
            <a:avLst/>
          </a:prstGeom>
          <a:solidFill>
            <a:srgbClr val="C2C2C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37192" y="2286000"/>
            <a:ext cx="224028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37192" y="2286000"/>
            <a:ext cx="2240280" cy="310896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THE TOME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271576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1B1B24"/>
                </a:solidFill>
                <a:latin typeface="Consolas"/>
              </a:rPr>
              <a:t>TVR_Cleric_R050_Book_…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Book record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teaches the spell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803904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E5E70"/>
                </a:solidFill>
                <a:latin typeface="Calibri"/>
              </a:rPr>
              <a:t>1 chest entry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3803904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E5E70"/>
                </a:solidFill>
                <a:latin typeface="Calibri"/>
              </a:rPr>
              <a:t>× 5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3803904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E5E70"/>
                </a:solidFill>
                <a:latin typeface="Calibri"/>
              </a:rPr>
              <a:t>× 1 tome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" y="4498848"/>
            <a:ext cx="10881360" cy="1572768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t" wrap="square" lIns="274320" tIns="201168"/>
          <a:lstStyle/>
          <a:p>
            <a:pPr algn="l"/>
            <a:r>
              <a:rPr sz="1500" b="1">
                <a:solidFill>
                  <a:srgbClr val="2C2A4A"/>
                </a:solidFill>
                <a:latin typeface="Calibri"/>
              </a:rPr>
              <a:t>Why UseAll is the whole trick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1B24"/>
                </a:solidFill>
                <a:latin typeface="Calibri"/>
              </a:rPr>
              <a:t>An ordinary leveled list picks ONE entry per draw — that is what made Apocalypse's 160 tomes statistically invisible behind a single injected slot. A UseAll list yields EVERY entry instead. So one item entry in one chest deterministically stocks that archetype's entire 15-tome line, on every restock, forever.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Three schools per archetype = three chest entries = the full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C2A4A"/>
                </a:solidFill>
                <a:latin typeface="Calibri"/>
              </a:rPr>
              <a:t>WHERE TO BUY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The ten merchants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813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MERCHANT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813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WHERE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4813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GOLD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4813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SELLS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148132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STAVES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1810512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0195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Adreyo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1109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Riverville general trader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91109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380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879092"/>
            <a:ext cx="1207008" cy="292608"/>
          </a:xfrm>
          <a:prstGeom prst="rect">
            <a:avLst/>
          </a:prstGeom>
          <a:solidFill>
            <a:srgbClr val="3F773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Druid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44968" y="1879092"/>
            <a:ext cx="1207008" cy="292608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Cleric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" y="2212848"/>
            <a:ext cx="10881360" cy="402336"/>
          </a:xfrm>
          <a:prstGeom prst="rect">
            <a:avLst/>
          </a:prstGeom>
          <a:solidFill>
            <a:srgbClr val="F5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30428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Wild 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3134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Frostcliff Tavern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23134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674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2281428"/>
            <a:ext cx="1207008" cy="292608"/>
          </a:xfrm>
          <a:prstGeom prst="rect">
            <a:avLst/>
          </a:prstGeom>
          <a:solidFill>
            <a:srgbClr val="3F773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Druid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4968" y="2281428"/>
            <a:ext cx="1207008" cy="292608"/>
          </a:xfrm>
          <a:prstGeom prst="rect">
            <a:avLst/>
          </a:prstGeom>
          <a:solidFill>
            <a:srgbClr val="2A6E77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Shaman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800" y="2281428"/>
            <a:ext cx="16916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F773F"/>
            </a:solidFill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3F773F"/>
                </a:solidFill>
                <a:latin typeface="Calibri"/>
              </a:rPr>
              <a:t>Druid staves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" y="2615184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270662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Wild 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7157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Duneville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27157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707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2683764"/>
            <a:ext cx="1207008" cy="292608"/>
          </a:xfrm>
          <a:prstGeom prst="rect">
            <a:avLst/>
          </a:prstGeom>
          <a:solidFill>
            <a:srgbClr val="2A6E77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Shaman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4968" y="2683764"/>
            <a:ext cx="1207008" cy="292608"/>
          </a:xfrm>
          <a:prstGeom prst="rect">
            <a:avLst/>
          </a:prstGeom>
          <a:solidFill>
            <a:srgbClr val="3F773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Druid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9800" y="2683764"/>
            <a:ext cx="16916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A6E77"/>
            </a:solidFill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2A6E77"/>
                </a:solidFill>
                <a:latin typeface="Calibri"/>
              </a:rPr>
              <a:t>Shaman staves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" y="3017520"/>
            <a:ext cx="10881360" cy="402336"/>
          </a:xfrm>
          <a:prstGeom prst="rect">
            <a:avLst/>
          </a:prstGeom>
          <a:solidFill>
            <a:srgbClr val="F5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31089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Smith &amp; Hunter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1181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Duneville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80" y="311810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2200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3086100"/>
            <a:ext cx="1207008" cy="292608"/>
          </a:xfrm>
          <a:prstGeom prst="rect">
            <a:avLst/>
          </a:prstGeom>
          <a:solidFill>
            <a:srgbClr val="2A6E77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6112" y="3419856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351129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Wild Mage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Undercity barracks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35204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630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3488436"/>
            <a:ext cx="1207008" cy="292608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Warlock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4968" y="3488436"/>
            <a:ext cx="1207008" cy="292608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6112" y="3822192"/>
            <a:ext cx="10881360" cy="402336"/>
          </a:xfrm>
          <a:prstGeom prst="rect">
            <a:avLst/>
          </a:prstGeom>
          <a:solidFill>
            <a:srgbClr val="F5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39136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Sister Envy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92277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the Rhalata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39227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2700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3890772"/>
            <a:ext cx="1207008" cy="292608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Warlock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44968" y="3890772"/>
            <a:ext cx="1207008" cy="292608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9800" y="3890772"/>
            <a:ext cx="16916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8C2F39"/>
            </a:solidFill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8C2F39"/>
                </a:solidFill>
                <a:latin typeface="Calibri"/>
              </a:rPr>
              <a:t>Warlock staves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" y="4224528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43159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The Bash Hole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32511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Undercity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80" y="432511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2200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46520" y="4293108"/>
            <a:ext cx="1207008" cy="292608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Warlock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6112" y="4626864"/>
            <a:ext cx="10881360" cy="402336"/>
          </a:xfrm>
          <a:prstGeom prst="rect">
            <a:avLst/>
          </a:prstGeom>
          <a:solidFill>
            <a:srgbClr val="F5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47183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Hehler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472744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Undercity fence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40680" y="47274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1450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46520" y="4695444"/>
            <a:ext cx="1207008" cy="292608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29800" y="4695444"/>
            <a:ext cx="16916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4B3A6B"/>
            </a:solidFill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4B3A6B"/>
                </a:solidFill>
                <a:latin typeface="Calibri"/>
              </a:rPr>
              <a:t>Shadow staves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6112" y="5029200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Marius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512978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Ark bookshop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12978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250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46520" y="5097780"/>
            <a:ext cx="1207008" cy="292608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Cleric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44968" y="5097780"/>
            <a:ext cx="1207008" cy="292608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29800" y="5097780"/>
            <a:ext cx="16916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4862C"/>
            </a:solidFill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B4862C"/>
                </a:solidFill>
                <a:latin typeface="Calibri"/>
              </a:rPr>
              <a:t>Cleric staves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6112" y="5431536"/>
            <a:ext cx="10881360" cy="402336"/>
          </a:xfrm>
          <a:prstGeom prst="rect">
            <a:avLst/>
          </a:prstGeom>
          <a:solidFill>
            <a:srgbClr val="F5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1560" y="552297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Guard Blacksmith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00400" y="553212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Ark garrison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55321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E5E70"/>
                </a:solidFill>
                <a:latin typeface="Calibri"/>
              </a:rPr>
              <a:t>2200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46520" y="5500116"/>
            <a:ext cx="1207008" cy="292608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Cleric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" y="592531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The Sells column is the Novice–Adept line. Expert and Master are sold only in Ark and the Undercity — see slide 10.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Each chest copied verbatim from the winning Forgotten Stories version before our entries are appended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C2A4A"/>
                </a:solidFill>
                <a:latin typeface="Calibri"/>
              </a:rPr>
              <a:t>COVERAGE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Every spell reachable, on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A leveled list makes an item available, never findable. Direct placement means a player can be told where to go — and every archetype's line sits at three separate merchants, so no single shop is a bottleneck.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0280"/>
            <a:ext cx="21031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2240280"/>
            <a:ext cx="2103120" cy="457200"/>
          </a:xfrm>
          <a:prstGeom prst="rect">
            <a:avLst/>
          </a:prstGeom>
          <a:solidFill>
            <a:srgbClr val="3F773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Druid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5292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3F773F"/>
                </a:solidFill>
                <a:latin typeface="Calibr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vendors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85876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Adreyo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Frostcliff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Duneville WM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0672" y="2240280"/>
            <a:ext cx="21031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2240280"/>
            <a:ext cx="2103120" cy="457200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5264" y="285292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4B3A6B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vendors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385876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UC barracks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Sister Envy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Hehler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Marius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85232" y="2240280"/>
            <a:ext cx="21031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85232" y="2240280"/>
            <a:ext cx="2103120" cy="4572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Warlock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285292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8C2F39"/>
                </a:solidFill>
                <a:latin typeface="Calibr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vendors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9824" y="385876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UC barracks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Sister Envy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Bash Hole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79792" y="2240280"/>
            <a:ext cx="21031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79792" y="2240280"/>
            <a:ext cx="2103120" cy="457200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Cleric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384" y="285292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B4862C"/>
                </a:solidFill>
                <a:latin typeface="Calibr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vendors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4" y="385876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Adreyo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Marius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Ark smith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74352" y="2240280"/>
            <a:ext cx="21031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74352" y="2240280"/>
            <a:ext cx="2103120" cy="457200"/>
          </a:xfrm>
          <a:prstGeom prst="rect">
            <a:avLst/>
          </a:prstGeom>
          <a:solidFill>
            <a:srgbClr val="2A6E77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Shaman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38944" y="285292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A6E77"/>
                </a:solidFill>
                <a:latin typeface="Calibr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vendors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3858768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Frostcliff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Duneville WM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E5E70"/>
                </a:solidFill>
                <a:latin typeface="Calibri"/>
              </a:rPr>
              <a:t>Duneville smith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" y="5074920"/>
            <a:ext cx="10881360" cy="86868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274320"/>
          <a:lstStyle/>
          <a:p>
            <a:pPr algn="l"/>
            <a:r>
              <a:rPr sz="1500" b="1">
                <a:solidFill>
                  <a:srgbClr val="2C2A4A"/>
                </a:solidFill>
                <a:latin typeface="Calibri"/>
              </a:rPr>
              <a:t>Novice–Adept: 36 spells at 3 vendors, the 9 Shadow ones at 4  ·  Expert &amp; Master: Ark / Undercity only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The counts above are the Novice–Adept line; 26 staves sit at one flavour-fit vendor apiece. Asserted by the generator, which walks the full chest → bundle → tier bundle → tome chain and fails the build if any tome falls short.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tools/15-distribution.ps1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C2A4A"/>
                </a:solidFill>
                <a:latin typeface="Calibri"/>
              </a:rPr>
              <a:t>PRICING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Rescaled onto Enderal's much flatter economy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Enai's ladder is vanilla Skyrim's. Enderal's entire spell-tome range is 20–350 gold, so a Skyrim-priced master tome would cost about what a unique greataxe does. The top three tiers rescale by a per-tier ratio, which preserves Enai's ordering inside each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SKYRIM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ENDERAL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2542032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" y="2542032"/>
            <a:ext cx="68580" cy="640080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706624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Novice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72491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1B24"/>
                </a:solidFill>
                <a:latin typeface="Calibri"/>
              </a:rPr>
              <a:t>44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724912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5E70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70662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E6F4F"/>
                </a:solidFill>
                <a:latin typeface="Calibri"/>
              </a:rPr>
              <a:t>44 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34056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already inside Enderal's band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3200400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" y="3200400"/>
            <a:ext cx="68580" cy="640080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36499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Apprentice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1B24"/>
                </a:solidFill>
                <a:latin typeface="Calibri"/>
              </a:rPr>
              <a:t>104 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38328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5E70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364992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E6F4F"/>
                </a:solidFill>
                <a:latin typeface="Calibri"/>
              </a:rPr>
              <a:t>104 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392424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already inside Enderal's band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" y="3858768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" y="3858768"/>
            <a:ext cx="68580" cy="640080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02336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Adept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04164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5E70"/>
                </a:solidFill>
                <a:latin typeface="Calibri"/>
              </a:rPr>
              <a:t>356 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04164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4862C"/>
                </a:solidFill>
                <a:latin typeface="Calibri"/>
              </a:rPr>
              <a:t>×0.43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02336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4862C"/>
                </a:solidFill>
                <a:latin typeface="Calibri"/>
              </a:rPr>
              <a:t>153 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05079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rescaled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" y="4517136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6112" y="4517136"/>
            <a:ext cx="68580" cy="640080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68172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Expert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700016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5E70"/>
                </a:solidFill>
                <a:latin typeface="Calibri"/>
              </a:rPr>
              <a:t>646 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4700016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4862C"/>
                </a:solidFill>
                <a:latin typeface="Calibri"/>
              </a:rPr>
              <a:t>×0.35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468172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4862C"/>
                </a:solidFill>
                <a:latin typeface="Calibri"/>
              </a:rPr>
              <a:t>226 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7091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rescaled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6112" y="5175504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6112" y="5175504"/>
            <a:ext cx="68580" cy="640080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340096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1B24"/>
                </a:solidFill>
                <a:latin typeface="Calibri"/>
              </a:rPr>
              <a:t>Master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358384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5E70"/>
                </a:solidFill>
                <a:latin typeface="Calibri"/>
              </a:rPr>
              <a:t>1491 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5358384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4862C"/>
                </a:solidFill>
                <a:latin typeface="Calibri"/>
              </a:rPr>
              <a:t>×0.23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340096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4862C"/>
                </a:solidFill>
                <a:latin typeface="Calibri"/>
              </a:rPr>
              <a:t>343 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36752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rescaled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" y="592531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Prices shown are the Druid Mentalism line (Druidcraft → Chase the Horizon) as a worked example. 45 tomes were repriced in total.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Enderal's whole tome range: 20–350 gold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C2A4A"/>
                </a:solidFill>
                <a:latin typeface="Calibri"/>
              </a:rPr>
              <a:t>HOUSEKEEPING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What the rebuild deleted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37 records of dead machinery came out. After the pass the plugin overrides nothing of any master except the ten chests.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148840"/>
            <a:ext cx="262432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22219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332B"/>
                </a:solidFill>
                <a:latin typeface="Calibri"/>
              </a:rPr>
              <a:t>14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vanilla merchant chests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Overrides of Skyrim chests Enderal does not have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148840"/>
            <a:ext cx="262432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9624" y="2331720"/>
            <a:ext cx="22219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332B"/>
                </a:solidFill>
                <a:latin typeface="Calibri"/>
              </a:rPr>
              <a:t>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vanilla Services* factions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The barter factions those chests hung 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148840"/>
            <a:ext cx="262432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2331720"/>
            <a:ext cx="22219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332B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TVR satellite chests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Enai's own hidden inventories, plus their placed refs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53144" y="2148840"/>
            <a:ext cx="262432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4312" y="2331720"/>
            <a:ext cx="22219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332B"/>
                </a:solidFill>
                <a:latin typeface="Calibri"/>
              </a:rPr>
              <a:t>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B1B24"/>
                </a:solidFill>
                <a:latin typeface="Calibri"/>
              </a:rPr>
              <a:t>TVR Services factions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The factions that made 10 Skyrim NPCs barterable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160520"/>
            <a:ext cx="10881360" cy="1417320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t" wrap="square" lIns="274320" tIns="201168"/>
          <a:lstStyle/>
          <a:p>
            <a:pPr algn="l"/>
            <a:r>
              <a:rPr sz="1500" b="1">
                <a:solidFill>
                  <a:srgbClr val="2C2A4A"/>
                </a:solidFill>
                <a:latin typeface="Calibri"/>
              </a:rPr>
              <a:t>What survived, and why the quest was not simply switched off</a:t>
            </a:r>
          </a:p>
          <a:p>
            <a:pPr algn="l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1B1B24"/>
                </a:solidFill>
                <a:latin typeface="Calibri"/>
              </a:rPr>
              <a:t>A quest flag does not gate a quest script — clearing StartGameEnabled leaves OnInit firing anyway. So the populate quest keeps a stripped VMAD with three properties, and a loose replacement TVR_PopulateSpellBooks_Script.pex keeps only its two live pieces: starting the Obedience/conversion quest, and showing the mod-ready message. A loose file beats the BSA's copy, so the 76 dead calls are gone outright.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5724144"/>
            <a:ext cx="108813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100" b="0">
                <a:solidFill>
                  <a:srgbClr val="5E5E70"/>
                </a:solidFill>
                <a:latin typeface="Consolas"/>
              </a:rPr>
              <a:t>HEDR 1.70  ·  masters: Skyrim.esm + Update.esm + Forgotten Stories.esm  ·  745,728 bytes  ·  byte-identical across two builds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Spriggit pinned at 0.40.0 — 0.41.0 silently corrupts leveled-list entries, which is exactly this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6F4F"/>
                </a:solidFill>
                <a:latin typeface="Calibri"/>
              </a:rPr>
              <a:t>THE BUG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45 of the 75 tomes could never be sold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Re-homing the tomes onto live merchants was necessary and not sufficient. Enai's Adept, Expert and Master tier bundles still carried vanilla Skyrim's spell-tome gate — and in Enderal that gate never opens.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121408"/>
            <a:ext cx="5212080" cy="1481328"/>
          </a:xfrm>
          <a:prstGeom prst="rect">
            <a:avLst/>
          </a:prstGeom>
          <a:solidFill>
            <a:srgbClr val="242430"/>
          </a:solidFill>
          <a:ln>
            <a:noFill/>
          </a:ln>
          <a:effectLst/>
        </p:spPr>
        <p:txBody>
          <a:bodyPr rtlCol="0" anchor="t" wrap="square" lIns="228600" tIns="164592"/>
          <a:lstStyle/>
          <a:p>
            <a:pPr algn="l"/>
            <a:r>
              <a:rPr sz="1150">
                <a:solidFill>
                  <a:srgbClr val="88889C"/>
                </a:solidFill>
                <a:latin typeface="Consolas"/>
              </a:rPr>
              <a:t># TVR_Tomes_Litem_Druid_050_Alteration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50" b="0">
                <a:solidFill>
                  <a:srgbClr val="E8E8F0"/>
                </a:solidFill>
                <a:latin typeface="Consolas"/>
              </a:rPr>
              <a:t>ChanceNone: 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8A098"/>
                </a:solidFill>
                <a:latin typeface="Consolas"/>
              </a:rPr>
              <a:t>Global: 0F2584:Skyrim.esm   ← deleted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8889C"/>
                </a:solidFill>
                <a:latin typeface="Consolas"/>
              </a:rPr>
              <a:t>        # PCAlterationAdept, reads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121408"/>
            <a:ext cx="5349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B1B24"/>
                </a:solidFill>
                <a:latin typeface="Calibri"/>
              </a:rPr>
              <a:t>1.  Global overrides ChanceNone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When a leveled list names a Global, that global's value IS the chance-none percentage. 100 means it yields nothing, ever.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172968"/>
            <a:ext cx="5349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B1B24"/>
                </a:solidFill>
                <a:latin typeface="Calibri"/>
              </a:rPr>
              <a:t>2.  Nothing in Enderal lowers it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Vanilla zeroes it from WISkillIncrease02 — a quest in the real Skyrim.esm and in neither Enderal's nor FS. No Enderal script mentions the globals.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4224528"/>
            <a:ext cx="5349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B1B24"/>
                </a:solidFill>
                <a:latin typeface="Calibri"/>
              </a:rPr>
              <a:t>3.  So it is inert, not missing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5E70"/>
                </a:solidFill>
                <a:latin typeface="Calibri"/>
              </a:rPr>
              <a:t>Across Enderal's whole tree the only file referencing 0F2584 is the global's own record. It resolves fine; it just never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822191"/>
            <a:ext cx="5212080" cy="1463040"/>
          </a:xfrm>
          <a:prstGeom prst="rect">
            <a:avLst/>
          </a:prstGeom>
          <a:solidFill>
            <a:srgbClr val="E7F2EB"/>
          </a:solidFill>
          <a:ln>
            <a:noFill/>
          </a:ln>
          <a:effectLst/>
        </p:spPr>
        <p:txBody>
          <a:bodyPr rtlCol="0" anchor="t" wrap="square" lIns="228600" tIns="182880"/>
          <a:lstStyle/>
          <a:p>
            <a:pPr algn="l"/>
            <a:r>
              <a:rPr sz="1400" b="1">
                <a:solidFill>
                  <a:srgbClr val="2E6F4F"/>
                </a:solidFill>
                <a:latin typeface="Calibri"/>
              </a:rPr>
              <a:t>Fixed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1">
                <a:solidFill>
                  <a:srgbClr val="1B1B24"/>
                </a:solidFill>
                <a:latin typeface="Calibri"/>
              </a:rPr>
              <a:t>One line deleted from 45 records.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E6F4F"/>
                </a:solidFill>
                <a:latin typeface="Calibri"/>
              </a:rPr>
              <a:t>30 of 75 obtainable  →  75 of 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" y="5486400"/>
            <a:ext cx="10881360" cy="713232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250" b="0">
                <a:solidFill>
                  <a:srgbClr val="1B1B24"/>
                </a:solidFill>
                <a:latin typeface="Calibri"/>
              </a:rPr>
              <a:t>Why the build missed it: the old proof walked the chain STRUCTURALLY — it read Reference: and never ChanceNone or Global, so it reported “75/75 tomes at ≥3 vendors” on a mod that could sell 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tools/17-tier-gating.ps1  ·  a structural reachability proof is not a reachability proof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C2A4A"/>
                </a:solidFill>
                <a:latin typeface="Calibri"/>
              </a:rPr>
              <a:t>TIER GATING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Expert and Master: Ark and the Undercity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716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5E70"/>
                </a:solidFill>
                <a:latin typeface="Calibri"/>
              </a:rPr>
              <a:t>With the gate gone, every vendor would sell every tier. So the top two tiers are cut out of the 15 per-school parent bundles and placed directly at five capital and underworld chests. No new records — the tier bundles already existed.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0482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MERCHANT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482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CELL (RESOLVED FROM ITS PLACED REF)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0482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E5E70"/>
                </a:solidFill>
                <a:latin typeface="Calibri"/>
              </a:rPr>
              <a:t>CARRIES EXPERT + MASTER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304288"/>
            <a:ext cx="10881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2316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1B24"/>
                </a:solidFill>
                <a:latin typeface="Calibri"/>
              </a:rPr>
              <a:t>Marius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34086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1B24"/>
                </a:solidFill>
                <a:latin typeface="Consolas"/>
              </a:rPr>
              <a:t>CapitalCityBibliothek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Ark — the library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2423160"/>
            <a:ext cx="1188720" cy="292608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Cleric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2423160"/>
            <a:ext cx="1188720" cy="292608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4584" y="2423160"/>
            <a:ext cx="1188720" cy="292608"/>
          </a:xfrm>
          <a:prstGeom prst="rect">
            <a:avLst/>
          </a:prstGeom>
          <a:solidFill>
            <a:srgbClr val="3F773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Druid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06456" y="2423160"/>
            <a:ext cx="1188720" cy="292608"/>
          </a:xfrm>
          <a:prstGeom prst="rect">
            <a:avLst/>
          </a:prstGeom>
          <a:solidFill>
            <a:srgbClr val="2A6E77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Shaman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" y="2889504"/>
            <a:ext cx="10881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0837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1B24"/>
                </a:solidFill>
                <a:latin typeface="Calibri"/>
              </a:rPr>
              <a:t>Guard Blacksmith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92608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1B24"/>
                </a:solidFill>
                <a:latin typeface="Consolas"/>
              </a:rPr>
              <a:t>CapitalCityCastleWorld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Ark — the castle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3008376"/>
            <a:ext cx="1188720" cy="292608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Cleric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3474720"/>
            <a:ext cx="10881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593592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1B24"/>
                </a:solidFill>
                <a:latin typeface="Calibri"/>
              </a:rPr>
              <a:t>Wild 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511296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1B24"/>
                </a:solidFill>
                <a:latin typeface="Consolas"/>
              </a:rPr>
              <a:t>UndercityBarracks1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Undercity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20840" y="3593592"/>
            <a:ext cx="1188720" cy="292608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Warlock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82712" y="3593592"/>
            <a:ext cx="1188720" cy="292608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3593592"/>
            <a:ext cx="1188720" cy="292608"/>
          </a:xfrm>
          <a:prstGeom prst="rect">
            <a:avLst/>
          </a:prstGeom>
          <a:solidFill>
            <a:srgbClr val="3F773F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Druid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06456" y="3593592"/>
            <a:ext cx="1188720" cy="292608"/>
          </a:xfrm>
          <a:prstGeom prst="rect">
            <a:avLst/>
          </a:prstGeom>
          <a:solidFill>
            <a:srgbClr val="2A6E77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" y="4059936"/>
            <a:ext cx="10881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417880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1B24"/>
                </a:solidFill>
                <a:latin typeface="Calibri"/>
              </a:rPr>
              <a:t>The Bash Hole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4096512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1B24"/>
                </a:solidFill>
                <a:latin typeface="Consolas"/>
              </a:rPr>
              <a:t>UndercityBarracks3BashHole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Undercity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178808"/>
            <a:ext cx="1188720" cy="292608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Warlock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" y="4645152"/>
            <a:ext cx="10881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764024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1B24"/>
                </a:solidFill>
                <a:latin typeface="Calibri"/>
              </a:rPr>
              <a:t>Hehler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468172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1B24"/>
                </a:solidFill>
                <a:latin typeface="Consolas"/>
              </a:rPr>
              <a:t>UndercityBarracks0FalseDogTavern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Undercity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0840" y="4764024"/>
            <a:ext cx="1188720" cy="292608"/>
          </a:xfrm>
          <a:prstGeom prst="rect">
            <a:avLst/>
          </a:prstGeom>
          <a:solidFill>
            <a:srgbClr val="4B3A6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Shadow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5815584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E5E70"/>
                </a:solidFill>
                <a:latin typeface="Calibri"/>
              </a:rPr>
              <a:t>Druid and Shaman have no Ark/Undercity vendor of their own, so they go to the two shops that can justify carrying anything — the library and the Wild Mage. Sister Envy is NOT Undercity: her chest sits in FSNQR03RhalataTemple, so the richest vendor in the set keeps the low tiers only.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6112" y="5303520"/>
            <a:ext cx="10881360" cy="420624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2C2A4A"/>
                </a:solidFill>
                <a:latin typeface="Calibri"/>
              </a:rPr>
              <a:t>Every archetype keeps at least two Expert/Master sources  ·  asserted: all 30 high-tier tomes reachable ONLY from these five chests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Locations resolved from each container's placed ref, not from its name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658368"/>
          </a:xfrm>
          <a:prstGeom prst="rect">
            <a:avLst/>
          </a:prstGeom>
          <a:solidFill>
            <a:srgbClr val="2C2A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402336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C2A4A"/>
                </a:solidFill>
                <a:latin typeface="Calibri"/>
              </a:rPr>
              <a:t>WHERE IT STANDS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B1B24"/>
                </a:solidFill>
                <a:latin typeface="Calibri"/>
              </a:rPr>
              <a:t>Verified, and what is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31673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6F4F"/>
                </a:solidFill>
                <a:latin typeface="Calibri"/>
              </a:rPr>
              <a:t>VERIFIED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1609344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1609344"/>
            <a:ext cx="59436" cy="877824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755648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B1B24"/>
                </a:solidFill>
                <a:latin typeface="Calibri"/>
              </a:rPr>
              <a:t>Byte-identical across two builds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SHA-256 881505F7…7164C7, 745,651 bytes — the guard against Spriggit silently dropping leveled-list entries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2578608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" y="2578608"/>
            <a:ext cx="59436" cy="877824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B1B24"/>
                </a:solidFill>
                <a:latin typeface="Calibri"/>
              </a:rPr>
              <a:t>HEDR 1.70, masters intact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Re-read out of the built binary at offset 30, not assumed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3547872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" y="3547872"/>
            <a:ext cx="59436" cy="877824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3694176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B1B24"/>
                </a:solidFill>
                <a:latin typeface="Calibri"/>
              </a:rPr>
              <a:t>The generator is idempotent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A second run reports 0 changes and re-proves every invariant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517136"/>
            <a:ext cx="521208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" y="4517136"/>
            <a:ext cx="59436" cy="877824"/>
          </a:xfrm>
          <a:prstGeom prst="rect">
            <a:avLst/>
          </a:prstGeom>
          <a:solidFill>
            <a:srgbClr val="2E6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66344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B1B24"/>
                </a:solidFill>
                <a:latin typeface="Calibri"/>
              </a:rPr>
              <a:t>75/75 tomes obtainable, 15 per tier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All 30 Expert/Master confined to the five Ark/Undercity chests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316736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332B"/>
                </a:solidFill>
                <a:latin typeface="Calibri"/>
              </a:rPr>
              <a:t>OPEN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09344"/>
            <a:ext cx="533095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1609344"/>
            <a:ext cx="59436" cy="1207008"/>
          </a:xfrm>
          <a:prstGeom prst="rect">
            <a:avLst/>
          </a:prstGeom>
          <a:solidFill>
            <a:srgbClr val="B4862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755648"/>
            <a:ext cx="4892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B1B24"/>
                </a:solidFill>
                <a:latin typeface="Calibri"/>
              </a:rPr>
              <a:t>Not yet proven in game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A clean build is not a working patch. At the vendor visit, confirm an Expert or Master tome AT Marius or an Undercity merchant — and its ABSENCE from Adreyo and the Wild Mages.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907792"/>
            <a:ext cx="533095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2907792"/>
            <a:ext cx="59436" cy="1207008"/>
          </a:xfrm>
          <a:prstGeom prst="rect">
            <a:avLst/>
          </a:prstGeom>
          <a:solidFill>
            <a:srgbClr val="A8332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054096"/>
            <a:ext cx="4892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B1B24"/>
                </a:solidFill>
                <a:latin typeface="Calibri"/>
              </a:rPr>
              <a:t>Three chests collide with EGO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CCBlacksmithArkGuard, Sister Envy and Hehler ARE in EGO's 319 container overrides. The vendor-mapping doc claimed all ten were clear. We load after EGO and would revert it on those three.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4206240"/>
            <a:ext cx="533095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20" y="4206240"/>
            <a:ext cx="59436" cy="1207008"/>
          </a:xfrm>
          <a:prstGeom prst="rect">
            <a:avLst/>
          </a:prstGeom>
          <a:solidFill>
            <a:srgbClr val="A8332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352544"/>
            <a:ext cx="4892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B1B24"/>
                </a:solidFill>
                <a:latin typeface="Calibri"/>
              </a:rPr>
              <a:t>Re-homing them is not easy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EGO owns Ark's commerce: of 55 capital merchant chests only 6 are clear, all 250–405 gold. Every Ark chest at 900+ is EGO's. Accept it, forward EGO's records, or ship a separate EGO patch.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" y="5532120"/>
            <a:ext cx="10881360" cy="530352"/>
          </a:xfrm>
          <a:prstGeom prst="rect">
            <a:avLst/>
          </a:prstGeom>
          <a:solidFill>
            <a:srgbClr val="F0F0F5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150" b="0">
                <a:solidFill>
                  <a:srgbClr val="5E5E70"/>
                </a:solidFill>
                <a:latin typeface="Consolas"/>
              </a:rPr>
              <a:t>Sources:  tools/15-distribution.ps1 + 17-tier-gating.ps1  ·  arch-docs/Triumvirate/vendor-mapping.md  ·  enderal-gap-audit.md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27648"/>
            <a:ext cx="9692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Triumvirate — Mage Archetypes, Enderal 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327648"/>
            <a:ext cx="10332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E5E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