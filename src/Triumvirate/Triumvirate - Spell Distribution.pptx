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0" y="0"/>
            <a:ext cx="12191695" cy="404164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914400" y="1051560"/>
            <a:ext cx="10058400" cy="2377440"/>
          </a:xfrm>
          <a:prstGeom prst="rect">
            <a:avLst/>
          </a:prstGeom>
          <a:noFill/>
        </p:spPr>
        <p:txBody>
          <a:bodyPr wrap="square" anchor="t" lIns="0" rIns="0" tIns="0" bIns="0">
            <a:spAutoFit/>
          </a:bodyPr>
          <a:lstStyle/>
          <a:p>
            <a:pPr algn="l">
              <a:spcBef>
                <a:spcPts val="0"/>
              </a:spcBef>
              <a:spcAft>
                <a:spcPts val="1400"/>
              </a:spcAft>
            </a:pPr>
            <a:r>
              <a:rPr sz="1300" b="1">
                <a:solidFill>
                  <a:srgbClr val="A9A4D0"/>
                </a:solidFill>
                <a:latin typeface="Calibri"/>
              </a:rPr>
              <a:t>ENDERAL SE  ·  CONVERSION  ·  WD-16</a:t>
            </a:r>
          </a:p>
          <a:p>
            <a:pPr algn="l">
              <a:lnSpc>
                <a:spcPct val="95000"/>
              </a:lnSpc>
              <a:spcBef>
                <a:spcPts val="0"/>
              </a:spcBef>
              <a:spcAft>
                <a:spcPts val="200"/>
              </a:spcAft>
            </a:pPr>
            <a:r>
              <a:rPr sz="5400" b="1">
                <a:solidFill>
                  <a:srgbClr val="FFFFFF"/>
                </a:solidFill>
                <a:latin typeface="Calibri"/>
              </a:rPr>
              <a:t>Triumvirate</a:t>
            </a:r>
          </a:p>
          <a:p>
            <a:pPr algn="l">
              <a:lnSpc>
                <a:spcPct val="95000"/>
              </a:lnSpc>
              <a:spcBef>
                <a:spcPts val="0"/>
              </a:spcBef>
              <a:spcAft>
                <a:spcPts val="1600"/>
              </a:spcAft>
            </a:pPr>
            <a:r>
              <a:rPr sz="5400" b="1">
                <a:solidFill>
                  <a:srgbClr val="C9A95C"/>
                </a:solidFill>
                <a:latin typeface="Calibri"/>
              </a:rPr>
              <a:t>Mage Archetypes</a:t>
            </a:r>
          </a:p>
          <a:p>
            <a:pPr algn="l">
              <a:spcBef>
                <a:spcPts val="0"/>
              </a:spcBef>
              <a:spcAft>
                <a:spcPts val="0"/>
              </a:spcAft>
            </a:pPr>
            <a:r>
              <a:rPr sz="1900" b="0">
                <a:solidFill>
                  <a:srgbClr val="D5D3E6"/>
                </a:solidFill>
                <a:latin typeface="Calibri"/>
              </a:rPr>
              <a:t>What the mod adds, and how its 75 spells actually reach the player</a:t>
            </a:r>
          </a:p>
        </p:txBody>
      </p:sp>
      <p:sp>
        <p:nvSpPr>
          <p:cNvPr id="5" name="Rectangle 4"/>
          <p:cNvSpPr/>
          <p:nvPr/>
        </p:nvSpPr>
        <p:spPr>
          <a:xfrm>
            <a:off x="914400" y="4526280"/>
            <a:ext cx="2286000" cy="1234440"/>
          </a:xfrm>
          <a:prstGeom prst="rect">
            <a:avLst/>
          </a:prstGeom>
          <a:solidFill>
            <a:srgbClr val="F0F0F5"/>
          </a:solidFill>
          <a:ln>
            <a:noFill/>
          </a:ln>
          <a:effectLst/>
        </p:spPr>
        <p:txBody>
          <a:bodyPr rtlCol="0" anchor="t" wrap="square" lIns="201168" tIns="146304"/>
          <a:lstStyle/>
          <a:p>
            <a:pPr algn="l"/>
            <a:r>
              <a:rPr sz="3400" b="1">
                <a:solidFill>
                  <a:srgbClr val="2C2A4A"/>
                </a:solidFill>
                <a:latin typeface="Calibri"/>
              </a:rPr>
              <a:t>75</a:t>
            </a:r>
          </a:p>
          <a:p>
            <a:pPr algn="l">
              <a:spcBef>
                <a:spcPts val="0"/>
              </a:spcBef>
              <a:spcAft>
                <a:spcPts val="0"/>
              </a:spcAft>
            </a:pPr>
            <a:r>
              <a:rPr sz="1300" b="0">
                <a:solidFill>
                  <a:srgbClr val="5E5E70"/>
                </a:solidFill>
                <a:latin typeface="Calibri"/>
              </a:rPr>
              <a:t>spells</a:t>
            </a:r>
          </a:p>
        </p:txBody>
      </p:sp>
      <p:sp>
        <p:nvSpPr>
          <p:cNvPr id="6" name="Rectangle 5"/>
          <p:cNvSpPr/>
          <p:nvPr/>
        </p:nvSpPr>
        <p:spPr>
          <a:xfrm>
            <a:off x="3401568" y="4526280"/>
            <a:ext cx="2286000" cy="1234440"/>
          </a:xfrm>
          <a:prstGeom prst="rect">
            <a:avLst/>
          </a:prstGeom>
          <a:solidFill>
            <a:srgbClr val="F0F0F5"/>
          </a:solidFill>
          <a:ln>
            <a:noFill/>
          </a:ln>
          <a:effectLst/>
        </p:spPr>
        <p:txBody>
          <a:bodyPr rtlCol="0" anchor="t" wrap="square" lIns="201168" tIns="146304"/>
          <a:lstStyle/>
          <a:p>
            <a:pPr algn="l"/>
            <a:r>
              <a:rPr sz="3400" b="1">
                <a:solidFill>
                  <a:srgbClr val="2C2A4A"/>
                </a:solidFill>
                <a:latin typeface="Calibri"/>
              </a:rPr>
              <a:t>5</a:t>
            </a:r>
          </a:p>
          <a:p>
            <a:pPr algn="l">
              <a:spcBef>
                <a:spcPts val="0"/>
              </a:spcBef>
              <a:spcAft>
                <a:spcPts val="0"/>
              </a:spcAft>
            </a:pPr>
            <a:r>
              <a:rPr sz="1300" b="0">
                <a:solidFill>
                  <a:srgbClr val="5E5E70"/>
                </a:solidFill>
                <a:latin typeface="Calibri"/>
              </a:rPr>
              <a:t>archetypes</a:t>
            </a:r>
          </a:p>
        </p:txBody>
      </p:sp>
      <p:sp>
        <p:nvSpPr>
          <p:cNvPr id="7" name="Rectangle 6"/>
          <p:cNvSpPr/>
          <p:nvPr/>
        </p:nvSpPr>
        <p:spPr>
          <a:xfrm>
            <a:off x="5888736" y="4526280"/>
            <a:ext cx="2286000" cy="1234440"/>
          </a:xfrm>
          <a:prstGeom prst="rect">
            <a:avLst/>
          </a:prstGeom>
          <a:solidFill>
            <a:srgbClr val="F0F0F5"/>
          </a:solidFill>
          <a:ln>
            <a:noFill/>
          </a:ln>
          <a:effectLst/>
        </p:spPr>
        <p:txBody>
          <a:bodyPr rtlCol="0" anchor="t" wrap="square" lIns="201168" tIns="146304"/>
          <a:lstStyle/>
          <a:p>
            <a:pPr algn="l"/>
            <a:r>
              <a:rPr sz="3400" b="1">
                <a:solidFill>
                  <a:srgbClr val="2C2A4A"/>
                </a:solidFill>
                <a:latin typeface="Calibri"/>
              </a:rPr>
              <a:t>10</a:t>
            </a:r>
          </a:p>
          <a:p>
            <a:pPr algn="l">
              <a:spcBef>
                <a:spcPts val="0"/>
              </a:spcBef>
              <a:spcAft>
                <a:spcPts val="0"/>
              </a:spcAft>
            </a:pPr>
            <a:r>
              <a:rPr sz="1300" b="0">
                <a:solidFill>
                  <a:srgbClr val="5E5E70"/>
                </a:solidFill>
                <a:latin typeface="Calibri"/>
              </a:rPr>
              <a:t>merchants</a:t>
            </a:r>
          </a:p>
        </p:txBody>
      </p:sp>
      <p:sp>
        <p:nvSpPr>
          <p:cNvPr id="8" name="Rectangle 7"/>
          <p:cNvSpPr/>
          <p:nvPr/>
        </p:nvSpPr>
        <p:spPr>
          <a:xfrm>
            <a:off x="8375904" y="4526280"/>
            <a:ext cx="2286000" cy="1234440"/>
          </a:xfrm>
          <a:prstGeom prst="rect">
            <a:avLst/>
          </a:prstGeom>
          <a:solidFill>
            <a:srgbClr val="F0F0F5"/>
          </a:solidFill>
          <a:ln>
            <a:noFill/>
          </a:ln>
          <a:effectLst/>
        </p:spPr>
        <p:txBody>
          <a:bodyPr rtlCol="0" anchor="t" wrap="square" lIns="201168" tIns="146304"/>
          <a:lstStyle/>
          <a:p>
            <a:pPr algn="l"/>
            <a:r>
              <a:rPr sz="3400" b="1">
                <a:solidFill>
                  <a:srgbClr val="2C2A4A"/>
                </a:solidFill>
                <a:latin typeface="Calibri"/>
              </a:rPr>
              <a:t>0</a:t>
            </a:r>
          </a:p>
          <a:p>
            <a:pPr algn="l">
              <a:spcBef>
                <a:spcPts val="0"/>
              </a:spcBef>
              <a:spcAft>
                <a:spcPts val="0"/>
              </a:spcAft>
            </a:pPr>
            <a:r>
              <a:rPr sz="1300" b="0">
                <a:solidFill>
                  <a:srgbClr val="5E5E70"/>
                </a:solidFill>
                <a:latin typeface="Calibri"/>
              </a:rPr>
              <a:t>scripts used</a:t>
            </a:r>
          </a:p>
        </p:txBody>
      </p:sp>
      <p:sp>
        <p:nvSpPr>
          <p:cNvPr id="9" name="TextBox 8"/>
          <p:cNvSpPr txBox="1"/>
          <p:nvPr/>
        </p:nvSpPr>
        <p:spPr>
          <a:xfrm>
            <a:off x="914400" y="6053328"/>
            <a:ext cx="10332720" cy="365760"/>
          </a:xfrm>
          <a:prstGeom prst="rect">
            <a:avLst/>
          </a:prstGeom>
          <a:noFill/>
        </p:spPr>
        <p:txBody>
          <a:bodyPr wrap="square" anchor="t" lIns="0" rIns="0" tIns="0" bIns="0">
            <a:spAutoFit/>
          </a:bodyPr>
          <a:lstStyle/>
          <a:p>
            <a:pPr algn="l">
              <a:spcBef>
                <a:spcPts val="0"/>
              </a:spcBef>
              <a:spcAft>
                <a:spcPts val="0"/>
              </a:spcAft>
            </a:pPr>
            <a:r>
              <a:rPr sz="1150" b="0">
                <a:solidFill>
                  <a:srgbClr val="5E5E70"/>
                </a:solidFill>
                <a:latin typeface="Calibri"/>
              </a:rPr>
              <a:t>Enai Siaion's mod, rebuilt for Enderal  ·  src/Triumvirate/  ·  branch feat/triumvirate-conversion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WHAT IT ADDS</a:t>
            </a:r>
          </a:p>
          <a:p>
            <a:pPr algn="l">
              <a:lnSpc>
                <a:spcPct val="95000"/>
              </a:lnSpc>
              <a:spcBef>
                <a:spcPts val="0"/>
              </a:spcBef>
              <a:spcAft>
                <a:spcPts val="0"/>
              </a:spcAft>
            </a:pPr>
            <a:r>
              <a:rPr sz="3000" b="1">
                <a:solidFill>
                  <a:srgbClr val="1B1B24"/>
                </a:solidFill>
                <a:latin typeface="Calibri"/>
              </a:rPr>
              <a:t>Five archetypes, fifteen spells each</a:t>
            </a:r>
          </a:p>
        </p:txBody>
      </p:sp>
      <p:sp>
        <p:nvSpPr>
          <p:cNvPr id="5" name="TextBox 4"/>
          <p:cNvSpPr txBox="1"/>
          <p:nvPr/>
        </p:nvSpPr>
        <p:spPr>
          <a:xfrm>
            <a:off x="896112" y="1371600"/>
            <a:ext cx="10424160" cy="45720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Three magic schools per archetype, one spell at each of five tiers — 15 spells and 15 tomes apiece.</a:t>
            </a:r>
          </a:p>
        </p:txBody>
      </p:sp>
      <p:sp>
        <p:nvSpPr>
          <p:cNvPr id="6" name="TextBox 5"/>
          <p:cNvSpPr txBox="1"/>
          <p:nvPr/>
        </p:nvSpPr>
        <p:spPr>
          <a:xfrm>
            <a:off x="896112" y="1810512"/>
            <a:ext cx="192024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ARCHETYPE</a:t>
            </a:r>
          </a:p>
        </p:txBody>
      </p:sp>
      <p:sp>
        <p:nvSpPr>
          <p:cNvPr id="7" name="TextBox 6"/>
          <p:cNvSpPr txBox="1"/>
          <p:nvPr/>
        </p:nvSpPr>
        <p:spPr>
          <a:xfrm>
            <a:off x="2880360" y="1810512"/>
            <a:ext cx="274320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THEME</a:t>
            </a:r>
          </a:p>
        </p:txBody>
      </p:sp>
      <p:sp>
        <p:nvSpPr>
          <p:cNvPr id="8" name="TextBox 7"/>
          <p:cNvSpPr txBox="1"/>
          <p:nvPr/>
        </p:nvSpPr>
        <p:spPr>
          <a:xfrm>
            <a:off x="5760720" y="1810512"/>
            <a:ext cx="420624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ENDERAL DISCIPLINES</a:t>
            </a:r>
          </a:p>
        </p:txBody>
      </p:sp>
      <p:sp>
        <p:nvSpPr>
          <p:cNvPr id="9" name="TextBox 8"/>
          <p:cNvSpPr txBox="1"/>
          <p:nvPr/>
        </p:nvSpPr>
        <p:spPr>
          <a:xfrm>
            <a:off x="10058400" y="1810512"/>
            <a:ext cx="68580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TOMES</a:t>
            </a:r>
          </a:p>
        </p:txBody>
      </p:sp>
      <p:sp>
        <p:nvSpPr>
          <p:cNvPr id="10" name="TextBox 9"/>
          <p:cNvSpPr txBox="1"/>
          <p:nvPr/>
        </p:nvSpPr>
        <p:spPr>
          <a:xfrm>
            <a:off x="10835640" y="1810512"/>
            <a:ext cx="77724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STAVES</a:t>
            </a:r>
          </a:p>
        </p:txBody>
      </p:sp>
      <p:sp>
        <p:nvSpPr>
          <p:cNvPr id="11" name="Rectangle 10"/>
          <p:cNvSpPr/>
          <p:nvPr/>
        </p:nvSpPr>
        <p:spPr>
          <a:xfrm>
            <a:off x="896112" y="2121408"/>
            <a:ext cx="10881360" cy="713232"/>
          </a:xfrm>
          <a:prstGeom prst="rect">
            <a:avLst/>
          </a:prstGeom>
          <a:solidFill>
            <a:srgbClr val="FFFFFF"/>
          </a:solidFill>
          <a:ln w="9525">
            <a:solidFill>
              <a:srgbClr val="D6D6DE"/>
            </a:solidFill>
          </a:ln>
          <a:effectLst/>
        </p:spPr>
        <p:txBody>
          <a:bodyPr rtlCol="0" anchor="ctr" wrap="square"/>
          <a:lstStyle/>
          <a:p>
            <a:pPr algn="ctr"/>
          </a:p>
        </p:txBody>
      </p:sp>
      <p:sp>
        <p:nvSpPr>
          <p:cNvPr id="12" name="Rectangle 11"/>
          <p:cNvSpPr/>
          <p:nvPr/>
        </p:nvSpPr>
        <p:spPr>
          <a:xfrm>
            <a:off x="896112" y="2121408"/>
            <a:ext cx="68580" cy="713232"/>
          </a:xfrm>
          <a:prstGeom prst="rect">
            <a:avLst/>
          </a:prstGeom>
          <a:solidFill>
            <a:srgbClr val="3F773F"/>
          </a:solidFill>
          <a:ln>
            <a:noFill/>
          </a:ln>
          <a:effectLst/>
        </p:spPr>
        <p:txBody>
          <a:bodyPr rtlCol="0" anchor="ctr" wrap="square"/>
          <a:lstStyle/>
          <a:p>
            <a:pPr algn="ctr"/>
          </a:p>
        </p:txBody>
      </p:sp>
      <p:sp>
        <p:nvSpPr>
          <p:cNvPr id="13" name="TextBox 12"/>
          <p:cNvSpPr txBox="1"/>
          <p:nvPr/>
        </p:nvSpPr>
        <p:spPr>
          <a:xfrm>
            <a:off x="1115568" y="2295144"/>
            <a:ext cx="1828800" cy="365760"/>
          </a:xfrm>
          <a:prstGeom prst="rect">
            <a:avLst/>
          </a:prstGeom>
          <a:noFill/>
        </p:spPr>
        <p:txBody>
          <a:bodyPr wrap="square" anchor="t" lIns="0" rIns="0" tIns="0" bIns="0">
            <a:spAutoFit/>
          </a:bodyPr>
          <a:lstStyle/>
          <a:p>
            <a:pPr algn="l">
              <a:spcBef>
                <a:spcPts val="0"/>
              </a:spcBef>
              <a:spcAft>
                <a:spcPts val="0"/>
              </a:spcAft>
            </a:pPr>
            <a:r>
              <a:rPr sz="1700" b="1">
                <a:solidFill>
                  <a:srgbClr val="3F773F"/>
                </a:solidFill>
                <a:latin typeface="Calibri"/>
              </a:rPr>
              <a:t>Druid</a:t>
            </a:r>
          </a:p>
        </p:txBody>
      </p:sp>
      <p:sp>
        <p:nvSpPr>
          <p:cNvPr id="14" name="TextBox 13"/>
          <p:cNvSpPr txBox="1"/>
          <p:nvPr/>
        </p:nvSpPr>
        <p:spPr>
          <a:xfrm>
            <a:off x="2880360" y="2331720"/>
            <a:ext cx="2834640" cy="365760"/>
          </a:xfrm>
          <a:prstGeom prst="rect">
            <a:avLst/>
          </a:prstGeom>
          <a:noFill/>
        </p:spPr>
        <p:txBody>
          <a:bodyPr wrap="square" anchor="t" lIns="0" rIns="0" tIns="0" bIns="0">
            <a:spAutoFit/>
          </a:bodyPr>
          <a:lstStyle/>
          <a:p>
            <a:pPr algn="l">
              <a:spcBef>
                <a:spcPts val="0"/>
              </a:spcBef>
              <a:spcAft>
                <a:spcPts val="0"/>
              </a:spcAft>
            </a:pPr>
            <a:r>
              <a:rPr sz="1300" b="0">
                <a:solidFill>
                  <a:srgbClr val="5E5E70"/>
                </a:solidFill>
                <a:latin typeface="Calibri"/>
              </a:rPr>
              <a:t>Nature magic, shapeshifting</a:t>
            </a:r>
          </a:p>
        </p:txBody>
      </p:sp>
      <p:sp>
        <p:nvSpPr>
          <p:cNvPr id="15" name="Rectangle 14"/>
          <p:cNvSpPr/>
          <p:nvPr/>
        </p:nvSpPr>
        <p:spPr>
          <a:xfrm>
            <a:off x="5760720" y="2295144"/>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Mentalism</a:t>
            </a:r>
          </a:p>
        </p:txBody>
      </p:sp>
      <p:sp>
        <p:nvSpPr>
          <p:cNvPr id="16" name="Rectangle 15"/>
          <p:cNvSpPr/>
          <p:nvPr/>
        </p:nvSpPr>
        <p:spPr>
          <a:xfrm>
            <a:off x="7159752" y="2295144"/>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Entropy</a:t>
            </a:r>
          </a:p>
        </p:txBody>
      </p:sp>
      <p:sp>
        <p:nvSpPr>
          <p:cNvPr id="17" name="Rectangle 16"/>
          <p:cNvSpPr/>
          <p:nvPr/>
        </p:nvSpPr>
        <p:spPr>
          <a:xfrm>
            <a:off x="8558784" y="2295144"/>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Light Magic</a:t>
            </a:r>
          </a:p>
        </p:txBody>
      </p:sp>
      <p:sp>
        <p:nvSpPr>
          <p:cNvPr id="18" name="TextBox 17"/>
          <p:cNvSpPr txBox="1"/>
          <p:nvPr/>
        </p:nvSpPr>
        <p:spPr>
          <a:xfrm>
            <a:off x="10058400" y="2331720"/>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15</a:t>
            </a:r>
          </a:p>
        </p:txBody>
      </p:sp>
      <p:sp>
        <p:nvSpPr>
          <p:cNvPr id="19" name="TextBox 18"/>
          <p:cNvSpPr txBox="1"/>
          <p:nvPr/>
        </p:nvSpPr>
        <p:spPr>
          <a:xfrm>
            <a:off x="10835640" y="2331720"/>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4</a:t>
            </a:r>
          </a:p>
        </p:txBody>
      </p:sp>
      <p:sp>
        <p:nvSpPr>
          <p:cNvPr id="20" name="Rectangle 19"/>
          <p:cNvSpPr/>
          <p:nvPr/>
        </p:nvSpPr>
        <p:spPr>
          <a:xfrm>
            <a:off x="896112" y="2871216"/>
            <a:ext cx="10881360" cy="713232"/>
          </a:xfrm>
          <a:prstGeom prst="rect">
            <a:avLst/>
          </a:prstGeom>
          <a:solidFill>
            <a:srgbClr val="FFFFFF"/>
          </a:solidFill>
          <a:ln w="9525">
            <a:solidFill>
              <a:srgbClr val="D6D6DE"/>
            </a:solidFill>
          </a:ln>
          <a:effectLst/>
        </p:spPr>
        <p:txBody>
          <a:bodyPr rtlCol="0" anchor="ctr" wrap="square"/>
          <a:lstStyle/>
          <a:p>
            <a:pPr algn="ctr"/>
          </a:p>
        </p:txBody>
      </p:sp>
      <p:sp>
        <p:nvSpPr>
          <p:cNvPr id="21" name="Rectangle 20"/>
          <p:cNvSpPr/>
          <p:nvPr/>
        </p:nvSpPr>
        <p:spPr>
          <a:xfrm>
            <a:off x="896112" y="2871216"/>
            <a:ext cx="68580" cy="713232"/>
          </a:xfrm>
          <a:prstGeom prst="rect">
            <a:avLst/>
          </a:prstGeom>
          <a:solidFill>
            <a:srgbClr val="4B3A6B"/>
          </a:solidFill>
          <a:ln>
            <a:noFill/>
          </a:ln>
          <a:effectLst/>
        </p:spPr>
        <p:txBody>
          <a:bodyPr rtlCol="0" anchor="ctr" wrap="square"/>
          <a:lstStyle/>
          <a:p>
            <a:pPr algn="ctr"/>
          </a:p>
        </p:txBody>
      </p:sp>
      <p:sp>
        <p:nvSpPr>
          <p:cNvPr id="22" name="TextBox 21"/>
          <p:cNvSpPr txBox="1"/>
          <p:nvPr/>
        </p:nvSpPr>
        <p:spPr>
          <a:xfrm>
            <a:off x="1115568" y="3044952"/>
            <a:ext cx="1828800" cy="365760"/>
          </a:xfrm>
          <a:prstGeom prst="rect">
            <a:avLst/>
          </a:prstGeom>
          <a:noFill/>
        </p:spPr>
        <p:txBody>
          <a:bodyPr wrap="square" anchor="t" lIns="0" rIns="0" tIns="0" bIns="0">
            <a:spAutoFit/>
          </a:bodyPr>
          <a:lstStyle/>
          <a:p>
            <a:pPr algn="l">
              <a:spcBef>
                <a:spcPts val="0"/>
              </a:spcBef>
              <a:spcAft>
                <a:spcPts val="0"/>
              </a:spcAft>
            </a:pPr>
            <a:r>
              <a:rPr sz="1700" b="1">
                <a:solidFill>
                  <a:srgbClr val="4B3A6B"/>
                </a:solidFill>
                <a:latin typeface="Calibri"/>
              </a:rPr>
              <a:t>Shadow</a:t>
            </a:r>
          </a:p>
        </p:txBody>
      </p:sp>
      <p:sp>
        <p:nvSpPr>
          <p:cNvPr id="23" name="TextBox 22"/>
          <p:cNvSpPr txBox="1"/>
          <p:nvPr/>
        </p:nvSpPr>
        <p:spPr>
          <a:xfrm>
            <a:off x="2880360" y="3081528"/>
            <a:ext cx="2834640" cy="365760"/>
          </a:xfrm>
          <a:prstGeom prst="rect">
            <a:avLst/>
          </a:prstGeom>
          <a:noFill/>
        </p:spPr>
        <p:txBody>
          <a:bodyPr wrap="square" anchor="t" lIns="0" rIns="0" tIns="0" bIns="0">
            <a:spAutoFit/>
          </a:bodyPr>
          <a:lstStyle/>
          <a:p>
            <a:pPr algn="l">
              <a:spcBef>
                <a:spcPts val="0"/>
              </a:spcBef>
              <a:spcAft>
                <a:spcPts val="0"/>
              </a:spcAft>
            </a:pPr>
            <a:r>
              <a:rPr sz="1300" b="0">
                <a:solidFill>
                  <a:srgbClr val="5E5E70"/>
                </a:solidFill>
                <a:latin typeface="Calibri"/>
              </a:rPr>
              <a:t>Stealth, illusion, misdirection</a:t>
            </a:r>
          </a:p>
        </p:txBody>
      </p:sp>
      <p:sp>
        <p:nvSpPr>
          <p:cNvPr id="24" name="Rectangle 23"/>
          <p:cNvSpPr/>
          <p:nvPr/>
        </p:nvSpPr>
        <p:spPr>
          <a:xfrm>
            <a:off x="5760720" y="3044952"/>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Mentalism</a:t>
            </a:r>
          </a:p>
        </p:txBody>
      </p:sp>
      <p:sp>
        <p:nvSpPr>
          <p:cNvPr id="25" name="Rectangle 24"/>
          <p:cNvSpPr/>
          <p:nvPr/>
        </p:nvSpPr>
        <p:spPr>
          <a:xfrm>
            <a:off x="7159752" y="3044952"/>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Elementalism</a:t>
            </a:r>
          </a:p>
        </p:txBody>
      </p:sp>
      <p:sp>
        <p:nvSpPr>
          <p:cNvPr id="26" name="Rectangle 25"/>
          <p:cNvSpPr/>
          <p:nvPr/>
        </p:nvSpPr>
        <p:spPr>
          <a:xfrm>
            <a:off x="8558784" y="3044952"/>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Psionics</a:t>
            </a:r>
          </a:p>
        </p:txBody>
      </p:sp>
      <p:sp>
        <p:nvSpPr>
          <p:cNvPr id="27" name="TextBox 26"/>
          <p:cNvSpPr txBox="1"/>
          <p:nvPr/>
        </p:nvSpPr>
        <p:spPr>
          <a:xfrm>
            <a:off x="10058400" y="3081528"/>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15</a:t>
            </a:r>
          </a:p>
        </p:txBody>
      </p:sp>
      <p:sp>
        <p:nvSpPr>
          <p:cNvPr id="28" name="TextBox 27"/>
          <p:cNvSpPr txBox="1"/>
          <p:nvPr/>
        </p:nvSpPr>
        <p:spPr>
          <a:xfrm>
            <a:off x="10835640" y="3081528"/>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4</a:t>
            </a:r>
          </a:p>
        </p:txBody>
      </p:sp>
      <p:sp>
        <p:nvSpPr>
          <p:cNvPr id="29" name="Rectangle 28"/>
          <p:cNvSpPr/>
          <p:nvPr/>
        </p:nvSpPr>
        <p:spPr>
          <a:xfrm>
            <a:off x="896112" y="3621024"/>
            <a:ext cx="10881360" cy="713232"/>
          </a:xfrm>
          <a:prstGeom prst="rect">
            <a:avLst/>
          </a:prstGeom>
          <a:solidFill>
            <a:srgbClr val="FFFFFF"/>
          </a:solidFill>
          <a:ln w="9525">
            <a:solidFill>
              <a:srgbClr val="D6D6DE"/>
            </a:solidFill>
          </a:ln>
          <a:effectLst/>
        </p:spPr>
        <p:txBody>
          <a:bodyPr rtlCol="0" anchor="ctr" wrap="square"/>
          <a:lstStyle/>
          <a:p>
            <a:pPr algn="ctr"/>
          </a:p>
        </p:txBody>
      </p:sp>
      <p:sp>
        <p:nvSpPr>
          <p:cNvPr id="30" name="Rectangle 29"/>
          <p:cNvSpPr/>
          <p:nvPr/>
        </p:nvSpPr>
        <p:spPr>
          <a:xfrm>
            <a:off x="896112" y="3621024"/>
            <a:ext cx="68580" cy="713232"/>
          </a:xfrm>
          <a:prstGeom prst="rect">
            <a:avLst/>
          </a:prstGeom>
          <a:solidFill>
            <a:srgbClr val="8C2F39"/>
          </a:solidFill>
          <a:ln>
            <a:noFill/>
          </a:ln>
          <a:effectLst/>
        </p:spPr>
        <p:txBody>
          <a:bodyPr rtlCol="0" anchor="ctr" wrap="square"/>
          <a:lstStyle/>
          <a:p>
            <a:pPr algn="ctr"/>
          </a:p>
        </p:txBody>
      </p:sp>
      <p:sp>
        <p:nvSpPr>
          <p:cNvPr id="31" name="TextBox 30"/>
          <p:cNvSpPr txBox="1"/>
          <p:nvPr/>
        </p:nvSpPr>
        <p:spPr>
          <a:xfrm>
            <a:off x="1115568" y="3794760"/>
            <a:ext cx="1828800" cy="365760"/>
          </a:xfrm>
          <a:prstGeom prst="rect">
            <a:avLst/>
          </a:prstGeom>
          <a:noFill/>
        </p:spPr>
        <p:txBody>
          <a:bodyPr wrap="square" anchor="t" lIns="0" rIns="0" tIns="0" bIns="0">
            <a:spAutoFit/>
          </a:bodyPr>
          <a:lstStyle/>
          <a:p>
            <a:pPr algn="l">
              <a:spcBef>
                <a:spcPts val="0"/>
              </a:spcBef>
              <a:spcAft>
                <a:spcPts val="0"/>
              </a:spcAft>
            </a:pPr>
            <a:r>
              <a:rPr sz="1700" b="1">
                <a:solidFill>
                  <a:srgbClr val="8C2F39"/>
                </a:solidFill>
                <a:latin typeface="Calibri"/>
              </a:rPr>
              <a:t>Warlock</a:t>
            </a:r>
          </a:p>
        </p:txBody>
      </p:sp>
      <p:sp>
        <p:nvSpPr>
          <p:cNvPr id="32" name="TextBox 31"/>
          <p:cNvSpPr txBox="1"/>
          <p:nvPr/>
        </p:nvSpPr>
        <p:spPr>
          <a:xfrm>
            <a:off x="2880360" y="3831336"/>
            <a:ext cx="2834640" cy="365760"/>
          </a:xfrm>
          <a:prstGeom prst="rect">
            <a:avLst/>
          </a:prstGeom>
          <a:noFill/>
        </p:spPr>
        <p:txBody>
          <a:bodyPr wrap="square" anchor="t" lIns="0" rIns="0" tIns="0" bIns="0">
            <a:spAutoFit/>
          </a:bodyPr>
          <a:lstStyle/>
          <a:p>
            <a:pPr algn="l">
              <a:spcBef>
                <a:spcPts val="0"/>
              </a:spcBef>
              <a:spcAft>
                <a:spcPts val="0"/>
              </a:spcAft>
            </a:pPr>
            <a:r>
              <a:rPr sz="1300" b="0">
                <a:solidFill>
                  <a:srgbClr val="5E5E70"/>
                </a:solidFill>
                <a:latin typeface="Calibri"/>
              </a:rPr>
              <a:t>Pacts, summons, raw destruction</a:t>
            </a:r>
          </a:p>
        </p:txBody>
      </p:sp>
      <p:sp>
        <p:nvSpPr>
          <p:cNvPr id="33" name="Rectangle 32"/>
          <p:cNvSpPr/>
          <p:nvPr/>
        </p:nvSpPr>
        <p:spPr>
          <a:xfrm>
            <a:off x="5760720" y="3794760"/>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Entropy</a:t>
            </a:r>
          </a:p>
        </p:txBody>
      </p:sp>
      <p:sp>
        <p:nvSpPr>
          <p:cNvPr id="34" name="Rectangle 33"/>
          <p:cNvSpPr/>
          <p:nvPr/>
        </p:nvSpPr>
        <p:spPr>
          <a:xfrm>
            <a:off x="7159752" y="3794760"/>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Elementalism</a:t>
            </a:r>
          </a:p>
        </p:txBody>
      </p:sp>
      <p:sp>
        <p:nvSpPr>
          <p:cNvPr id="35" name="Rectangle 34"/>
          <p:cNvSpPr/>
          <p:nvPr/>
        </p:nvSpPr>
        <p:spPr>
          <a:xfrm>
            <a:off x="8558784" y="3794760"/>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Psionics</a:t>
            </a:r>
          </a:p>
        </p:txBody>
      </p:sp>
      <p:sp>
        <p:nvSpPr>
          <p:cNvPr id="36" name="TextBox 35"/>
          <p:cNvSpPr txBox="1"/>
          <p:nvPr/>
        </p:nvSpPr>
        <p:spPr>
          <a:xfrm>
            <a:off x="10058400" y="3831336"/>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15</a:t>
            </a:r>
          </a:p>
        </p:txBody>
      </p:sp>
      <p:sp>
        <p:nvSpPr>
          <p:cNvPr id="37" name="TextBox 36"/>
          <p:cNvSpPr txBox="1"/>
          <p:nvPr/>
        </p:nvSpPr>
        <p:spPr>
          <a:xfrm>
            <a:off x="10835640" y="3831336"/>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8</a:t>
            </a:r>
          </a:p>
        </p:txBody>
      </p:sp>
      <p:sp>
        <p:nvSpPr>
          <p:cNvPr id="38" name="Rectangle 37"/>
          <p:cNvSpPr/>
          <p:nvPr/>
        </p:nvSpPr>
        <p:spPr>
          <a:xfrm>
            <a:off x="896112" y="4370832"/>
            <a:ext cx="10881360" cy="713232"/>
          </a:xfrm>
          <a:prstGeom prst="rect">
            <a:avLst/>
          </a:prstGeom>
          <a:solidFill>
            <a:srgbClr val="FFFFFF"/>
          </a:solidFill>
          <a:ln w="9525">
            <a:solidFill>
              <a:srgbClr val="D6D6DE"/>
            </a:solidFill>
          </a:ln>
          <a:effectLst/>
        </p:spPr>
        <p:txBody>
          <a:bodyPr rtlCol="0" anchor="ctr" wrap="square"/>
          <a:lstStyle/>
          <a:p>
            <a:pPr algn="ctr"/>
          </a:p>
        </p:txBody>
      </p:sp>
      <p:sp>
        <p:nvSpPr>
          <p:cNvPr id="39" name="Rectangle 38"/>
          <p:cNvSpPr/>
          <p:nvPr/>
        </p:nvSpPr>
        <p:spPr>
          <a:xfrm>
            <a:off x="896112" y="4370832"/>
            <a:ext cx="68580" cy="713232"/>
          </a:xfrm>
          <a:prstGeom prst="rect">
            <a:avLst/>
          </a:prstGeom>
          <a:solidFill>
            <a:srgbClr val="B4862C"/>
          </a:solidFill>
          <a:ln>
            <a:noFill/>
          </a:ln>
          <a:effectLst/>
        </p:spPr>
        <p:txBody>
          <a:bodyPr rtlCol="0" anchor="ctr" wrap="square"/>
          <a:lstStyle/>
          <a:p>
            <a:pPr algn="ctr"/>
          </a:p>
        </p:txBody>
      </p:sp>
      <p:sp>
        <p:nvSpPr>
          <p:cNvPr id="40" name="TextBox 39"/>
          <p:cNvSpPr txBox="1"/>
          <p:nvPr/>
        </p:nvSpPr>
        <p:spPr>
          <a:xfrm>
            <a:off x="1115568" y="4544568"/>
            <a:ext cx="1828800" cy="365760"/>
          </a:xfrm>
          <a:prstGeom prst="rect">
            <a:avLst/>
          </a:prstGeom>
          <a:noFill/>
        </p:spPr>
        <p:txBody>
          <a:bodyPr wrap="square" anchor="t" lIns="0" rIns="0" tIns="0" bIns="0">
            <a:spAutoFit/>
          </a:bodyPr>
          <a:lstStyle/>
          <a:p>
            <a:pPr algn="l">
              <a:spcBef>
                <a:spcPts val="0"/>
              </a:spcBef>
              <a:spcAft>
                <a:spcPts val="0"/>
              </a:spcAft>
            </a:pPr>
            <a:r>
              <a:rPr sz="1700" b="1">
                <a:solidFill>
                  <a:srgbClr val="B4862C"/>
                </a:solidFill>
                <a:latin typeface="Calibri"/>
              </a:rPr>
              <a:t>Cleric</a:t>
            </a:r>
          </a:p>
        </p:txBody>
      </p:sp>
      <p:sp>
        <p:nvSpPr>
          <p:cNvPr id="41" name="TextBox 40"/>
          <p:cNvSpPr txBox="1"/>
          <p:nvPr/>
        </p:nvSpPr>
        <p:spPr>
          <a:xfrm>
            <a:off x="2880360" y="4581144"/>
            <a:ext cx="2834640" cy="365760"/>
          </a:xfrm>
          <a:prstGeom prst="rect">
            <a:avLst/>
          </a:prstGeom>
          <a:noFill/>
        </p:spPr>
        <p:txBody>
          <a:bodyPr wrap="square" anchor="t" lIns="0" rIns="0" tIns="0" bIns="0">
            <a:spAutoFit/>
          </a:bodyPr>
          <a:lstStyle/>
          <a:p>
            <a:pPr algn="l">
              <a:spcBef>
                <a:spcPts val="0"/>
              </a:spcBef>
              <a:spcAft>
                <a:spcPts val="0"/>
              </a:spcAft>
            </a:pPr>
            <a:r>
              <a:rPr sz="1300" b="0">
                <a:solidFill>
                  <a:srgbClr val="5E5E70"/>
                </a:solidFill>
                <a:latin typeface="Calibri"/>
              </a:rPr>
              <a:t>Holy fire, wards, healing</a:t>
            </a:r>
          </a:p>
        </p:txBody>
      </p:sp>
      <p:sp>
        <p:nvSpPr>
          <p:cNvPr id="42" name="Rectangle 41"/>
          <p:cNvSpPr/>
          <p:nvPr/>
        </p:nvSpPr>
        <p:spPr>
          <a:xfrm>
            <a:off x="5760720" y="4544568"/>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Elementalism</a:t>
            </a:r>
          </a:p>
        </p:txBody>
      </p:sp>
      <p:sp>
        <p:nvSpPr>
          <p:cNvPr id="43" name="Rectangle 42"/>
          <p:cNvSpPr/>
          <p:nvPr/>
        </p:nvSpPr>
        <p:spPr>
          <a:xfrm>
            <a:off x="7159752" y="4544568"/>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Psionics</a:t>
            </a:r>
          </a:p>
        </p:txBody>
      </p:sp>
      <p:sp>
        <p:nvSpPr>
          <p:cNvPr id="44" name="Rectangle 43"/>
          <p:cNvSpPr/>
          <p:nvPr/>
        </p:nvSpPr>
        <p:spPr>
          <a:xfrm>
            <a:off x="8558784" y="4544568"/>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Light Magic</a:t>
            </a:r>
          </a:p>
        </p:txBody>
      </p:sp>
      <p:sp>
        <p:nvSpPr>
          <p:cNvPr id="45" name="TextBox 44"/>
          <p:cNvSpPr txBox="1"/>
          <p:nvPr/>
        </p:nvSpPr>
        <p:spPr>
          <a:xfrm>
            <a:off x="10058400" y="4581144"/>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15</a:t>
            </a:r>
          </a:p>
        </p:txBody>
      </p:sp>
      <p:sp>
        <p:nvSpPr>
          <p:cNvPr id="46" name="TextBox 45"/>
          <p:cNvSpPr txBox="1"/>
          <p:nvPr/>
        </p:nvSpPr>
        <p:spPr>
          <a:xfrm>
            <a:off x="10835640" y="4581144"/>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4</a:t>
            </a:r>
          </a:p>
        </p:txBody>
      </p:sp>
      <p:sp>
        <p:nvSpPr>
          <p:cNvPr id="47" name="Rectangle 46"/>
          <p:cNvSpPr/>
          <p:nvPr/>
        </p:nvSpPr>
        <p:spPr>
          <a:xfrm>
            <a:off x="896112" y="5120640"/>
            <a:ext cx="10881360" cy="713232"/>
          </a:xfrm>
          <a:prstGeom prst="rect">
            <a:avLst/>
          </a:prstGeom>
          <a:solidFill>
            <a:srgbClr val="FFFFFF"/>
          </a:solidFill>
          <a:ln w="9525">
            <a:solidFill>
              <a:srgbClr val="D6D6DE"/>
            </a:solidFill>
          </a:ln>
          <a:effectLst/>
        </p:spPr>
        <p:txBody>
          <a:bodyPr rtlCol="0" anchor="ctr" wrap="square"/>
          <a:lstStyle/>
          <a:p>
            <a:pPr algn="ctr"/>
          </a:p>
        </p:txBody>
      </p:sp>
      <p:sp>
        <p:nvSpPr>
          <p:cNvPr id="48" name="Rectangle 47"/>
          <p:cNvSpPr/>
          <p:nvPr/>
        </p:nvSpPr>
        <p:spPr>
          <a:xfrm>
            <a:off x="896112" y="5120640"/>
            <a:ext cx="68580" cy="713232"/>
          </a:xfrm>
          <a:prstGeom prst="rect">
            <a:avLst/>
          </a:prstGeom>
          <a:solidFill>
            <a:srgbClr val="2A6E77"/>
          </a:solidFill>
          <a:ln>
            <a:noFill/>
          </a:ln>
          <a:effectLst/>
        </p:spPr>
        <p:txBody>
          <a:bodyPr rtlCol="0" anchor="ctr" wrap="square"/>
          <a:lstStyle/>
          <a:p>
            <a:pPr algn="ctr"/>
          </a:p>
        </p:txBody>
      </p:sp>
      <p:sp>
        <p:nvSpPr>
          <p:cNvPr id="49" name="TextBox 48"/>
          <p:cNvSpPr txBox="1"/>
          <p:nvPr/>
        </p:nvSpPr>
        <p:spPr>
          <a:xfrm>
            <a:off x="1115568" y="5294376"/>
            <a:ext cx="1828800" cy="365760"/>
          </a:xfrm>
          <a:prstGeom prst="rect">
            <a:avLst/>
          </a:prstGeom>
          <a:noFill/>
        </p:spPr>
        <p:txBody>
          <a:bodyPr wrap="square" anchor="t" lIns="0" rIns="0" tIns="0" bIns="0">
            <a:spAutoFit/>
          </a:bodyPr>
          <a:lstStyle/>
          <a:p>
            <a:pPr algn="l">
              <a:spcBef>
                <a:spcPts val="0"/>
              </a:spcBef>
              <a:spcAft>
                <a:spcPts val="0"/>
              </a:spcAft>
            </a:pPr>
            <a:r>
              <a:rPr sz="1700" b="1">
                <a:solidFill>
                  <a:srgbClr val="2A6E77"/>
                </a:solidFill>
                <a:latin typeface="Calibri"/>
              </a:rPr>
              <a:t>Shaman</a:t>
            </a:r>
          </a:p>
        </p:txBody>
      </p:sp>
      <p:sp>
        <p:nvSpPr>
          <p:cNvPr id="50" name="TextBox 49"/>
          <p:cNvSpPr txBox="1"/>
          <p:nvPr/>
        </p:nvSpPr>
        <p:spPr>
          <a:xfrm>
            <a:off x="2880360" y="5330952"/>
            <a:ext cx="2834640" cy="365760"/>
          </a:xfrm>
          <a:prstGeom prst="rect">
            <a:avLst/>
          </a:prstGeom>
          <a:noFill/>
        </p:spPr>
        <p:txBody>
          <a:bodyPr wrap="square" anchor="t" lIns="0" rIns="0" tIns="0" bIns="0">
            <a:spAutoFit/>
          </a:bodyPr>
          <a:lstStyle/>
          <a:p>
            <a:pPr algn="l">
              <a:spcBef>
                <a:spcPts val="0"/>
              </a:spcBef>
              <a:spcAft>
                <a:spcPts val="0"/>
              </a:spcAft>
            </a:pPr>
            <a:r>
              <a:rPr sz="1300" b="0">
                <a:solidFill>
                  <a:srgbClr val="5E5E70"/>
                </a:solidFill>
                <a:latin typeface="Calibri"/>
              </a:rPr>
              <a:t>Spirits, totems, the elements</a:t>
            </a:r>
          </a:p>
        </p:txBody>
      </p:sp>
      <p:sp>
        <p:nvSpPr>
          <p:cNvPr id="51" name="Rectangle 50"/>
          <p:cNvSpPr/>
          <p:nvPr/>
        </p:nvSpPr>
        <p:spPr>
          <a:xfrm>
            <a:off x="5760720" y="5294376"/>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Mentalism</a:t>
            </a:r>
          </a:p>
        </p:txBody>
      </p:sp>
      <p:sp>
        <p:nvSpPr>
          <p:cNvPr id="52" name="Rectangle 51"/>
          <p:cNvSpPr/>
          <p:nvPr/>
        </p:nvSpPr>
        <p:spPr>
          <a:xfrm>
            <a:off x="7159752" y="5294376"/>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Entropy</a:t>
            </a:r>
          </a:p>
        </p:txBody>
      </p:sp>
      <p:sp>
        <p:nvSpPr>
          <p:cNvPr id="53" name="Rectangle 52"/>
          <p:cNvSpPr/>
          <p:nvPr/>
        </p:nvSpPr>
        <p:spPr>
          <a:xfrm>
            <a:off x="8558784" y="5294376"/>
            <a:ext cx="1325880" cy="365760"/>
          </a:xfrm>
          <a:prstGeom prst="rect">
            <a:avLst/>
          </a:prstGeom>
          <a:solidFill>
            <a:srgbClr val="F0F0F5"/>
          </a:solidFill>
          <a:ln>
            <a:noFill/>
          </a:ln>
          <a:effectLst/>
        </p:spPr>
        <p:txBody>
          <a:bodyPr rtlCol="0" anchor="ctr" wrap="square" lIns="73152" rIns="73152"/>
          <a:lstStyle/>
          <a:p>
            <a:pPr algn="ctr"/>
            <a:r>
              <a:rPr sz="1100" b="0">
                <a:solidFill>
                  <a:srgbClr val="1B1B24"/>
                </a:solidFill>
                <a:latin typeface="Calibri"/>
              </a:rPr>
              <a:t>Light Magic</a:t>
            </a:r>
          </a:p>
        </p:txBody>
      </p:sp>
      <p:sp>
        <p:nvSpPr>
          <p:cNvPr id="54" name="TextBox 53"/>
          <p:cNvSpPr txBox="1"/>
          <p:nvPr/>
        </p:nvSpPr>
        <p:spPr>
          <a:xfrm>
            <a:off x="10058400" y="5330952"/>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15</a:t>
            </a:r>
          </a:p>
        </p:txBody>
      </p:sp>
      <p:sp>
        <p:nvSpPr>
          <p:cNvPr id="55" name="TextBox 54"/>
          <p:cNvSpPr txBox="1"/>
          <p:nvPr/>
        </p:nvSpPr>
        <p:spPr>
          <a:xfrm>
            <a:off x="10835640" y="5330952"/>
            <a:ext cx="640080" cy="36576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6</a:t>
            </a:r>
          </a:p>
        </p:txBody>
      </p:sp>
      <p:sp>
        <p:nvSpPr>
          <p:cNvPr id="56" name="TextBox 55"/>
          <p:cNvSpPr txBox="1"/>
          <p:nvPr/>
        </p:nvSpPr>
        <p:spPr>
          <a:xfrm>
            <a:off x="896112" y="5943600"/>
            <a:ext cx="10424160" cy="365760"/>
          </a:xfrm>
          <a:prstGeom prst="rect">
            <a:avLst/>
          </a:prstGeom>
          <a:noFill/>
        </p:spPr>
        <p:txBody>
          <a:bodyPr wrap="square" anchor="t" lIns="0" rIns="0" tIns="0" bIns="0">
            <a:spAutoFit/>
          </a:bodyPr>
          <a:lstStyle/>
          <a:p>
            <a:pPr algn="l">
              <a:spcBef>
                <a:spcPts val="0"/>
              </a:spcBef>
              <a:spcAft>
                <a:spcPts val="0"/>
              </a:spcAft>
            </a:pPr>
            <a:r>
              <a:rPr sz="1150" b="0">
                <a:solidFill>
                  <a:srgbClr val="5E5E70"/>
                </a:solidFill>
                <a:latin typeface="Calibri"/>
              </a:rPr>
              <a:t>School names are Enderal's own. Alteration is Mentalism and Illusion is Psionics — the intuitive pairing is the wrong one.</a:t>
            </a:r>
          </a:p>
        </p:txBody>
      </p:sp>
      <p:sp>
        <p:nvSpPr>
          <p:cNvPr id="57" name="TextBox 56"/>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26 staves in total, sold as ordinary weapons</a:t>
            </a:r>
          </a:p>
        </p:txBody>
      </p:sp>
      <p:sp>
        <p:nvSpPr>
          <p:cNvPr id="58" name="TextBox 57"/>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A8332B"/>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A8332B"/>
                </a:solidFill>
                <a:latin typeface="Calibri"/>
              </a:rPr>
              <a:t>THE PROBLEM</a:t>
            </a:r>
          </a:p>
          <a:p>
            <a:pPr algn="l">
              <a:lnSpc>
                <a:spcPct val="95000"/>
              </a:lnSpc>
              <a:spcBef>
                <a:spcPts val="0"/>
              </a:spcBef>
              <a:spcAft>
                <a:spcPts val="0"/>
              </a:spcAft>
            </a:pPr>
            <a:r>
              <a:rPr sz="3000" b="1">
                <a:solidFill>
                  <a:srgbClr val="1B1B24"/>
                </a:solidFill>
                <a:latin typeface="Calibri"/>
              </a:rPr>
              <a:t>Enai's distribution does nothing in Enderal</a:t>
            </a:r>
          </a:p>
        </p:txBody>
      </p:sp>
      <p:sp>
        <p:nvSpPr>
          <p:cNvPr id="5" name="TextBox 4"/>
          <p:cNvSpPr txBox="1"/>
          <p:nvPr/>
        </p:nvSpPr>
        <p:spPr>
          <a:xfrm>
            <a:off x="896112" y="1371600"/>
            <a:ext cx="10424160" cy="45720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The original mod hands out its spells at runtime, from a StartGameEnabled quest script. In Enderal every single receiver it reaches for is absent.</a:t>
            </a:r>
          </a:p>
        </p:txBody>
      </p:sp>
      <p:sp>
        <p:nvSpPr>
          <p:cNvPr id="6" name="Rectangle 5"/>
          <p:cNvSpPr/>
          <p:nvPr/>
        </p:nvSpPr>
        <p:spPr>
          <a:xfrm>
            <a:off x="896112" y="2148840"/>
            <a:ext cx="10881360" cy="1024128"/>
          </a:xfrm>
          <a:prstGeom prst="rect">
            <a:avLst/>
          </a:prstGeom>
          <a:solidFill>
            <a:srgbClr val="FFFFFF"/>
          </a:solidFill>
          <a:ln w="9525">
            <a:solidFill>
              <a:srgbClr val="D6D6DE"/>
            </a:solidFill>
          </a:ln>
          <a:effectLst/>
        </p:spPr>
        <p:txBody>
          <a:bodyPr rtlCol="0" anchor="ctr" wrap="square"/>
          <a:lstStyle/>
          <a:p>
            <a:pPr algn="ctr"/>
          </a:p>
        </p:txBody>
      </p:sp>
      <p:sp>
        <p:nvSpPr>
          <p:cNvPr id="7" name="TextBox 6"/>
          <p:cNvSpPr txBox="1"/>
          <p:nvPr/>
        </p:nvSpPr>
        <p:spPr>
          <a:xfrm>
            <a:off x="1143000" y="2331720"/>
            <a:ext cx="2286000" cy="365760"/>
          </a:xfrm>
          <a:prstGeom prst="rect">
            <a:avLst/>
          </a:prstGeom>
          <a:noFill/>
        </p:spPr>
        <p:txBody>
          <a:bodyPr wrap="square" anchor="t" lIns="0" rIns="0" tIns="0" bIns="0">
            <a:spAutoFit/>
          </a:bodyPr>
          <a:lstStyle/>
          <a:p>
            <a:pPr algn="l">
              <a:spcBef>
                <a:spcPts val="0"/>
              </a:spcBef>
              <a:spcAft>
                <a:spcPts val="300"/>
              </a:spcAft>
            </a:pPr>
            <a:r>
              <a:rPr sz="1600" b="1">
                <a:solidFill>
                  <a:srgbClr val="1B1B24"/>
                </a:solidFill>
                <a:latin typeface="Consolas"/>
              </a:rPr>
              <a:t>AddToFaction</a:t>
            </a:r>
          </a:p>
          <a:p>
            <a:pPr algn="l">
              <a:spcBef>
                <a:spcPts val="0"/>
              </a:spcBef>
              <a:spcAft>
                <a:spcPts val="0"/>
              </a:spcAft>
            </a:pPr>
            <a:r>
              <a:rPr sz="1200" b="0">
                <a:solidFill>
                  <a:srgbClr val="5E5E70"/>
                </a:solidFill>
                <a:latin typeface="Calibri"/>
              </a:rPr>
              <a:t>→ 10 named Skyrim NPCs</a:t>
            </a:r>
          </a:p>
        </p:txBody>
      </p:sp>
      <p:sp>
        <p:nvSpPr>
          <p:cNvPr id="8" name="TextBox 7"/>
          <p:cNvSpPr txBox="1"/>
          <p:nvPr/>
        </p:nvSpPr>
        <p:spPr>
          <a:xfrm>
            <a:off x="4206240" y="2478024"/>
            <a:ext cx="3108960" cy="457200"/>
          </a:xfrm>
          <a:prstGeom prst="rect">
            <a:avLst/>
          </a:prstGeom>
          <a:noFill/>
        </p:spPr>
        <p:txBody>
          <a:bodyPr wrap="square" anchor="t" lIns="0" rIns="0" tIns="0" bIns="0">
            <a:spAutoFit/>
          </a:bodyPr>
          <a:lstStyle/>
          <a:p>
            <a:pPr algn="l">
              <a:spcBef>
                <a:spcPts val="0"/>
              </a:spcBef>
              <a:spcAft>
                <a:spcPts val="0"/>
              </a:spcAft>
            </a:pPr>
            <a:r>
              <a:rPr sz="1300" b="0">
                <a:solidFill>
                  <a:srgbClr val="1B1B24"/>
                </a:solidFill>
                <a:latin typeface="Calibri"/>
              </a:rPr>
              <a:t>Turns priests and herbalists into vendors</a:t>
            </a:r>
          </a:p>
        </p:txBody>
      </p:sp>
      <p:sp>
        <p:nvSpPr>
          <p:cNvPr id="9" name="Rectangle 8"/>
          <p:cNvSpPr/>
          <p:nvPr/>
        </p:nvSpPr>
        <p:spPr>
          <a:xfrm>
            <a:off x="7589520" y="2404872"/>
            <a:ext cx="3931920" cy="512064"/>
          </a:xfrm>
          <a:prstGeom prst="rect">
            <a:avLst/>
          </a:prstGeom>
          <a:solidFill>
            <a:srgbClr val="F7E9E8"/>
          </a:solidFill>
          <a:ln>
            <a:noFill/>
          </a:ln>
          <a:effectLst/>
        </p:spPr>
        <p:txBody>
          <a:bodyPr rtlCol="0" anchor="ctr" wrap="square" lIns="73152" rIns="73152"/>
          <a:lstStyle/>
          <a:p>
            <a:pPr algn="ctr"/>
            <a:r>
              <a:rPr sz="1250" b="1">
                <a:solidFill>
                  <a:srgbClr val="A8332B"/>
                </a:solidFill>
                <a:latin typeface="Calibri"/>
              </a:rPr>
              <a:t>None of the 10 NPCs exist</a:t>
            </a:r>
          </a:p>
        </p:txBody>
      </p:sp>
      <p:sp>
        <p:nvSpPr>
          <p:cNvPr id="10" name="Rectangle 9"/>
          <p:cNvSpPr/>
          <p:nvPr/>
        </p:nvSpPr>
        <p:spPr>
          <a:xfrm>
            <a:off x="896112" y="3264408"/>
            <a:ext cx="10881360" cy="1024128"/>
          </a:xfrm>
          <a:prstGeom prst="rect">
            <a:avLst/>
          </a:prstGeom>
          <a:solidFill>
            <a:srgbClr val="FFFFFF"/>
          </a:solidFill>
          <a:ln w="9525">
            <a:solidFill>
              <a:srgbClr val="D6D6DE"/>
            </a:solidFill>
          </a:ln>
          <a:effectLst/>
        </p:spPr>
        <p:txBody>
          <a:bodyPr rtlCol="0" anchor="ctr" wrap="square"/>
          <a:lstStyle/>
          <a:p>
            <a:pPr algn="ctr"/>
          </a:p>
        </p:txBody>
      </p:sp>
      <p:sp>
        <p:nvSpPr>
          <p:cNvPr id="11" name="TextBox 10"/>
          <p:cNvSpPr txBox="1"/>
          <p:nvPr/>
        </p:nvSpPr>
        <p:spPr>
          <a:xfrm>
            <a:off x="1143000" y="3447288"/>
            <a:ext cx="2286000" cy="365760"/>
          </a:xfrm>
          <a:prstGeom prst="rect">
            <a:avLst/>
          </a:prstGeom>
          <a:noFill/>
        </p:spPr>
        <p:txBody>
          <a:bodyPr wrap="square" anchor="t" lIns="0" rIns="0" tIns="0" bIns="0">
            <a:spAutoFit/>
          </a:bodyPr>
          <a:lstStyle/>
          <a:p>
            <a:pPr algn="l">
              <a:spcBef>
                <a:spcPts val="0"/>
              </a:spcBef>
              <a:spcAft>
                <a:spcPts val="300"/>
              </a:spcAft>
            </a:pPr>
            <a:r>
              <a:rPr sz="1600" b="1">
                <a:solidFill>
                  <a:srgbClr val="1B1B24"/>
                </a:solidFill>
                <a:latin typeface="Consolas"/>
              </a:rPr>
              <a:t>AddItem</a:t>
            </a:r>
          </a:p>
          <a:p>
            <a:pPr algn="l">
              <a:spcBef>
                <a:spcPts val="0"/>
              </a:spcBef>
              <a:spcAft>
                <a:spcPts val="0"/>
              </a:spcAft>
            </a:pPr>
            <a:r>
              <a:rPr sz="1200" b="0">
                <a:solidFill>
                  <a:srgbClr val="5E5E70"/>
                </a:solidFill>
                <a:latin typeface="Calibri"/>
              </a:rPr>
              <a:t>→ 14 vanilla merchant chests</a:t>
            </a:r>
          </a:p>
        </p:txBody>
      </p:sp>
      <p:sp>
        <p:nvSpPr>
          <p:cNvPr id="12" name="TextBox 11"/>
          <p:cNvSpPr txBox="1"/>
          <p:nvPr/>
        </p:nvSpPr>
        <p:spPr>
          <a:xfrm>
            <a:off x="4206240" y="3593592"/>
            <a:ext cx="3108960" cy="457200"/>
          </a:xfrm>
          <a:prstGeom prst="rect">
            <a:avLst/>
          </a:prstGeom>
          <a:noFill/>
        </p:spPr>
        <p:txBody>
          <a:bodyPr wrap="square" anchor="t" lIns="0" rIns="0" tIns="0" bIns="0">
            <a:spAutoFit/>
          </a:bodyPr>
          <a:lstStyle/>
          <a:p>
            <a:pPr algn="l">
              <a:spcBef>
                <a:spcPts val="0"/>
              </a:spcBef>
              <a:spcAft>
                <a:spcPts val="0"/>
              </a:spcAft>
            </a:pPr>
            <a:r>
              <a:rPr sz="1300" b="0">
                <a:solidFill>
                  <a:srgbClr val="1B1B24"/>
                </a:solidFill>
                <a:latin typeface="Calibri"/>
              </a:rPr>
              <a:t>Drops tome bundles into shop inventories</a:t>
            </a:r>
          </a:p>
        </p:txBody>
      </p:sp>
      <p:sp>
        <p:nvSpPr>
          <p:cNvPr id="13" name="Rectangle 12"/>
          <p:cNvSpPr/>
          <p:nvPr/>
        </p:nvSpPr>
        <p:spPr>
          <a:xfrm>
            <a:off x="7589520" y="3520440"/>
            <a:ext cx="3931920" cy="512064"/>
          </a:xfrm>
          <a:prstGeom prst="rect">
            <a:avLst/>
          </a:prstGeom>
          <a:solidFill>
            <a:srgbClr val="F7E9E8"/>
          </a:solidFill>
          <a:ln>
            <a:noFill/>
          </a:ln>
          <a:effectLst/>
        </p:spPr>
        <p:txBody>
          <a:bodyPr rtlCol="0" anchor="ctr" wrap="square" lIns="73152" rIns="73152"/>
          <a:lstStyle/>
          <a:p>
            <a:pPr algn="ctr"/>
            <a:r>
              <a:rPr sz="1250" b="1">
                <a:solidFill>
                  <a:srgbClr val="A8332B"/>
                </a:solidFill>
                <a:latin typeface="Calibri"/>
              </a:rPr>
              <a:t>None of the 14 chests exist</a:t>
            </a:r>
          </a:p>
        </p:txBody>
      </p:sp>
      <p:sp>
        <p:nvSpPr>
          <p:cNvPr id="14" name="Rectangle 13"/>
          <p:cNvSpPr/>
          <p:nvPr/>
        </p:nvSpPr>
        <p:spPr>
          <a:xfrm>
            <a:off x="896112" y="4379976"/>
            <a:ext cx="10881360" cy="1024128"/>
          </a:xfrm>
          <a:prstGeom prst="rect">
            <a:avLst/>
          </a:prstGeom>
          <a:solidFill>
            <a:srgbClr val="FFFFFF"/>
          </a:solidFill>
          <a:ln w="9525">
            <a:solidFill>
              <a:srgbClr val="D6D6DE"/>
            </a:solidFill>
          </a:ln>
          <a:effectLst/>
        </p:spPr>
        <p:txBody>
          <a:bodyPr rtlCol="0" anchor="ctr" wrap="square"/>
          <a:lstStyle/>
          <a:p>
            <a:pPr algn="ctr"/>
          </a:p>
        </p:txBody>
      </p:sp>
      <p:sp>
        <p:nvSpPr>
          <p:cNvPr id="15" name="TextBox 14"/>
          <p:cNvSpPr txBox="1"/>
          <p:nvPr/>
        </p:nvSpPr>
        <p:spPr>
          <a:xfrm>
            <a:off x="1143000" y="4562856"/>
            <a:ext cx="2286000" cy="365760"/>
          </a:xfrm>
          <a:prstGeom prst="rect">
            <a:avLst/>
          </a:prstGeom>
          <a:noFill/>
        </p:spPr>
        <p:txBody>
          <a:bodyPr wrap="square" anchor="t" lIns="0" rIns="0" tIns="0" bIns="0">
            <a:spAutoFit/>
          </a:bodyPr>
          <a:lstStyle/>
          <a:p>
            <a:pPr algn="l">
              <a:spcBef>
                <a:spcPts val="0"/>
              </a:spcBef>
              <a:spcAft>
                <a:spcPts val="300"/>
              </a:spcAft>
            </a:pPr>
            <a:r>
              <a:rPr sz="1600" b="1">
                <a:solidFill>
                  <a:srgbClr val="1B1B24"/>
                </a:solidFill>
                <a:latin typeface="Consolas"/>
              </a:rPr>
              <a:t>AddForm</a:t>
            </a:r>
          </a:p>
          <a:p>
            <a:pPr algn="l">
              <a:spcBef>
                <a:spcPts val="0"/>
              </a:spcBef>
              <a:spcAft>
                <a:spcPts val="0"/>
              </a:spcAft>
            </a:pPr>
            <a:r>
              <a:rPr sz="1200" b="0">
                <a:solidFill>
                  <a:srgbClr val="5E5E70"/>
                </a:solidFill>
                <a:latin typeface="Calibri"/>
              </a:rPr>
              <a:t>→ vanilla staff loot lists</a:t>
            </a:r>
          </a:p>
        </p:txBody>
      </p:sp>
      <p:sp>
        <p:nvSpPr>
          <p:cNvPr id="16" name="TextBox 15"/>
          <p:cNvSpPr txBox="1"/>
          <p:nvPr/>
        </p:nvSpPr>
        <p:spPr>
          <a:xfrm>
            <a:off x="4206240" y="4709160"/>
            <a:ext cx="3108960" cy="457200"/>
          </a:xfrm>
          <a:prstGeom prst="rect">
            <a:avLst/>
          </a:prstGeom>
          <a:noFill/>
        </p:spPr>
        <p:txBody>
          <a:bodyPr wrap="square" anchor="t" lIns="0" rIns="0" tIns="0" bIns="0">
            <a:spAutoFit/>
          </a:bodyPr>
          <a:lstStyle/>
          <a:p>
            <a:pPr algn="l">
              <a:spcBef>
                <a:spcPts val="0"/>
              </a:spcBef>
              <a:spcAft>
                <a:spcPts val="0"/>
              </a:spcAft>
            </a:pPr>
            <a:r>
              <a:rPr sz="1300" b="0">
                <a:solidFill>
                  <a:srgbClr val="1B1B24"/>
                </a:solidFill>
                <a:latin typeface="Calibri"/>
              </a:rPr>
              <a:t>Seeds 21 staves into world loot</a:t>
            </a:r>
          </a:p>
        </p:txBody>
      </p:sp>
      <p:sp>
        <p:nvSpPr>
          <p:cNvPr id="17" name="Rectangle 16"/>
          <p:cNvSpPr/>
          <p:nvPr/>
        </p:nvSpPr>
        <p:spPr>
          <a:xfrm>
            <a:off x="7589520" y="4636008"/>
            <a:ext cx="3931920" cy="512064"/>
          </a:xfrm>
          <a:prstGeom prst="rect">
            <a:avLst/>
          </a:prstGeom>
          <a:solidFill>
            <a:srgbClr val="F7E9E8"/>
          </a:solidFill>
          <a:ln>
            <a:noFill/>
          </a:ln>
          <a:effectLst/>
        </p:spPr>
        <p:txBody>
          <a:bodyPr rtlCol="0" anchor="ctr" wrap="square" lIns="73152" rIns="73152"/>
          <a:lstStyle/>
          <a:p>
            <a:pPr algn="ctr"/>
            <a:r>
              <a:rPr sz="1250" b="1">
                <a:solidFill>
                  <a:srgbClr val="A8332B"/>
                </a:solidFill>
                <a:latin typeface="Calibri"/>
              </a:rPr>
              <a:t>Enderal has no staff loot lists</a:t>
            </a:r>
          </a:p>
        </p:txBody>
      </p:sp>
      <p:sp>
        <p:nvSpPr>
          <p:cNvPr id="18" name="Rectangle 17"/>
          <p:cNvSpPr/>
          <p:nvPr/>
        </p:nvSpPr>
        <p:spPr>
          <a:xfrm>
            <a:off x="896112" y="5532120"/>
            <a:ext cx="10881360" cy="658368"/>
          </a:xfrm>
          <a:prstGeom prst="rect">
            <a:avLst/>
          </a:prstGeom>
          <a:solidFill>
            <a:srgbClr val="A8332B"/>
          </a:solidFill>
          <a:ln>
            <a:noFill/>
          </a:ln>
          <a:effectLst/>
        </p:spPr>
        <p:txBody>
          <a:bodyPr rtlCol="0" anchor="ctr" wrap="square" lIns="73152" rIns="73152"/>
          <a:lstStyle/>
          <a:p>
            <a:pPr algn="ctr"/>
            <a:r>
              <a:rPr sz="1500" b="1">
                <a:solidFill>
                  <a:srgbClr val="FFFFFF"/>
                </a:solidFill>
                <a:latin typeface="Calibri"/>
              </a:rPr>
              <a:t>76 runtime calls  ·  0 of them land  ·  every one logs a “Cannot call … on a None object” line at game start</a:t>
            </a:r>
          </a:p>
        </p:txBody>
      </p:sp>
      <p:sp>
        <p:nvSpPr>
          <p:cNvPr id="19" name="TextBox 18"/>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Enderal's Skyrim.esm is Enderal — Bethesda's vendor and loot FormIDs largely did not survive</a:t>
            </a:r>
          </a:p>
        </p:txBody>
      </p:sp>
      <p:sp>
        <p:nvSpPr>
          <p:cNvPr id="20" name="TextBox 19"/>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E6F4F"/>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E6F4F"/>
                </a:solidFill>
                <a:latin typeface="Calibri"/>
              </a:rPr>
              <a:t>THE REBUILD</a:t>
            </a:r>
          </a:p>
          <a:p>
            <a:pPr algn="l">
              <a:lnSpc>
                <a:spcPct val="95000"/>
              </a:lnSpc>
              <a:spcBef>
                <a:spcPts val="0"/>
              </a:spcBef>
              <a:spcAft>
                <a:spcPts val="0"/>
              </a:spcAft>
            </a:pPr>
            <a:r>
              <a:rPr sz="3000" b="1">
                <a:solidFill>
                  <a:srgbClr val="1B1B24"/>
                </a:solidFill>
                <a:latin typeface="Calibri"/>
              </a:rPr>
              <a:t>Placed directly in the record, not handed out by a script</a:t>
            </a:r>
          </a:p>
        </p:txBody>
      </p:sp>
      <p:sp>
        <p:nvSpPr>
          <p:cNvPr id="5" name="TextBox 4"/>
          <p:cNvSpPr txBox="1"/>
          <p:nvPr/>
        </p:nvSpPr>
        <p:spPr>
          <a:xfrm>
            <a:off x="896112" y="1353312"/>
            <a:ext cx="10424160" cy="45720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The tome bundles reach ten Enderal merchants — but through an empty leveled list SureAI already put inside each of their chests, never through the chest record itself. No scripting, no save-state, no leveled-list dice.</a:t>
            </a:r>
          </a:p>
        </p:txBody>
      </p:sp>
      <p:sp>
        <p:nvSpPr>
          <p:cNvPr id="6" name="Rectangle 5"/>
          <p:cNvSpPr/>
          <p:nvPr/>
        </p:nvSpPr>
        <p:spPr>
          <a:xfrm>
            <a:off x="896112" y="2286000"/>
            <a:ext cx="2240280" cy="1371600"/>
          </a:xfrm>
          <a:prstGeom prst="rect">
            <a:avLst/>
          </a:prstGeom>
          <a:solidFill>
            <a:srgbClr val="FFFFFF"/>
          </a:solidFill>
          <a:ln w="19050">
            <a:solidFill>
              <a:srgbClr val="2C2A4A"/>
            </a:solidFill>
          </a:ln>
          <a:effectLst/>
        </p:spPr>
        <p:txBody>
          <a:bodyPr rtlCol="0" anchor="ctr" wrap="square"/>
          <a:lstStyle/>
          <a:p>
            <a:pPr algn="ctr"/>
          </a:p>
        </p:txBody>
      </p:sp>
      <p:sp>
        <p:nvSpPr>
          <p:cNvPr id="7" name="Rectangle 6"/>
          <p:cNvSpPr/>
          <p:nvPr/>
        </p:nvSpPr>
        <p:spPr>
          <a:xfrm>
            <a:off x="896112" y="2286000"/>
            <a:ext cx="2240280" cy="310896"/>
          </a:xfrm>
          <a:prstGeom prst="rect">
            <a:avLst/>
          </a:prstGeom>
          <a:solidFill>
            <a:srgbClr val="2C2A4A"/>
          </a:solidFill>
          <a:ln>
            <a:noFill/>
          </a:ln>
          <a:effectLst/>
        </p:spPr>
        <p:txBody>
          <a:bodyPr rtlCol="0" anchor="ctr" wrap="square" lIns="73152" rIns="73152"/>
          <a:lstStyle/>
          <a:p>
            <a:pPr algn="ctr"/>
            <a:r>
              <a:rPr sz="1050" b="1">
                <a:solidFill>
                  <a:srgbClr val="FFFFFF"/>
                </a:solidFill>
                <a:latin typeface="Calibri"/>
              </a:rPr>
              <a:t>MERCHANT CHEST</a:t>
            </a:r>
          </a:p>
        </p:txBody>
      </p:sp>
      <p:sp>
        <p:nvSpPr>
          <p:cNvPr id="8" name="TextBox 7"/>
          <p:cNvSpPr txBox="1"/>
          <p:nvPr/>
        </p:nvSpPr>
        <p:spPr>
          <a:xfrm>
            <a:off x="1033272" y="2715768"/>
            <a:ext cx="1965960" cy="457200"/>
          </a:xfrm>
          <a:prstGeom prst="rect">
            <a:avLst/>
          </a:prstGeom>
          <a:noFill/>
        </p:spPr>
        <p:txBody>
          <a:bodyPr wrap="square" anchor="t" lIns="0" rIns="0" tIns="0" bIns="0">
            <a:spAutoFit/>
          </a:bodyPr>
          <a:lstStyle/>
          <a:p>
            <a:pPr algn="ctr">
              <a:lnSpc>
                <a:spcPct val="110000"/>
              </a:lnSpc>
              <a:spcBef>
                <a:spcPts val="0"/>
              </a:spcBef>
              <a:spcAft>
                <a:spcPts val="600"/>
              </a:spcAft>
            </a:pPr>
            <a:r>
              <a:rPr sz="1050" b="1">
                <a:solidFill>
                  <a:srgbClr val="1B1B24"/>
                </a:solidFill>
                <a:latin typeface="Consolas"/>
              </a:rPr>
              <a:t>_00E_Merchant_CCMarius</a:t>
            </a:r>
          </a:p>
          <a:p>
            <a:pPr algn="ctr">
              <a:lnSpc>
                <a:spcPct val="110000"/>
              </a:lnSpc>
              <a:spcBef>
                <a:spcPts val="0"/>
              </a:spcBef>
              <a:spcAft>
                <a:spcPts val="0"/>
              </a:spcAft>
            </a:pPr>
            <a:r>
              <a:rPr sz="1050" b="0">
                <a:solidFill>
                  <a:srgbClr val="5E5E70"/>
                </a:solidFill>
                <a:latin typeface="Calibri"/>
              </a:rPr>
              <a:t>CONT record</a:t>
            </a:r>
          </a:p>
          <a:p>
            <a:pPr algn="ctr">
              <a:lnSpc>
                <a:spcPct val="110000"/>
              </a:lnSpc>
              <a:spcBef>
                <a:spcPts val="0"/>
              </a:spcBef>
              <a:spcAft>
                <a:spcPts val="0"/>
              </a:spcAft>
            </a:pPr>
            <a:r>
              <a:rPr sz="1050" b="0">
                <a:solidFill>
                  <a:srgbClr val="5E5E70"/>
                </a:solidFill>
                <a:latin typeface="Calibri"/>
              </a:rPr>
              <a:t>WE NEVER TOUCH IT</a:t>
            </a:r>
          </a:p>
        </p:txBody>
      </p:sp>
      <p:sp>
        <p:nvSpPr>
          <p:cNvPr id="9" name="Right Arrow 8"/>
          <p:cNvSpPr/>
          <p:nvPr/>
        </p:nvSpPr>
        <p:spPr>
          <a:xfrm>
            <a:off x="3209544" y="2871216"/>
            <a:ext cx="493776" cy="201168"/>
          </a:xfrm>
          <a:prstGeom prst="rightArrow">
            <a:avLst/>
          </a:prstGeom>
          <a:solidFill>
            <a:srgbClr val="C2C2CC"/>
          </a:solidFill>
          <a:ln>
            <a:noFill/>
          </a:ln>
          <a:effectLst/>
        </p:spPr>
        <p:txBody>
          <a:bodyPr rtlCol="0" anchor="ctr" wrap="square"/>
          <a:lstStyle/>
          <a:p>
            <a:pPr algn="ctr"/>
          </a:p>
        </p:txBody>
      </p:sp>
      <p:sp>
        <p:nvSpPr>
          <p:cNvPr id="10" name="Rectangle 9"/>
          <p:cNvSpPr/>
          <p:nvPr/>
        </p:nvSpPr>
        <p:spPr>
          <a:xfrm>
            <a:off x="3776472" y="2286000"/>
            <a:ext cx="2240280" cy="1371600"/>
          </a:xfrm>
          <a:prstGeom prst="rect">
            <a:avLst/>
          </a:prstGeom>
          <a:solidFill>
            <a:srgbClr val="FFFFFF"/>
          </a:solidFill>
          <a:ln w="19050">
            <a:solidFill>
              <a:srgbClr val="A8332B"/>
            </a:solidFill>
          </a:ln>
          <a:effectLst/>
        </p:spPr>
        <p:txBody>
          <a:bodyPr rtlCol="0" anchor="ctr" wrap="square"/>
          <a:lstStyle/>
          <a:p>
            <a:pPr algn="ctr"/>
          </a:p>
        </p:txBody>
      </p:sp>
      <p:sp>
        <p:nvSpPr>
          <p:cNvPr id="11" name="Rectangle 10"/>
          <p:cNvSpPr/>
          <p:nvPr/>
        </p:nvSpPr>
        <p:spPr>
          <a:xfrm>
            <a:off x="3776472" y="2286000"/>
            <a:ext cx="2240280" cy="310896"/>
          </a:xfrm>
          <a:prstGeom prst="rect">
            <a:avLst/>
          </a:prstGeom>
          <a:solidFill>
            <a:srgbClr val="A8332B"/>
          </a:solidFill>
          <a:ln>
            <a:noFill/>
          </a:ln>
          <a:effectLst/>
        </p:spPr>
        <p:txBody>
          <a:bodyPr rtlCol="0" anchor="ctr" wrap="square" lIns="73152" rIns="73152"/>
          <a:lstStyle/>
          <a:p>
            <a:pPr algn="ctr"/>
            <a:r>
              <a:rPr sz="1050" b="1">
                <a:solidFill>
                  <a:srgbClr val="FFFFFF"/>
                </a:solidFill>
                <a:latin typeface="Calibri"/>
              </a:rPr>
              <a:t>SUREAI'S HOOK</a:t>
            </a:r>
          </a:p>
        </p:txBody>
      </p:sp>
      <p:sp>
        <p:nvSpPr>
          <p:cNvPr id="12" name="TextBox 11"/>
          <p:cNvSpPr txBox="1"/>
          <p:nvPr/>
        </p:nvSpPr>
        <p:spPr>
          <a:xfrm>
            <a:off x="3913632" y="2715768"/>
            <a:ext cx="1965960" cy="457200"/>
          </a:xfrm>
          <a:prstGeom prst="rect">
            <a:avLst/>
          </a:prstGeom>
          <a:noFill/>
        </p:spPr>
        <p:txBody>
          <a:bodyPr wrap="square" anchor="t" lIns="0" rIns="0" tIns="0" bIns="0">
            <a:spAutoFit/>
          </a:bodyPr>
          <a:lstStyle/>
          <a:p>
            <a:pPr algn="ctr">
              <a:lnSpc>
                <a:spcPct val="110000"/>
              </a:lnSpc>
              <a:spcBef>
                <a:spcPts val="0"/>
              </a:spcBef>
              <a:spcAft>
                <a:spcPts val="600"/>
              </a:spcAft>
            </a:pPr>
            <a:r>
              <a:rPr sz="1050" b="1">
                <a:solidFill>
                  <a:srgbClr val="1B1B24"/>
                </a:solidFill>
                <a:latin typeface="Consolas"/>
              </a:rPr>
              <a:t>BibliothekarMarius_
CustomMerchandise</a:t>
            </a:r>
          </a:p>
          <a:p>
            <a:pPr algn="ctr">
              <a:lnSpc>
                <a:spcPct val="110000"/>
              </a:lnSpc>
              <a:spcBef>
                <a:spcPts val="0"/>
              </a:spcBef>
              <a:spcAft>
                <a:spcPts val="0"/>
              </a:spcAft>
            </a:pPr>
            <a:r>
              <a:rPr sz="1050" b="0">
                <a:solidFill>
                  <a:srgbClr val="5E5E70"/>
                </a:solidFill>
                <a:latin typeface="Calibri"/>
              </a:rPr>
              <a:t>empty LeveledItem · UseAll</a:t>
            </a:r>
          </a:p>
          <a:p>
            <a:pPr algn="ctr">
              <a:lnSpc>
                <a:spcPct val="110000"/>
              </a:lnSpc>
              <a:spcBef>
                <a:spcPts val="0"/>
              </a:spcBef>
              <a:spcAft>
                <a:spcPts val="0"/>
              </a:spcAft>
            </a:pPr>
            <a:r>
              <a:rPr sz="1050" b="0">
                <a:solidFill>
                  <a:srgbClr val="5E5E70"/>
                </a:solidFill>
                <a:latin typeface="Calibri"/>
              </a:rPr>
              <a:t>the ONE record we override</a:t>
            </a:r>
          </a:p>
        </p:txBody>
      </p:sp>
      <p:sp>
        <p:nvSpPr>
          <p:cNvPr id="13" name="Right Arrow 12"/>
          <p:cNvSpPr/>
          <p:nvPr/>
        </p:nvSpPr>
        <p:spPr>
          <a:xfrm>
            <a:off x="6089904" y="2871216"/>
            <a:ext cx="493776" cy="201168"/>
          </a:xfrm>
          <a:prstGeom prst="rightArrow">
            <a:avLst/>
          </a:prstGeom>
          <a:solidFill>
            <a:srgbClr val="C2C2CC"/>
          </a:solidFill>
          <a:ln>
            <a:noFill/>
          </a:ln>
          <a:effectLst/>
        </p:spPr>
        <p:txBody>
          <a:bodyPr rtlCol="0" anchor="ctr" wrap="square"/>
          <a:lstStyle/>
          <a:p>
            <a:pPr algn="ctr"/>
          </a:p>
        </p:txBody>
      </p:sp>
      <p:sp>
        <p:nvSpPr>
          <p:cNvPr id="14" name="Rectangle 13"/>
          <p:cNvSpPr/>
          <p:nvPr/>
        </p:nvSpPr>
        <p:spPr>
          <a:xfrm>
            <a:off x="6656832" y="2286000"/>
            <a:ext cx="2240280" cy="1371600"/>
          </a:xfrm>
          <a:prstGeom prst="rect">
            <a:avLst/>
          </a:prstGeom>
          <a:solidFill>
            <a:srgbClr val="FFFFFF"/>
          </a:solidFill>
          <a:ln w="19050">
            <a:solidFill>
              <a:srgbClr val="B4862C"/>
            </a:solidFill>
          </a:ln>
          <a:effectLst/>
        </p:spPr>
        <p:txBody>
          <a:bodyPr rtlCol="0" anchor="ctr" wrap="square"/>
          <a:lstStyle/>
          <a:p>
            <a:pPr algn="ctr"/>
          </a:p>
        </p:txBody>
      </p:sp>
      <p:sp>
        <p:nvSpPr>
          <p:cNvPr id="15" name="Rectangle 14"/>
          <p:cNvSpPr/>
          <p:nvPr/>
        </p:nvSpPr>
        <p:spPr>
          <a:xfrm>
            <a:off x="6656832" y="2286000"/>
            <a:ext cx="2240280" cy="310896"/>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OUR BUNDLES</a:t>
            </a:r>
          </a:p>
        </p:txBody>
      </p:sp>
      <p:sp>
        <p:nvSpPr>
          <p:cNvPr id="16" name="TextBox 15"/>
          <p:cNvSpPr txBox="1"/>
          <p:nvPr/>
        </p:nvSpPr>
        <p:spPr>
          <a:xfrm>
            <a:off x="6793992" y="2715768"/>
            <a:ext cx="1965960" cy="457200"/>
          </a:xfrm>
          <a:prstGeom prst="rect">
            <a:avLst/>
          </a:prstGeom>
          <a:noFill/>
        </p:spPr>
        <p:txBody>
          <a:bodyPr wrap="square" anchor="t" lIns="0" rIns="0" tIns="0" bIns="0">
            <a:spAutoFit/>
          </a:bodyPr>
          <a:lstStyle/>
          <a:p>
            <a:pPr algn="ctr">
              <a:lnSpc>
                <a:spcPct val="110000"/>
              </a:lnSpc>
              <a:spcBef>
                <a:spcPts val="0"/>
              </a:spcBef>
              <a:spcAft>
                <a:spcPts val="600"/>
              </a:spcAft>
            </a:pPr>
            <a:r>
              <a:rPr sz="1050" b="1">
                <a:solidFill>
                  <a:srgbClr val="1B1B24"/>
                </a:solidFill>
                <a:latin typeface="Consolas"/>
              </a:rPr>
              <a:t>TVR_Tomes_Litem_
Cleric_Restoration</a:t>
            </a:r>
          </a:p>
          <a:p>
            <a:pPr algn="ctr">
              <a:lnSpc>
                <a:spcPct val="110000"/>
              </a:lnSpc>
              <a:spcBef>
                <a:spcPts val="0"/>
              </a:spcBef>
              <a:spcAft>
                <a:spcPts val="0"/>
              </a:spcAft>
            </a:pPr>
            <a:r>
              <a:rPr sz="1050" b="0">
                <a:solidFill>
                  <a:srgbClr val="5E5E70"/>
                </a:solidFill>
                <a:latin typeface="Calibri"/>
              </a:rPr>
              <a:t>LeveledItem · UseAll</a:t>
            </a:r>
          </a:p>
          <a:p>
            <a:pPr algn="ctr">
              <a:lnSpc>
                <a:spcPct val="110000"/>
              </a:lnSpc>
              <a:spcBef>
                <a:spcPts val="0"/>
              </a:spcBef>
              <a:spcAft>
                <a:spcPts val="0"/>
              </a:spcAft>
            </a:pPr>
            <a:r>
              <a:rPr sz="1050" b="0">
                <a:solidFill>
                  <a:srgbClr val="5E5E70"/>
                </a:solidFill>
                <a:latin typeface="Calibri"/>
              </a:rPr>
              <a:t>→ tier bundle → tome</a:t>
            </a:r>
          </a:p>
        </p:txBody>
      </p:sp>
      <p:sp>
        <p:nvSpPr>
          <p:cNvPr id="17" name="Right Arrow 16"/>
          <p:cNvSpPr/>
          <p:nvPr/>
        </p:nvSpPr>
        <p:spPr>
          <a:xfrm>
            <a:off x="8970264" y="2871216"/>
            <a:ext cx="493776" cy="201168"/>
          </a:xfrm>
          <a:prstGeom prst="rightArrow">
            <a:avLst/>
          </a:prstGeom>
          <a:solidFill>
            <a:srgbClr val="C2C2CC"/>
          </a:solidFill>
          <a:ln>
            <a:noFill/>
          </a:ln>
          <a:effectLst/>
        </p:spPr>
        <p:txBody>
          <a:bodyPr rtlCol="0" anchor="ctr" wrap="square"/>
          <a:lstStyle/>
          <a:p>
            <a:pPr algn="ctr"/>
          </a:p>
        </p:txBody>
      </p:sp>
      <p:sp>
        <p:nvSpPr>
          <p:cNvPr id="18" name="Rectangle 17"/>
          <p:cNvSpPr/>
          <p:nvPr/>
        </p:nvSpPr>
        <p:spPr>
          <a:xfrm>
            <a:off x="9537192" y="2286000"/>
            <a:ext cx="2240280" cy="1371600"/>
          </a:xfrm>
          <a:prstGeom prst="rect">
            <a:avLst/>
          </a:prstGeom>
          <a:solidFill>
            <a:srgbClr val="FFFFFF"/>
          </a:solidFill>
          <a:ln w="19050">
            <a:solidFill>
              <a:srgbClr val="2E6F4F"/>
            </a:solidFill>
          </a:ln>
          <a:effectLst/>
        </p:spPr>
        <p:txBody>
          <a:bodyPr rtlCol="0" anchor="ctr" wrap="square"/>
          <a:lstStyle/>
          <a:p>
            <a:pPr algn="ctr"/>
          </a:p>
        </p:txBody>
      </p:sp>
      <p:sp>
        <p:nvSpPr>
          <p:cNvPr id="19" name="Rectangle 18"/>
          <p:cNvSpPr/>
          <p:nvPr/>
        </p:nvSpPr>
        <p:spPr>
          <a:xfrm>
            <a:off x="9537192" y="2286000"/>
            <a:ext cx="2240280" cy="310896"/>
          </a:xfrm>
          <a:prstGeom prst="rect">
            <a:avLst/>
          </a:prstGeom>
          <a:solidFill>
            <a:srgbClr val="2E6F4F"/>
          </a:solidFill>
          <a:ln>
            <a:noFill/>
          </a:ln>
          <a:effectLst/>
        </p:spPr>
        <p:txBody>
          <a:bodyPr rtlCol="0" anchor="ctr" wrap="square" lIns="73152" rIns="73152"/>
          <a:lstStyle/>
          <a:p>
            <a:pPr algn="ctr"/>
            <a:r>
              <a:rPr sz="1050" b="1">
                <a:solidFill>
                  <a:srgbClr val="FFFFFF"/>
                </a:solidFill>
                <a:latin typeface="Calibri"/>
              </a:rPr>
              <a:t>THE TOME</a:t>
            </a:r>
          </a:p>
        </p:txBody>
      </p:sp>
      <p:sp>
        <p:nvSpPr>
          <p:cNvPr id="20" name="TextBox 19"/>
          <p:cNvSpPr txBox="1"/>
          <p:nvPr/>
        </p:nvSpPr>
        <p:spPr>
          <a:xfrm>
            <a:off x="9674352" y="2715768"/>
            <a:ext cx="1965960" cy="457200"/>
          </a:xfrm>
          <a:prstGeom prst="rect">
            <a:avLst/>
          </a:prstGeom>
          <a:noFill/>
        </p:spPr>
        <p:txBody>
          <a:bodyPr wrap="square" anchor="t" lIns="0" rIns="0" tIns="0" bIns="0">
            <a:spAutoFit/>
          </a:bodyPr>
          <a:lstStyle/>
          <a:p>
            <a:pPr algn="ctr">
              <a:lnSpc>
                <a:spcPct val="110000"/>
              </a:lnSpc>
              <a:spcBef>
                <a:spcPts val="0"/>
              </a:spcBef>
              <a:spcAft>
                <a:spcPts val="600"/>
              </a:spcAft>
            </a:pPr>
            <a:r>
              <a:rPr sz="1050" b="1">
                <a:solidFill>
                  <a:srgbClr val="1B1B24"/>
                </a:solidFill>
                <a:latin typeface="Consolas"/>
              </a:rPr>
              <a:t>TVR_Cleric_R050_Book_…</a:t>
            </a:r>
          </a:p>
          <a:p>
            <a:pPr algn="ctr">
              <a:lnSpc>
                <a:spcPct val="110000"/>
              </a:lnSpc>
              <a:spcBef>
                <a:spcPts val="0"/>
              </a:spcBef>
              <a:spcAft>
                <a:spcPts val="0"/>
              </a:spcAft>
            </a:pPr>
            <a:r>
              <a:rPr sz="1050" b="0">
                <a:solidFill>
                  <a:srgbClr val="5E5E70"/>
                </a:solidFill>
                <a:latin typeface="Calibri"/>
              </a:rPr>
              <a:t>Book record</a:t>
            </a:r>
          </a:p>
          <a:p>
            <a:pPr algn="ctr">
              <a:lnSpc>
                <a:spcPct val="110000"/>
              </a:lnSpc>
              <a:spcBef>
                <a:spcPts val="0"/>
              </a:spcBef>
              <a:spcAft>
                <a:spcPts val="0"/>
              </a:spcAft>
            </a:pPr>
            <a:r>
              <a:rPr sz="1050" b="0">
                <a:solidFill>
                  <a:srgbClr val="5E5E70"/>
                </a:solidFill>
                <a:latin typeface="Calibri"/>
              </a:rPr>
              <a:t>teaches the spell</a:t>
            </a:r>
          </a:p>
        </p:txBody>
      </p:sp>
      <p:sp>
        <p:nvSpPr>
          <p:cNvPr id="21" name="TextBox 20"/>
          <p:cNvSpPr txBox="1"/>
          <p:nvPr/>
        </p:nvSpPr>
        <p:spPr>
          <a:xfrm>
            <a:off x="896112" y="3803904"/>
            <a:ext cx="2240280" cy="274320"/>
          </a:xfrm>
          <a:prstGeom prst="rect">
            <a:avLst/>
          </a:prstGeom>
          <a:noFill/>
        </p:spPr>
        <p:txBody>
          <a:bodyPr wrap="square" anchor="t" lIns="0" rIns="0" tIns="0" bIns="0">
            <a:spAutoFit/>
          </a:bodyPr>
          <a:lstStyle/>
          <a:p>
            <a:pPr algn="ctr">
              <a:spcBef>
                <a:spcPts val="0"/>
              </a:spcBef>
              <a:spcAft>
                <a:spcPts val="0"/>
              </a:spcAft>
            </a:pPr>
            <a:r>
              <a:rPr sz="1200" b="1">
                <a:solidFill>
                  <a:srgbClr val="5E5E70"/>
                </a:solidFill>
                <a:latin typeface="Calibri"/>
              </a:rPr>
              <a:t>already contains it</a:t>
            </a:r>
          </a:p>
        </p:txBody>
      </p:sp>
      <p:sp>
        <p:nvSpPr>
          <p:cNvPr id="22" name="TextBox 21"/>
          <p:cNvSpPr txBox="1"/>
          <p:nvPr/>
        </p:nvSpPr>
        <p:spPr>
          <a:xfrm>
            <a:off x="3776472" y="3803904"/>
            <a:ext cx="2240280" cy="274320"/>
          </a:xfrm>
          <a:prstGeom prst="rect">
            <a:avLst/>
          </a:prstGeom>
          <a:noFill/>
        </p:spPr>
        <p:txBody>
          <a:bodyPr wrap="square" anchor="t" lIns="0" rIns="0" tIns="0" bIns="0">
            <a:spAutoFit/>
          </a:bodyPr>
          <a:lstStyle/>
          <a:p>
            <a:pPr algn="ctr">
              <a:spcBef>
                <a:spcPts val="0"/>
              </a:spcBef>
              <a:spcAft>
                <a:spcPts val="0"/>
              </a:spcAft>
            </a:pPr>
            <a:r>
              <a:rPr sz="1200" b="1">
                <a:solidFill>
                  <a:srgbClr val="5E5E70"/>
                </a:solidFill>
                <a:latin typeface="Calibri"/>
              </a:rPr>
              <a:t>1 entry per school</a:t>
            </a:r>
          </a:p>
        </p:txBody>
      </p:sp>
      <p:sp>
        <p:nvSpPr>
          <p:cNvPr id="23" name="TextBox 22"/>
          <p:cNvSpPr txBox="1"/>
          <p:nvPr/>
        </p:nvSpPr>
        <p:spPr>
          <a:xfrm>
            <a:off x="6656832" y="3803904"/>
            <a:ext cx="2240280" cy="274320"/>
          </a:xfrm>
          <a:prstGeom prst="rect">
            <a:avLst/>
          </a:prstGeom>
          <a:noFill/>
        </p:spPr>
        <p:txBody>
          <a:bodyPr wrap="square" anchor="t" lIns="0" rIns="0" tIns="0" bIns="0">
            <a:spAutoFit/>
          </a:bodyPr>
          <a:lstStyle/>
          <a:p>
            <a:pPr algn="ctr">
              <a:spcBef>
                <a:spcPts val="0"/>
              </a:spcBef>
              <a:spcAft>
                <a:spcPts val="0"/>
              </a:spcAft>
            </a:pPr>
            <a:r>
              <a:rPr sz="1200" b="1">
                <a:solidFill>
                  <a:srgbClr val="5E5E70"/>
                </a:solidFill>
                <a:latin typeface="Calibri"/>
              </a:rPr>
              <a:t>× 5 tiers</a:t>
            </a:r>
          </a:p>
        </p:txBody>
      </p:sp>
      <p:sp>
        <p:nvSpPr>
          <p:cNvPr id="24" name="Rectangle 23"/>
          <p:cNvSpPr/>
          <p:nvPr/>
        </p:nvSpPr>
        <p:spPr>
          <a:xfrm>
            <a:off x="896112" y="4498848"/>
            <a:ext cx="10881360" cy="1572768"/>
          </a:xfrm>
          <a:prstGeom prst="rect">
            <a:avLst/>
          </a:prstGeom>
          <a:solidFill>
            <a:srgbClr val="F0F0F5"/>
          </a:solidFill>
          <a:ln>
            <a:noFill/>
          </a:ln>
          <a:effectLst/>
        </p:spPr>
        <p:txBody>
          <a:bodyPr rtlCol="0" anchor="t" wrap="square" lIns="274320" tIns="201168"/>
          <a:lstStyle/>
          <a:p>
            <a:pPr algn="l"/>
            <a:r>
              <a:rPr sz="1500" b="1">
                <a:solidFill>
                  <a:srgbClr val="2C2A4A"/>
                </a:solidFill>
                <a:latin typeface="Calibri"/>
              </a:rPr>
              <a:t>Why the hook, and why UseAll</a:t>
            </a:r>
          </a:p>
          <a:p>
            <a:pPr algn="l">
              <a:lnSpc>
                <a:spcPct val="125000"/>
              </a:lnSpc>
              <a:spcBef>
                <a:spcPts val="600"/>
              </a:spcBef>
              <a:spcAft>
                <a:spcPts val="0"/>
              </a:spcAft>
            </a:pPr>
            <a:r>
              <a:rPr sz="1350" b="0">
                <a:solidFill>
                  <a:srgbClr val="1B1B24"/>
                </a:solidFill>
                <a:latin typeface="Calibri"/>
              </a:rPr>
              <a:t>Enderal ships 67 empty LeveledItems named &lt;Merchant&gt;_CustomMerchandise — one per merchant, each already sitting in that merchant's chest. They are an extension point SureAI built and never filled, so writing there instead of into the chest means we override no container at all. And every link in the chain is UseAll, which yields EVERY entry rather than one per draw — so a single hook entry deterministically stocks a whole 15-tome line, forever.</a:t>
            </a:r>
          </a:p>
        </p:txBody>
      </p:sp>
      <p:sp>
        <p:nvSpPr>
          <p:cNvPr id="25" name="TextBox 24"/>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Three schools per archetype = three hook entries = the full 15</a:t>
            </a:r>
          </a:p>
        </p:txBody>
      </p:sp>
      <p:sp>
        <p:nvSpPr>
          <p:cNvPr id="26" name="TextBox 25"/>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WHERE TO BUY</a:t>
            </a:r>
          </a:p>
          <a:p>
            <a:pPr algn="l">
              <a:lnSpc>
                <a:spcPct val="95000"/>
              </a:lnSpc>
              <a:spcBef>
                <a:spcPts val="0"/>
              </a:spcBef>
              <a:spcAft>
                <a:spcPts val="0"/>
              </a:spcAft>
            </a:pPr>
            <a:r>
              <a:rPr sz="3000" b="1">
                <a:solidFill>
                  <a:srgbClr val="1B1B24"/>
                </a:solidFill>
                <a:latin typeface="Calibri"/>
              </a:rPr>
              <a:t>The ten merchants</a:t>
            </a:r>
          </a:p>
        </p:txBody>
      </p:sp>
      <p:sp>
        <p:nvSpPr>
          <p:cNvPr id="5" name="TextBox 4"/>
          <p:cNvSpPr txBox="1"/>
          <p:nvPr/>
        </p:nvSpPr>
        <p:spPr>
          <a:xfrm>
            <a:off x="1051560" y="1481328"/>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MERCHANT</a:t>
            </a:r>
          </a:p>
        </p:txBody>
      </p:sp>
      <p:sp>
        <p:nvSpPr>
          <p:cNvPr id="6" name="TextBox 5"/>
          <p:cNvSpPr txBox="1"/>
          <p:nvPr/>
        </p:nvSpPr>
        <p:spPr>
          <a:xfrm>
            <a:off x="3200400" y="1481328"/>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WHERE</a:t>
            </a:r>
          </a:p>
        </p:txBody>
      </p:sp>
      <p:sp>
        <p:nvSpPr>
          <p:cNvPr id="7" name="TextBox 6"/>
          <p:cNvSpPr txBox="1"/>
          <p:nvPr/>
        </p:nvSpPr>
        <p:spPr>
          <a:xfrm>
            <a:off x="5440680" y="1481328"/>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GOLD</a:t>
            </a:r>
          </a:p>
        </p:txBody>
      </p:sp>
      <p:sp>
        <p:nvSpPr>
          <p:cNvPr id="8" name="TextBox 7"/>
          <p:cNvSpPr txBox="1"/>
          <p:nvPr/>
        </p:nvSpPr>
        <p:spPr>
          <a:xfrm>
            <a:off x="6446520" y="1481328"/>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SELLS</a:t>
            </a:r>
          </a:p>
        </p:txBody>
      </p:sp>
      <p:sp>
        <p:nvSpPr>
          <p:cNvPr id="9" name="TextBox 8"/>
          <p:cNvSpPr txBox="1"/>
          <p:nvPr/>
        </p:nvSpPr>
        <p:spPr>
          <a:xfrm>
            <a:off x="9829800" y="1481328"/>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STAVES</a:t>
            </a:r>
          </a:p>
        </p:txBody>
      </p:sp>
      <p:sp>
        <p:nvSpPr>
          <p:cNvPr id="10" name="Rectangle 9"/>
          <p:cNvSpPr/>
          <p:nvPr/>
        </p:nvSpPr>
        <p:spPr>
          <a:xfrm>
            <a:off x="896112" y="1810512"/>
            <a:ext cx="10881360" cy="402336"/>
          </a:xfrm>
          <a:prstGeom prst="rect">
            <a:avLst/>
          </a:prstGeom>
          <a:solidFill>
            <a:srgbClr val="FFFFFF"/>
          </a:solidFill>
          <a:ln>
            <a:noFill/>
          </a:ln>
          <a:effectLst/>
        </p:spPr>
        <p:txBody>
          <a:bodyPr rtlCol="0" anchor="ctr" wrap="square"/>
          <a:lstStyle/>
          <a:p>
            <a:pPr algn="ctr"/>
          </a:p>
        </p:txBody>
      </p:sp>
      <p:sp>
        <p:nvSpPr>
          <p:cNvPr id="11" name="TextBox 10"/>
          <p:cNvSpPr txBox="1"/>
          <p:nvPr/>
        </p:nvSpPr>
        <p:spPr>
          <a:xfrm>
            <a:off x="1051560" y="1901952"/>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Adreyo</a:t>
            </a:r>
          </a:p>
        </p:txBody>
      </p:sp>
      <p:sp>
        <p:nvSpPr>
          <p:cNvPr id="12" name="TextBox 11"/>
          <p:cNvSpPr txBox="1"/>
          <p:nvPr/>
        </p:nvSpPr>
        <p:spPr>
          <a:xfrm>
            <a:off x="3200400" y="1911096"/>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Riverville general trader</a:t>
            </a:r>
          </a:p>
        </p:txBody>
      </p:sp>
      <p:sp>
        <p:nvSpPr>
          <p:cNvPr id="13" name="TextBox 12"/>
          <p:cNvSpPr txBox="1"/>
          <p:nvPr/>
        </p:nvSpPr>
        <p:spPr>
          <a:xfrm>
            <a:off x="5440680" y="1911096"/>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380</a:t>
            </a:r>
          </a:p>
        </p:txBody>
      </p:sp>
      <p:sp>
        <p:nvSpPr>
          <p:cNvPr id="14" name="Rectangle 13"/>
          <p:cNvSpPr/>
          <p:nvPr/>
        </p:nvSpPr>
        <p:spPr>
          <a:xfrm>
            <a:off x="6446520" y="1879092"/>
            <a:ext cx="1207008" cy="292608"/>
          </a:xfrm>
          <a:prstGeom prst="rect">
            <a:avLst/>
          </a:prstGeom>
          <a:solidFill>
            <a:srgbClr val="3F773F"/>
          </a:solidFill>
          <a:ln>
            <a:noFill/>
          </a:ln>
          <a:effectLst/>
        </p:spPr>
        <p:txBody>
          <a:bodyPr rtlCol="0" anchor="ctr" wrap="square" lIns="73152" rIns="73152"/>
          <a:lstStyle/>
          <a:p>
            <a:pPr algn="ctr"/>
            <a:r>
              <a:rPr sz="1050" b="1">
                <a:solidFill>
                  <a:srgbClr val="FFFFFF"/>
                </a:solidFill>
                <a:latin typeface="Calibri"/>
              </a:rPr>
              <a:t>Druid</a:t>
            </a:r>
          </a:p>
        </p:txBody>
      </p:sp>
      <p:sp>
        <p:nvSpPr>
          <p:cNvPr id="15" name="Rectangle 14"/>
          <p:cNvSpPr/>
          <p:nvPr/>
        </p:nvSpPr>
        <p:spPr>
          <a:xfrm>
            <a:off x="7744968" y="1879092"/>
            <a:ext cx="1207008" cy="292608"/>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Cleric</a:t>
            </a:r>
          </a:p>
        </p:txBody>
      </p:sp>
      <p:sp>
        <p:nvSpPr>
          <p:cNvPr id="16" name="Rectangle 15"/>
          <p:cNvSpPr/>
          <p:nvPr/>
        </p:nvSpPr>
        <p:spPr>
          <a:xfrm>
            <a:off x="896112" y="2212848"/>
            <a:ext cx="10881360" cy="402336"/>
          </a:xfrm>
          <a:prstGeom prst="rect">
            <a:avLst/>
          </a:prstGeom>
          <a:solidFill>
            <a:srgbClr val="F5F5F9"/>
          </a:solidFill>
          <a:ln>
            <a:noFill/>
          </a:ln>
          <a:effectLst/>
        </p:spPr>
        <p:txBody>
          <a:bodyPr rtlCol="0" anchor="ctr" wrap="square"/>
          <a:lstStyle/>
          <a:p>
            <a:pPr algn="ctr"/>
          </a:p>
        </p:txBody>
      </p:sp>
      <p:sp>
        <p:nvSpPr>
          <p:cNvPr id="17" name="TextBox 16"/>
          <p:cNvSpPr txBox="1"/>
          <p:nvPr/>
        </p:nvSpPr>
        <p:spPr>
          <a:xfrm>
            <a:off x="1051560" y="2304288"/>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Shrouded Mage</a:t>
            </a:r>
          </a:p>
        </p:txBody>
      </p:sp>
      <p:sp>
        <p:nvSpPr>
          <p:cNvPr id="18" name="TextBox 17"/>
          <p:cNvSpPr txBox="1"/>
          <p:nvPr/>
        </p:nvSpPr>
        <p:spPr>
          <a:xfrm>
            <a:off x="3200400" y="2313432"/>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Frostcliff Tavern</a:t>
            </a:r>
          </a:p>
        </p:txBody>
      </p:sp>
      <p:sp>
        <p:nvSpPr>
          <p:cNvPr id="19" name="TextBox 18"/>
          <p:cNvSpPr txBox="1"/>
          <p:nvPr/>
        </p:nvSpPr>
        <p:spPr>
          <a:xfrm>
            <a:off x="5440680" y="2313432"/>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674</a:t>
            </a:r>
          </a:p>
        </p:txBody>
      </p:sp>
      <p:sp>
        <p:nvSpPr>
          <p:cNvPr id="20" name="Rectangle 19"/>
          <p:cNvSpPr/>
          <p:nvPr/>
        </p:nvSpPr>
        <p:spPr>
          <a:xfrm>
            <a:off x="6446520" y="2281428"/>
            <a:ext cx="1207008" cy="292608"/>
          </a:xfrm>
          <a:prstGeom prst="rect">
            <a:avLst/>
          </a:prstGeom>
          <a:solidFill>
            <a:srgbClr val="3F773F"/>
          </a:solidFill>
          <a:ln>
            <a:noFill/>
          </a:ln>
          <a:effectLst/>
        </p:spPr>
        <p:txBody>
          <a:bodyPr rtlCol="0" anchor="ctr" wrap="square" lIns="73152" rIns="73152"/>
          <a:lstStyle/>
          <a:p>
            <a:pPr algn="ctr"/>
            <a:r>
              <a:rPr sz="1050" b="1">
                <a:solidFill>
                  <a:srgbClr val="FFFFFF"/>
                </a:solidFill>
                <a:latin typeface="Calibri"/>
              </a:rPr>
              <a:t>Druid</a:t>
            </a:r>
          </a:p>
        </p:txBody>
      </p:sp>
      <p:sp>
        <p:nvSpPr>
          <p:cNvPr id="21" name="Rectangle 20"/>
          <p:cNvSpPr/>
          <p:nvPr/>
        </p:nvSpPr>
        <p:spPr>
          <a:xfrm>
            <a:off x="7744968" y="2281428"/>
            <a:ext cx="1207008" cy="292608"/>
          </a:xfrm>
          <a:prstGeom prst="rect">
            <a:avLst/>
          </a:prstGeom>
          <a:solidFill>
            <a:srgbClr val="2A6E77"/>
          </a:solidFill>
          <a:ln>
            <a:noFill/>
          </a:ln>
          <a:effectLst/>
        </p:spPr>
        <p:txBody>
          <a:bodyPr rtlCol="0" anchor="ctr" wrap="square" lIns="73152" rIns="73152"/>
          <a:lstStyle/>
          <a:p>
            <a:pPr algn="ctr"/>
            <a:r>
              <a:rPr sz="1050" b="1">
                <a:solidFill>
                  <a:srgbClr val="FFFFFF"/>
                </a:solidFill>
                <a:latin typeface="Calibri"/>
              </a:rPr>
              <a:t>Shaman</a:t>
            </a:r>
          </a:p>
        </p:txBody>
      </p:sp>
      <p:sp>
        <p:nvSpPr>
          <p:cNvPr id="22" name="Rectangle 21"/>
          <p:cNvSpPr/>
          <p:nvPr/>
        </p:nvSpPr>
        <p:spPr>
          <a:xfrm>
            <a:off x="9829800" y="2281428"/>
            <a:ext cx="1691640" cy="292608"/>
          </a:xfrm>
          <a:prstGeom prst="rect">
            <a:avLst/>
          </a:prstGeom>
          <a:solidFill>
            <a:srgbClr val="FFFFFF"/>
          </a:solidFill>
          <a:ln w="12700">
            <a:solidFill>
              <a:srgbClr val="3F773F"/>
            </a:solidFill>
          </a:ln>
          <a:effectLst/>
        </p:spPr>
        <p:txBody>
          <a:bodyPr rtlCol="0" anchor="ctr" wrap="square" lIns="73152" rIns="73152"/>
          <a:lstStyle/>
          <a:p>
            <a:pPr algn="ctr"/>
            <a:r>
              <a:rPr sz="1050" b="1">
                <a:solidFill>
                  <a:srgbClr val="3F773F"/>
                </a:solidFill>
                <a:latin typeface="Calibri"/>
              </a:rPr>
              <a:t>Druid staves</a:t>
            </a:r>
          </a:p>
        </p:txBody>
      </p:sp>
      <p:sp>
        <p:nvSpPr>
          <p:cNvPr id="23" name="Rectangle 22"/>
          <p:cNvSpPr/>
          <p:nvPr/>
        </p:nvSpPr>
        <p:spPr>
          <a:xfrm>
            <a:off x="896112" y="2615184"/>
            <a:ext cx="10881360" cy="402336"/>
          </a:xfrm>
          <a:prstGeom prst="rect">
            <a:avLst/>
          </a:prstGeom>
          <a:solidFill>
            <a:srgbClr val="FFFFFF"/>
          </a:solidFill>
          <a:ln>
            <a:noFill/>
          </a:ln>
          <a:effectLst/>
        </p:spPr>
        <p:txBody>
          <a:bodyPr rtlCol="0" anchor="ctr" wrap="square"/>
          <a:lstStyle/>
          <a:p>
            <a:pPr algn="ctr"/>
          </a:p>
        </p:txBody>
      </p:sp>
      <p:sp>
        <p:nvSpPr>
          <p:cNvPr id="24" name="TextBox 23"/>
          <p:cNvSpPr txBox="1"/>
          <p:nvPr/>
        </p:nvSpPr>
        <p:spPr>
          <a:xfrm>
            <a:off x="1051560" y="2706624"/>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Shrouded Mage</a:t>
            </a:r>
          </a:p>
        </p:txBody>
      </p:sp>
      <p:sp>
        <p:nvSpPr>
          <p:cNvPr id="25" name="TextBox 24"/>
          <p:cNvSpPr txBox="1"/>
          <p:nvPr/>
        </p:nvSpPr>
        <p:spPr>
          <a:xfrm>
            <a:off x="3200400" y="2715768"/>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Duneville</a:t>
            </a:r>
          </a:p>
        </p:txBody>
      </p:sp>
      <p:sp>
        <p:nvSpPr>
          <p:cNvPr id="26" name="TextBox 25"/>
          <p:cNvSpPr txBox="1"/>
          <p:nvPr/>
        </p:nvSpPr>
        <p:spPr>
          <a:xfrm>
            <a:off x="5440680" y="2715768"/>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707</a:t>
            </a:r>
          </a:p>
        </p:txBody>
      </p:sp>
      <p:sp>
        <p:nvSpPr>
          <p:cNvPr id="27" name="Rectangle 26"/>
          <p:cNvSpPr/>
          <p:nvPr/>
        </p:nvSpPr>
        <p:spPr>
          <a:xfrm>
            <a:off x="6446520" y="2683764"/>
            <a:ext cx="1207008" cy="292608"/>
          </a:xfrm>
          <a:prstGeom prst="rect">
            <a:avLst/>
          </a:prstGeom>
          <a:solidFill>
            <a:srgbClr val="2A6E77"/>
          </a:solidFill>
          <a:ln>
            <a:noFill/>
          </a:ln>
          <a:effectLst/>
        </p:spPr>
        <p:txBody>
          <a:bodyPr rtlCol="0" anchor="ctr" wrap="square" lIns="73152" rIns="73152"/>
          <a:lstStyle/>
          <a:p>
            <a:pPr algn="ctr"/>
            <a:r>
              <a:rPr sz="1050" b="1">
                <a:solidFill>
                  <a:srgbClr val="FFFFFF"/>
                </a:solidFill>
                <a:latin typeface="Calibri"/>
              </a:rPr>
              <a:t>Shaman</a:t>
            </a:r>
          </a:p>
        </p:txBody>
      </p:sp>
      <p:sp>
        <p:nvSpPr>
          <p:cNvPr id="28" name="Rectangle 27"/>
          <p:cNvSpPr/>
          <p:nvPr/>
        </p:nvSpPr>
        <p:spPr>
          <a:xfrm>
            <a:off x="7744968" y="2683764"/>
            <a:ext cx="1207008" cy="292608"/>
          </a:xfrm>
          <a:prstGeom prst="rect">
            <a:avLst/>
          </a:prstGeom>
          <a:solidFill>
            <a:srgbClr val="3F773F"/>
          </a:solidFill>
          <a:ln>
            <a:noFill/>
          </a:ln>
          <a:effectLst/>
        </p:spPr>
        <p:txBody>
          <a:bodyPr rtlCol="0" anchor="ctr" wrap="square" lIns="73152" rIns="73152"/>
          <a:lstStyle/>
          <a:p>
            <a:pPr algn="ctr"/>
            <a:r>
              <a:rPr sz="1050" b="1">
                <a:solidFill>
                  <a:srgbClr val="FFFFFF"/>
                </a:solidFill>
                <a:latin typeface="Calibri"/>
              </a:rPr>
              <a:t>Druid</a:t>
            </a:r>
          </a:p>
        </p:txBody>
      </p:sp>
      <p:sp>
        <p:nvSpPr>
          <p:cNvPr id="29" name="Rectangle 28"/>
          <p:cNvSpPr/>
          <p:nvPr/>
        </p:nvSpPr>
        <p:spPr>
          <a:xfrm>
            <a:off x="9829800" y="2683764"/>
            <a:ext cx="1691640" cy="292608"/>
          </a:xfrm>
          <a:prstGeom prst="rect">
            <a:avLst/>
          </a:prstGeom>
          <a:solidFill>
            <a:srgbClr val="FFFFFF"/>
          </a:solidFill>
          <a:ln w="12700">
            <a:solidFill>
              <a:srgbClr val="2A6E77"/>
            </a:solidFill>
          </a:ln>
          <a:effectLst/>
        </p:spPr>
        <p:txBody>
          <a:bodyPr rtlCol="0" anchor="ctr" wrap="square" lIns="73152" rIns="73152"/>
          <a:lstStyle/>
          <a:p>
            <a:pPr algn="ctr"/>
            <a:r>
              <a:rPr sz="1050" b="1">
                <a:solidFill>
                  <a:srgbClr val="2A6E77"/>
                </a:solidFill>
                <a:latin typeface="Calibri"/>
              </a:rPr>
              <a:t>Shaman staves</a:t>
            </a:r>
          </a:p>
        </p:txBody>
      </p:sp>
      <p:sp>
        <p:nvSpPr>
          <p:cNvPr id="30" name="Rectangle 29"/>
          <p:cNvSpPr/>
          <p:nvPr/>
        </p:nvSpPr>
        <p:spPr>
          <a:xfrm>
            <a:off x="896112" y="3017520"/>
            <a:ext cx="10881360" cy="402336"/>
          </a:xfrm>
          <a:prstGeom prst="rect">
            <a:avLst/>
          </a:prstGeom>
          <a:solidFill>
            <a:srgbClr val="F5F5F9"/>
          </a:solidFill>
          <a:ln>
            <a:noFill/>
          </a:ln>
          <a:effectLst/>
        </p:spPr>
        <p:txBody>
          <a:bodyPr rtlCol="0" anchor="ctr" wrap="square"/>
          <a:lstStyle/>
          <a:p>
            <a:pPr algn="ctr"/>
          </a:p>
        </p:txBody>
      </p:sp>
      <p:sp>
        <p:nvSpPr>
          <p:cNvPr id="31" name="TextBox 30"/>
          <p:cNvSpPr txBox="1"/>
          <p:nvPr/>
        </p:nvSpPr>
        <p:spPr>
          <a:xfrm>
            <a:off x="1051560" y="3108960"/>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Smith &amp; Hunter</a:t>
            </a:r>
          </a:p>
        </p:txBody>
      </p:sp>
      <p:sp>
        <p:nvSpPr>
          <p:cNvPr id="32" name="TextBox 31"/>
          <p:cNvSpPr txBox="1"/>
          <p:nvPr/>
        </p:nvSpPr>
        <p:spPr>
          <a:xfrm>
            <a:off x="3200400" y="3118104"/>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Duneville</a:t>
            </a:r>
          </a:p>
        </p:txBody>
      </p:sp>
      <p:sp>
        <p:nvSpPr>
          <p:cNvPr id="33" name="TextBox 32"/>
          <p:cNvSpPr txBox="1"/>
          <p:nvPr/>
        </p:nvSpPr>
        <p:spPr>
          <a:xfrm>
            <a:off x="5440680" y="3118104"/>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2200</a:t>
            </a:r>
          </a:p>
        </p:txBody>
      </p:sp>
      <p:sp>
        <p:nvSpPr>
          <p:cNvPr id="34" name="Rectangle 33"/>
          <p:cNvSpPr/>
          <p:nvPr/>
        </p:nvSpPr>
        <p:spPr>
          <a:xfrm>
            <a:off x="6446520" y="3086100"/>
            <a:ext cx="1207008" cy="292608"/>
          </a:xfrm>
          <a:prstGeom prst="rect">
            <a:avLst/>
          </a:prstGeom>
          <a:solidFill>
            <a:srgbClr val="2A6E77"/>
          </a:solidFill>
          <a:ln>
            <a:noFill/>
          </a:ln>
          <a:effectLst/>
        </p:spPr>
        <p:txBody>
          <a:bodyPr rtlCol="0" anchor="ctr" wrap="square" lIns="73152" rIns="73152"/>
          <a:lstStyle/>
          <a:p>
            <a:pPr algn="ctr"/>
            <a:r>
              <a:rPr sz="1050" b="1">
                <a:solidFill>
                  <a:srgbClr val="FFFFFF"/>
                </a:solidFill>
                <a:latin typeface="Calibri"/>
              </a:rPr>
              <a:t>Shaman</a:t>
            </a:r>
          </a:p>
        </p:txBody>
      </p:sp>
      <p:sp>
        <p:nvSpPr>
          <p:cNvPr id="35" name="Rectangle 34"/>
          <p:cNvSpPr/>
          <p:nvPr/>
        </p:nvSpPr>
        <p:spPr>
          <a:xfrm>
            <a:off x="896112" y="3419856"/>
            <a:ext cx="10881360" cy="402336"/>
          </a:xfrm>
          <a:prstGeom prst="rect">
            <a:avLst/>
          </a:prstGeom>
          <a:solidFill>
            <a:srgbClr val="FFFFFF"/>
          </a:solidFill>
          <a:ln>
            <a:noFill/>
          </a:ln>
          <a:effectLst/>
        </p:spPr>
        <p:txBody>
          <a:bodyPr rtlCol="0" anchor="ctr" wrap="square"/>
          <a:lstStyle/>
          <a:p>
            <a:pPr algn="ctr"/>
          </a:p>
        </p:txBody>
      </p:sp>
      <p:sp>
        <p:nvSpPr>
          <p:cNvPr id="36" name="TextBox 35"/>
          <p:cNvSpPr txBox="1"/>
          <p:nvPr/>
        </p:nvSpPr>
        <p:spPr>
          <a:xfrm>
            <a:off x="1051560" y="3511296"/>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Shrouded Mage</a:t>
            </a:r>
          </a:p>
        </p:txBody>
      </p:sp>
      <p:sp>
        <p:nvSpPr>
          <p:cNvPr id="37" name="TextBox 36"/>
          <p:cNvSpPr txBox="1"/>
          <p:nvPr/>
        </p:nvSpPr>
        <p:spPr>
          <a:xfrm>
            <a:off x="3200400" y="3520440"/>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Undercity barracks</a:t>
            </a:r>
          </a:p>
        </p:txBody>
      </p:sp>
      <p:sp>
        <p:nvSpPr>
          <p:cNvPr id="38" name="TextBox 37"/>
          <p:cNvSpPr txBox="1"/>
          <p:nvPr/>
        </p:nvSpPr>
        <p:spPr>
          <a:xfrm>
            <a:off x="5440680" y="3520440"/>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630</a:t>
            </a:r>
          </a:p>
        </p:txBody>
      </p:sp>
      <p:sp>
        <p:nvSpPr>
          <p:cNvPr id="39" name="Rectangle 38"/>
          <p:cNvSpPr/>
          <p:nvPr/>
        </p:nvSpPr>
        <p:spPr>
          <a:xfrm>
            <a:off x="6446520" y="3488436"/>
            <a:ext cx="1207008" cy="292608"/>
          </a:xfrm>
          <a:prstGeom prst="rect">
            <a:avLst/>
          </a:prstGeom>
          <a:solidFill>
            <a:srgbClr val="8C2F39"/>
          </a:solidFill>
          <a:ln>
            <a:noFill/>
          </a:ln>
          <a:effectLst/>
        </p:spPr>
        <p:txBody>
          <a:bodyPr rtlCol="0" anchor="ctr" wrap="square" lIns="73152" rIns="73152"/>
          <a:lstStyle/>
          <a:p>
            <a:pPr algn="ctr"/>
            <a:r>
              <a:rPr sz="1050" b="1">
                <a:solidFill>
                  <a:srgbClr val="FFFFFF"/>
                </a:solidFill>
                <a:latin typeface="Calibri"/>
              </a:rPr>
              <a:t>Warlock</a:t>
            </a:r>
          </a:p>
        </p:txBody>
      </p:sp>
      <p:sp>
        <p:nvSpPr>
          <p:cNvPr id="40" name="Rectangle 39"/>
          <p:cNvSpPr/>
          <p:nvPr/>
        </p:nvSpPr>
        <p:spPr>
          <a:xfrm>
            <a:off x="7744968" y="3488436"/>
            <a:ext cx="1207008"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41" name="Rectangle 40"/>
          <p:cNvSpPr/>
          <p:nvPr/>
        </p:nvSpPr>
        <p:spPr>
          <a:xfrm>
            <a:off x="896112" y="3822192"/>
            <a:ext cx="10881360" cy="402336"/>
          </a:xfrm>
          <a:prstGeom prst="rect">
            <a:avLst/>
          </a:prstGeom>
          <a:solidFill>
            <a:srgbClr val="F5F5F9"/>
          </a:solidFill>
          <a:ln>
            <a:noFill/>
          </a:ln>
          <a:effectLst/>
        </p:spPr>
        <p:txBody>
          <a:bodyPr rtlCol="0" anchor="ctr" wrap="square"/>
          <a:lstStyle/>
          <a:p>
            <a:pPr algn="ctr"/>
          </a:p>
        </p:txBody>
      </p:sp>
      <p:sp>
        <p:nvSpPr>
          <p:cNvPr id="42" name="TextBox 41"/>
          <p:cNvSpPr txBox="1"/>
          <p:nvPr/>
        </p:nvSpPr>
        <p:spPr>
          <a:xfrm>
            <a:off x="1051560" y="3913632"/>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Sister Envy</a:t>
            </a:r>
          </a:p>
        </p:txBody>
      </p:sp>
      <p:sp>
        <p:nvSpPr>
          <p:cNvPr id="43" name="TextBox 42"/>
          <p:cNvSpPr txBox="1"/>
          <p:nvPr/>
        </p:nvSpPr>
        <p:spPr>
          <a:xfrm>
            <a:off x="3200400" y="3922776"/>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the Rhalata</a:t>
            </a:r>
          </a:p>
        </p:txBody>
      </p:sp>
      <p:sp>
        <p:nvSpPr>
          <p:cNvPr id="44" name="TextBox 43"/>
          <p:cNvSpPr txBox="1"/>
          <p:nvPr/>
        </p:nvSpPr>
        <p:spPr>
          <a:xfrm>
            <a:off x="5440680" y="3922776"/>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2700</a:t>
            </a:r>
          </a:p>
        </p:txBody>
      </p:sp>
      <p:sp>
        <p:nvSpPr>
          <p:cNvPr id="45" name="Rectangle 44"/>
          <p:cNvSpPr/>
          <p:nvPr/>
        </p:nvSpPr>
        <p:spPr>
          <a:xfrm>
            <a:off x="6446520" y="3890772"/>
            <a:ext cx="1207008" cy="292608"/>
          </a:xfrm>
          <a:prstGeom prst="rect">
            <a:avLst/>
          </a:prstGeom>
          <a:solidFill>
            <a:srgbClr val="8C2F39"/>
          </a:solidFill>
          <a:ln>
            <a:noFill/>
          </a:ln>
          <a:effectLst/>
        </p:spPr>
        <p:txBody>
          <a:bodyPr rtlCol="0" anchor="ctr" wrap="square" lIns="73152" rIns="73152"/>
          <a:lstStyle/>
          <a:p>
            <a:pPr algn="ctr"/>
            <a:r>
              <a:rPr sz="1050" b="1">
                <a:solidFill>
                  <a:srgbClr val="FFFFFF"/>
                </a:solidFill>
                <a:latin typeface="Calibri"/>
              </a:rPr>
              <a:t>Warlock</a:t>
            </a:r>
          </a:p>
        </p:txBody>
      </p:sp>
      <p:sp>
        <p:nvSpPr>
          <p:cNvPr id="46" name="Rectangle 45"/>
          <p:cNvSpPr/>
          <p:nvPr/>
        </p:nvSpPr>
        <p:spPr>
          <a:xfrm>
            <a:off x="7744968" y="3890772"/>
            <a:ext cx="1207008"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47" name="Rectangle 46"/>
          <p:cNvSpPr/>
          <p:nvPr/>
        </p:nvSpPr>
        <p:spPr>
          <a:xfrm>
            <a:off x="9829800" y="3890772"/>
            <a:ext cx="1691640" cy="292608"/>
          </a:xfrm>
          <a:prstGeom prst="rect">
            <a:avLst/>
          </a:prstGeom>
          <a:solidFill>
            <a:srgbClr val="FFFFFF"/>
          </a:solidFill>
          <a:ln w="12700">
            <a:solidFill>
              <a:srgbClr val="8C2F39"/>
            </a:solidFill>
          </a:ln>
          <a:effectLst/>
        </p:spPr>
        <p:txBody>
          <a:bodyPr rtlCol="0" anchor="ctr" wrap="square" lIns="73152" rIns="73152"/>
          <a:lstStyle/>
          <a:p>
            <a:pPr algn="ctr"/>
            <a:r>
              <a:rPr sz="1050" b="1">
                <a:solidFill>
                  <a:srgbClr val="8C2F39"/>
                </a:solidFill>
                <a:latin typeface="Calibri"/>
              </a:rPr>
              <a:t>Warlock staves</a:t>
            </a:r>
          </a:p>
        </p:txBody>
      </p:sp>
      <p:sp>
        <p:nvSpPr>
          <p:cNvPr id="48" name="Rectangle 47"/>
          <p:cNvSpPr/>
          <p:nvPr/>
        </p:nvSpPr>
        <p:spPr>
          <a:xfrm>
            <a:off x="896112" y="4224528"/>
            <a:ext cx="10881360" cy="402336"/>
          </a:xfrm>
          <a:prstGeom prst="rect">
            <a:avLst/>
          </a:prstGeom>
          <a:solidFill>
            <a:srgbClr val="FFFFFF"/>
          </a:solidFill>
          <a:ln>
            <a:noFill/>
          </a:ln>
          <a:effectLst/>
        </p:spPr>
        <p:txBody>
          <a:bodyPr rtlCol="0" anchor="ctr" wrap="square"/>
          <a:lstStyle/>
          <a:p>
            <a:pPr algn="ctr"/>
          </a:p>
        </p:txBody>
      </p:sp>
      <p:sp>
        <p:nvSpPr>
          <p:cNvPr id="49" name="TextBox 48"/>
          <p:cNvSpPr txBox="1"/>
          <p:nvPr/>
        </p:nvSpPr>
        <p:spPr>
          <a:xfrm>
            <a:off x="1051560" y="4315968"/>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The Bash Hole</a:t>
            </a:r>
          </a:p>
        </p:txBody>
      </p:sp>
      <p:sp>
        <p:nvSpPr>
          <p:cNvPr id="50" name="TextBox 49"/>
          <p:cNvSpPr txBox="1"/>
          <p:nvPr/>
        </p:nvSpPr>
        <p:spPr>
          <a:xfrm>
            <a:off x="3200400" y="4325112"/>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Undercity</a:t>
            </a:r>
          </a:p>
        </p:txBody>
      </p:sp>
      <p:sp>
        <p:nvSpPr>
          <p:cNvPr id="51" name="TextBox 50"/>
          <p:cNvSpPr txBox="1"/>
          <p:nvPr/>
        </p:nvSpPr>
        <p:spPr>
          <a:xfrm>
            <a:off x="5440680" y="4325112"/>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2200</a:t>
            </a:r>
          </a:p>
        </p:txBody>
      </p:sp>
      <p:sp>
        <p:nvSpPr>
          <p:cNvPr id="52" name="Rectangle 51"/>
          <p:cNvSpPr/>
          <p:nvPr/>
        </p:nvSpPr>
        <p:spPr>
          <a:xfrm>
            <a:off x="6446520" y="4293108"/>
            <a:ext cx="1207008" cy="292608"/>
          </a:xfrm>
          <a:prstGeom prst="rect">
            <a:avLst/>
          </a:prstGeom>
          <a:solidFill>
            <a:srgbClr val="8C2F39"/>
          </a:solidFill>
          <a:ln>
            <a:noFill/>
          </a:ln>
          <a:effectLst/>
        </p:spPr>
        <p:txBody>
          <a:bodyPr rtlCol="0" anchor="ctr" wrap="square" lIns="73152" rIns="73152"/>
          <a:lstStyle/>
          <a:p>
            <a:pPr algn="ctr"/>
            <a:r>
              <a:rPr sz="1050" b="1">
                <a:solidFill>
                  <a:srgbClr val="FFFFFF"/>
                </a:solidFill>
                <a:latin typeface="Calibri"/>
              </a:rPr>
              <a:t>Warlock</a:t>
            </a:r>
          </a:p>
        </p:txBody>
      </p:sp>
      <p:sp>
        <p:nvSpPr>
          <p:cNvPr id="53" name="Rectangle 52"/>
          <p:cNvSpPr/>
          <p:nvPr/>
        </p:nvSpPr>
        <p:spPr>
          <a:xfrm>
            <a:off x="896112" y="4626864"/>
            <a:ext cx="10881360" cy="402336"/>
          </a:xfrm>
          <a:prstGeom prst="rect">
            <a:avLst/>
          </a:prstGeom>
          <a:solidFill>
            <a:srgbClr val="F5F5F9"/>
          </a:solidFill>
          <a:ln>
            <a:noFill/>
          </a:ln>
          <a:effectLst/>
        </p:spPr>
        <p:txBody>
          <a:bodyPr rtlCol="0" anchor="ctr" wrap="square"/>
          <a:lstStyle/>
          <a:p>
            <a:pPr algn="ctr"/>
          </a:p>
        </p:txBody>
      </p:sp>
      <p:sp>
        <p:nvSpPr>
          <p:cNvPr id="54" name="TextBox 53"/>
          <p:cNvSpPr txBox="1"/>
          <p:nvPr/>
        </p:nvSpPr>
        <p:spPr>
          <a:xfrm>
            <a:off x="1051560" y="4718304"/>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The Fence</a:t>
            </a:r>
          </a:p>
        </p:txBody>
      </p:sp>
      <p:sp>
        <p:nvSpPr>
          <p:cNvPr id="55" name="TextBox 54"/>
          <p:cNvSpPr txBox="1"/>
          <p:nvPr/>
        </p:nvSpPr>
        <p:spPr>
          <a:xfrm>
            <a:off x="3200400" y="4727448"/>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Undercity (Hehler)</a:t>
            </a:r>
          </a:p>
        </p:txBody>
      </p:sp>
      <p:sp>
        <p:nvSpPr>
          <p:cNvPr id="56" name="TextBox 55"/>
          <p:cNvSpPr txBox="1"/>
          <p:nvPr/>
        </p:nvSpPr>
        <p:spPr>
          <a:xfrm>
            <a:off x="5440680" y="4727448"/>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1450</a:t>
            </a:r>
          </a:p>
        </p:txBody>
      </p:sp>
      <p:sp>
        <p:nvSpPr>
          <p:cNvPr id="57" name="Rectangle 56"/>
          <p:cNvSpPr/>
          <p:nvPr/>
        </p:nvSpPr>
        <p:spPr>
          <a:xfrm>
            <a:off x="6446520" y="4695444"/>
            <a:ext cx="1207008"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58" name="Rectangle 57"/>
          <p:cNvSpPr/>
          <p:nvPr/>
        </p:nvSpPr>
        <p:spPr>
          <a:xfrm>
            <a:off x="9829800" y="4695444"/>
            <a:ext cx="1691640" cy="292608"/>
          </a:xfrm>
          <a:prstGeom prst="rect">
            <a:avLst/>
          </a:prstGeom>
          <a:solidFill>
            <a:srgbClr val="FFFFFF"/>
          </a:solidFill>
          <a:ln w="12700">
            <a:solidFill>
              <a:srgbClr val="4B3A6B"/>
            </a:solidFill>
          </a:ln>
          <a:effectLst/>
        </p:spPr>
        <p:txBody>
          <a:bodyPr rtlCol="0" anchor="ctr" wrap="square" lIns="73152" rIns="73152"/>
          <a:lstStyle/>
          <a:p>
            <a:pPr algn="ctr"/>
            <a:r>
              <a:rPr sz="1050" b="1">
                <a:solidFill>
                  <a:srgbClr val="4B3A6B"/>
                </a:solidFill>
                <a:latin typeface="Calibri"/>
              </a:rPr>
              <a:t>Shadow staves</a:t>
            </a:r>
          </a:p>
        </p:txBody>
      </p:sp>
      <p:sp>
        <p:nvSpPr>
          <p:cNvPr id="59" name="Rectangle 58"/>
          <p:cNvSpPr/>
          <p:nvPr/>
        </p:nvSpPr>
        <p:spPr>
          <a:xfrm>
            <a:off x="896112" y="5029200"/>
            <a:ext cx="10881360" cy="402336"/>
          </a:xfrm>
          <a:prstGeom prst="rect">
            <a:avLst/>
          </a:prstGeom>
          <a:solidFill>
            <a:srgbClr val="FFFFFF"/>
          </a:solidFill>
          <a:ln>
            <a:noFill/>
          </a:ln>
          <a:effectLst/>
        </p:spPr>
        <p:txBody>
          <a:bodyPr rtlCol="0" anchor="ctr" wrap="square"/>
          <a:lstStyle/>
          <a:p>
            <a:pPr algn="ctr"/>
          </a:p>
        </p:txBody>
      </p:sp>
      <p:sp>
        <p:nvSpPr>
          <p:cNvPr id="60" name="TextBox 59"/>
          <p:cNvSpPr txBox="1"/>
          <p:nvPr/>
        </p:nvSpPr>
        <p:spPr>
          <a:xfrm>
            <a:off x="1051560" y="5120640"/>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Marius</a:t>
            </a:r>
          </a:p>
        </p:txBody>
      </p:sp>
      <p:sp>
        <p:nvSpPr>
          <p:cNvPr id="61" name="TextBox 60"/>
          <p:cNvSpPr txBox="1"/>
          <p:nvPr/>
        </p:nvSpPr>
        <p:spPr>
          <a:xfrm>
            <a:off x="3200400" y="5129784"/>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Ark bookshop</a:t>
            </a:r>
          </a:p>
        </p:txBody>
      </p:sp>
      <p:sp>
        <p:nvSpPr>
          <p:cNvPr id="62" name="TextBox 61"/>
          <p:cNvSpPr txBox="1"/>
          <p:nvPr/>
        </p:nvSpPr>
        <p:spPr>
          <a:xfrm>
            <a:off x="5440680" y="5129784"/>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250</a:t>
            </a:r>
          </a:p>
        </p:txBody>
      </p:sp>
      <p:sp>
        <p:nvSpPr>
          <p:cNvPr id="63" name="Rectangle 62"/>
          <p:cNvSpPr/>
          <p:nvPr/>
        </p:nvSpPr>
        <p:spPr>
          <a:xfrm>
            <a:off x="6446520" y="5097780"/>
            <a:ext cx="1207008" cy="292608"/>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Cleric</a:t>
            </a:r>
          </a:p>
        </p:txBody>
      </p:sp>
      <p:sp>
        <p:nvSpPr>
          <p:cNvPr id="64" name="Rectangle 63"/>
          <p:cNvSpPr/>
          <p:nvPr/>
        </p:nvSpPr>
        <p:spPr>
          <a:xfrm>
            <a:off x="7744968" y="5097780"/>
            <a:ext cx="1207008"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65" name="Rectangle 64"/>
          <p:cNvSpPr/>
          <p:nvPr/>
        </p:nvSpPr>
        <p:spPr>
          <a:xfrm>
            <a:off x="9829800" y="5097780"/>
            <a:ext cx="1691640" cy="292608"/>
          </a:xfrm>
          <a:prstGeom prst="rect">
            <a:avLst/>
          </a:prstGeom>
          <a:solidFill>
            <a:srgbClr val="FFFFFF"/>
          </a:solidFill>
          <a:ln w="12700">
            <a:solidFill>
              <a:srgbClr val="B4862C"/>
            </a:solidFill>
          </a:ln>
          <a:effectLst/>
        </p:spPr>
        <p:txBody>
          <a:bodyPr rtlCol="0" anchor="ctr" wrap="square" lIns="73152" rIns="73152"/>
          <a:lstStyle/>
          <a:p>
            <a:pPr algn="ctr"/>
            <a:r>
              <a:rPr sz="1050" b="1">
                <a:solidFill>
                  <a:srgbClr val="B4862C"/>
                </a:solidFill>
                <a:latin typeface="Calibri"/>
              </a:rPr>
              <a:t>Cleric staves</a:t>
            </a:r>
          </a:p>
        </p:txBody>
      </p:sp>
      <p:sp>
        <p:nvSpPr>
          <p:cNvPr id="66" name="Rectangle 65"/>
          <p:cNvSpPr/>
          <p:nvPr/>
        </p:nvSpPr>
        <p:spPr>
          <a:xfrm>
            <a:off x="896112" y="5431536"/>
            <a:ext cx="10881360" cy="402336"/>
          </a:xfrm>
          <a:prstGeom prst="rect">
            <a:avLst/>
          </a:prstGeom>
          <a:solidFill>
            <a:srgbClr val="F5F5F9"/>
          </a:solidFill>
          <a:ln>
            <a:noFill/>
          </a:ln>
          <a:effectLst/>
        </p:spPr>
        <p:txBody>
          <a:bodyPr rtlCol="0" anchor="ctr" wrap="square"/>
          <a:lstStyle/>
          <a:p>
            <a:pPr algn="ctr"/>
          </a:p>
        </p:txBody>
      </p:sp>
      <p:sp>
        <p:nvSpPr>
          <p:cNvPr id="67" name="TextBox 66"/>
          <p:cNvSpPr txBox="1"/>
          <p:nvPr/>
        </p:nvSpPr>
        <p:spPr>
          <a:xfrm>
            <a:off x="1051560" y="5522976"/>
            <a:ext cx="2103120" cy="274320"/>
          </a:xfrm>
          <a:prstGeom prst="rect">
            <a:avLst/>
          </a:prstGeom>
          <a:noFill/>
        </p:spPr>
        <p:txBody>
          <a:bodyPr wrap="square" anchor="t" lIns="0" rIns="0" tIns="0" bIns="0">
            <a:spAutoFit/>
          </a:bodyPr>
          <a:lstStyle/>
          <a:p>
            <a:pPr algn="l">
              <a:spcBef>
                <a:spcPts val="0"/>
              </a:spcBef>
              <a:spcAft>
                <a:spcPts val="0"/>
              </a:spcAft>
            </a:pPr>
            <a:r>
              <a:rPr sz="1300" b="1">
                <a:solidFill>
                  <a:srgbClr val="1B1B24"/>
                </a:solidFill>
                <a:latin typeface="Calibri"/>
              </a:rPr>
              <a:t>Guard Blacksmith</a:t>
            </a:r>
          </a:p>
        </p:txBody>
      </p:sp>
      <p:sp>
        <p:nvSpPr>
          <p:cNvPr id="68" name="TextBox 67"/>
          <p:cNvSpPr txBox="1"/>
          <p:nvPr/>
        </p:nvSpPr>
        <p:spPr>
          <a:xfrm>
            <a:off x="3200400" y="5532120"/>
            <a:ext cx="21945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Ark garrison</a:t>
            </a:r>
          </a:p>
        </p:txBody>
      </p:sp>
      <p:sp>
        <p:nvSpPr>
          <p:cNvPr id="69" name="TextBox 68"/>
          <p:cNvSpPr txBox="1"/>
          <p:nvPr/>
        </p:nvSpPr>
        <p:spPr>
          <a:xfrm>
            <a:off x="5440680" y="5532120"/>
            <a:ext cx="822960" cy="274320"/>
          </a:xfrm>
          <a:prstGeom prst="rect">
            <a:avLst/>
          </a:prstGeom>
          <a:noFill/>
        </p:spPr>
        <p:txBody>
          <a:bodyPr wrap="square" anchor="t" lIns="0" rIns="0" tIns="0" bIns="0">
            <a:spAutoFit/>
          </a:bodyPr>
          <a:lstStyle/>
          <a:p>
            <a:pPr algn="l">
              <a:spcBef>
                <a:spcPts val="0"/>
              </a:spcBef>
              <a:spcAft>
                <a:spcPts val="0"/>
              </a:spcAft>
            </a:pPr>
            <a:r>
              <a:rPr sz="1250" b="0">
                <a:solidFill>
                  <a:srgbClr val="5E5E70"/>
                </a:solidFill>
                <a:latin typeface="Calibri"/>
              </a:rPr>
              <a:t>2200</a:t>
            </a:r>
          </a:p>
        </p:txBody>
      </p:sp>
      <p:sp>
        <p:nvSpPr>
          <p:cNvPr id="70" name="Rectangle 69"/>
          <p:cNvSpPr/>
          <p:nvPr/>
        </p:nvSpPr>
        <p:spPr>
          <a:xfrm>
            <a:off x="6446520" y="5500116"/>
            <a:ext cx="1207008" cy="292608"/>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Cleric</a:t>
            </a:r>
          </a:p>
        </p:txBody>
      </p:sp>
      <p:sp>
        <p:nvSpPr>
          <p:cNvPr id="71" name="TextBox 70"/>
          <p:cNvSpPr txBox="1"/>
          <p:nvPr/>
        </p:nvSpPr>
        <p:spPr>
          <a:xfrm>
            <a:off x="896112" y="5925312"/>
            <a:ext cx="10881360" cy="365760"/>
          </a:xfrm>
          <a:prstGeom prst="rect">
            <a:avLst/>
          </a:prstGeom>
          <a:noFill/>
        </p:spPr>
        <p:txBody>
          <a:bodyPr wrap="square" anchor="t" lIns="0" rIns="0" tIns="0" bIns="0">
            <a:spAutoFit/>
          </a:bodyPr>
          <a:lstStyle/>
          <a:p>
            <a:pPr algn="l">
              <a:spcBef>
                <a:spcPts val="0"/>
              </a:spcBef>
              <a:spcAft>
                <a:spcPts val="0"/>
              </a:spcAft>
            </a:pPr>
            <a:r>
              <a:rPr sz="1150" b="0">
                <a:solidFill>
                  <a:srgbClr val="5E5E70"/>
                </a:solidFill>
                <a:latin typeface="Calibri"/>
              </a:rPr>
              <a:t>The Sells column is the Novice–Adept line; Expert and Master are Ark/Undercity only (slide 10). We override none of these chests — stock goes into each merchant's CustomMerchandise hook.</a:t>
            </a:r>
          </a:p>
        </p:txBody>
      </p:sp>
      <p:sp>
        <p:nvSpPr>
          <p:cNvPr id="72" name="TextBox 71"/>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Chosen for flavour fit and merchant wealth — no longer constrained by who else overrides the chest</a:t>
            </a:r>
          </a:p>
        </p:txBody>
      </p:sp>
      <p:sp>
        <p:nvSpPr>
          <p:cNvPr id="73" name="TextBox 72"/>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COVERAGE</a:t>
            </a:r>
          </a:p>
          <a:p>
            <a:pPr algn="l">
              <a:lnSpc>
                <a:spcPct val="95000"/>
              </a:lnSpc>
              <a:spcBef>
                <a:spcPts val="0"/>
              </a:spcBef>
              <a:spcAft>
                <a:spcPts val="0"/>
              </a:spcAft>
            </a:pPr>
            <a:r>
              <a:rPr sz="3000" b="1">
                <a:solidFill>
                  <a:srgbClr val="1B1B24"/>
                </a:solidFill>
                <a:latin typeface="Calibri"/>
              </a:rPr>
              <a:t>Every spell reachable, on purpose</a:t>
            </a:r>
          </a:p>
        </p:txBody>
      </p:sp>
      <p:sp>
        <p:nvSpPr>
          <p:cNvPr id="5" name="TextBox 4"/>
          <p:cNvSpPr txBox="1"/>
          <p:nvPr/>
        </p:nvSpPr>
        <p:spPr>
          <a:xfrm>
            <a:off x="896112" y="1371600"/>
            <a:ext cx="10424160" cy="45720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A leveled list makes an item available, never findable. Direct placement means a player can be told where to go — and every archetype's line sits at three separate merchants, so no single shop is a bottleneck.</a:t>
            </a:r>
          </a:p>
        </p:txBody>
      </p:sp>
      <p:sp>
        <p:nvSpPr>
          <p:cNvPr id="6" name="Rectangle 5"/>
          <p:cNvSpPr/>
          <p:nvPr/>
        </p:nvSpPr>
        <p:spPr>
          <a:xfrm>
            <a:off x="896112" y="2240280"/>
            <a:ext cx="2103120" cy="2514600"/>
          </a:xfrm>
          <a:prstGeom prst="rect">
            <a:avLst/>
          </a:prstGeom>
          <a:solidFill>
            <a:srgbClr val="FFFFFF"/>
          </a:solidFill>
          <a:ln w="9525">
            <a:solidFill>
              <a:srgbClr val="D6D6DE"/>
            </a:solidFill>
          </a:ln>
          <a:effectLst/>
        </p:spPr>
        <p:txBody>
          <a:bodyPr rtlCol="0" anchor="ctr" wrap="square"/>
          <a:lstStyle/>
          <a:p>
            <a:pPr algn="ctr"/>
          </a:p>
        </p:txBody>
      </p:sp>
      <p:sp>
        <p:nvSpPr>
          <p:cNvPr id="7" name="Rectangle 6"/>
          <p:cNvSpPr/>
          <p:nvPr/>
        </p:nvSpPr>
        <p:spPr>
          <a:xfrm>
            <a:off x="896112" y="2240280"/>
            <a:ext cx="2103120" cy="457200"/>
          </a:xfrm>
          <a:prstGeom prst="rect">
            <a:avLst/>
          </a:prstGeom>
          <a:solidFill>
            <a:srgbClr val="3F773F"/>
          </a:solidFill>
          <a:ln>
            <a:noFill/>
          </a:ln>
          <a:effectLst/>
        </p:spPr>
        <p:txBody>
          <a:bodyPr rtlCol="0" anchor="ctr" wrap="square" lIns="73152" rIns="73152"/>
          <a:lstStyle/>
          <a:p>
            <a:pPr algn="ctr"/>
            <a:r>
              <a:rPr sz="1500" b="1">
                <a:solidFill>
                  <a:srgbClr val="FFFFFF"/>
                </a:solidFill>
                <a:latin typeface="Calibri"/>
              </a:rPr>
              <a:t>Druid</a:t>
            </a:r>
          </a:p>
        </p:txBody>
      </p:sp>
      <p:sp>
        <p:nvSpPr>
          <p:cNvPr id="8" name="TextBox 7"/>
          <p:cNvSpPr txBox="1"/>
          <p:nvPr/>
        </p:nvSpPr>
        <p:spPr>
          <a:xfrm>
            <a:off x="1060704" y="2852928"/>
            <a:ext cx="1773936" cy="822960"/>
          </a:xfrm>
          <a:prstGeom prst="rect">
            <a:avLst/>
          </a:prstGeom>
          <a:noFill/>
        </p:spPr>
        <p:txBody>
          <a:bodyPr wrap="square" anchor="t" lIns="0" rIns="0" tIns="0" bIns="0">
            <a:spAutoFit/>
          </a:bodyPr>
          <a:lstStyle/>
          <a:p>
            <a:pPr algn="ctr">
              <a:lnSpc>
                <a:spcPct val="95000"/>
              </a:lnSpc>
              <a:spcBef>
                <a:spcPts val="0"/>
              </a:spcBef>
              <a:spcAft>
                <a:spcPts val="0"/>
              </a:spcAft>
            </a:pPr>
            <a:r>
              <a:rPr sz="3800" b="1">
                <a:solidFill>
                  <a:srgbClr val="3F773F"/>
                </a:solidFill>
                <a:latin typeface="Calibri"/>
              </a:rPr>
              <a:t>3</a:t>
            </a:r>
          </a:p>
          <a:p>
            <a:pPr algn="ctr">
              <a:spcBef>
                <a:spcPts val="0"/>
              </a:spcBef>
              <a:spcAft>
                <a:spcPts val="0"/>
              </a:spcAft>
            </a:pPr>
            <a:r>
              <a:rPr sz="1150" b="0">
                <a:solidFill>
                  <a:srgbClr val="5E5E70"/>
                </a:solidFill>
                <a:latin typeface="Calibri"/>
              </a:rPr>
              <a:t>vendors</a:t>
            </a:r>
          </a:p>
        </p:txBody>
      </p:sp>
      <p:sp>
        <p:nvSpPr>
          <p:cNvPr id="9" name="TextBox 8"/>
          <p:cNvSpPr txBox="1"/>
          <p:nvPr/>
        </p:nvSpPr>
        <p:spPr>
          <a:xfrm>
            <a:off x="1060704" y="3858768"/>
            <a:ext cx="1773936" cy="822960"/>
          </a:xfrm>
          <a:prstGeom prst="rect">
            <a:avLst/>
          </a:prstGeom>
          <a:noFill/>
        </p:spPr>
        <p:txBody>
          <a:bodyPr wrap="square" anchor="t" lIns="0" rIns="0" tIns="0" bIns="0">
            <a:spAutoFit/>
          </a:bodyPr>
          <a:lstStyle/>
          <a:p>
            <a:pPr algn="ctr">
              <a:spcBef>
                <a:spcPts val="0"/>
              </a:spcBef>
              <a:spcAft>
                <a:spcPts val="300"/>
              </a:spcAft>
            </a:pPr>
            <a:r>
              <a:rPr sz="1100" b="0">
                <a:solidFill>
                  <a:srgbClr val="5E5E70"/>
                </a:solidFill>
                <a:latin typeface="Calibri"/>
              </a:rPr>
              <a:t>Adreyo</a:t>
            </a:r>
          </a:p>
          <a:p>
            <a:pPr algn="ctr">
              <a:spcBef>
                <a:spcPts val="0"/>
              </a:spcBef>
              <a:spcAft>
                <a:spcPts val="300"/>
              </a:spcAft>
            </a:pPr>
            <a:r>
              <a:rPr sz="1100" b="0">
                <a:solidFill>
                  <a:srgbClr val="5E5E70"/>
                </a:solidFill>
                <a:latin typeface="Calibri"/>
              </a:rPr>
              <a:t>Frostcliff</a:t>
            </a:r>
          </a:p>
          <a:p>
            <a:pPr algn="ctr">
              <a:spcBef>
                <a:spcPts val="0"/>
              </a:spcBef>
              <a:spcAft>
                <a:spcPts val="300"/>
              </a:spcAft>
            </a:pPr>
            <a:r>
              <a:rPr sz="1100" b="0">
                <a:solidFill>
                  <a:srgbClr val="5E5E70"/>
                </a:solidFill>
                <a:latin typeface="Calibri"/>
              </a:rPr>
              <a:t>Duneville WM</a:t>
            </a:r>
          </a:p>
        </p:txBody>
      </p:sp>
      <p:sp>
        <p:nvSpPr>
          <p:cNvPr id="10" name="Rectangle 9"/>
          <p:cNvSpPr/>
          <p:nvPr/>
        </p:nvSpPr>
        <p:spPr>
          <a:xfrm>
            <a:off x="3090672" y="2240280"/>
            <a:ext cx="2103120" cy="2514600"/>
          </a:xfrm>
          <a:prstGeom prst="rect">
            <a:avLst/>
          </a:prstGeom>
          <a:solidFill>
            <a:srgbClr val="FFFFFF"/>
          </a:solidFill>
          <a:ln w="9525">
            <a:solidFill>
              <a:srgbClr val="D6D6DE"/>
            </a:solidFill>
          </a:ln>
          <a:effectLst/>
        </p:spPr>
        <p:txBody>
          <a:bodyPr rtlCol="0" anchor="ctr" wrap="square"/>
          <a:lstStyle/>
          <a:p>
            <a:pPr algn="ctr"/>
          </a:p>
        </p:txBody>
      </p:sp>
      <p:sp>
        <p:nvSpPr>
          <p:cNvPr id="11" name="Rectangle 10"/>
          <p:cNvSpPr/>
          <p:nvPr/>
        </p:nvSpPr>
        <p:spPr>
          <a:xfrm>
            <a:off x="3090672" y="2240280"/>
            <a:ext cx="2103120" cy="457200"/>
          </a:xfrm>
          <a:prstGeom prst="rect">
            <a:avLst/>
          </a:prstGeom>
          <a:solidFill>
            <a:srgbClr val="4B3A6B"/>
          </a:solidFill>
          <a:ln>
            <a:noFill/>
          </a:ln>
          <a:effectLst/>
        </p:spPr>
        <p:txBody>
          <a:bodyPr rtlCol="0" anchor="ctr" wrap="square" lIns="73152" rIns="73152"/>
          <a:lstStyle/>
          <a:p>
            <a:pPr algn="ctr"/>
            <a:r>
              <a:rPr sz="1500" b="1">
                <a:solidFill>
                  <a:srgbClr val="FFFFFF"/>
                </a:solidFill>
                <a:latin typeface="Calibri"/>
              </a:rPr>
              <a:t>Shadow</a:t>
            </a:r>
          </a:p>
        </p:txBody>
      </p:sp>
      <p:sp>
        <p:nvSpPr>
          <p:cNvPr id="12" name="TextBox 11"/>
          <p:cNvSpPr txBox="1"/>
          <p:nvPr/>
        </p:nvSpPr>
        <p:spPr>
          <a:xfrm>
            <a:off x="3255264" y="2852928"/>
            <a:ext cx="1773936" cy="822960"/>
          </a:xfrm>
          <a:prstGeom prst="rect">
            <a:avLst/>
          </a:prstGeom>
          <a:noFill/>
        </p:spPr>
        <p:txBody>
          <a:bodyPr wrap="square" anchor="t" lIns="0" rIns="0" tIns="0" bIns="0">
            <a:spAutoFit/>
          </a:bodyPr>
          <a:lstStyle/>
          <a:p>
            <a:pPr algn="ctr">
              <a:lnSpc>
                <a:spcPct val="95000"/>
              </a:lnSpc>
              <a:spcBef>
                <a:spcPts val="0"/>
              </a:spcBef>
              <a:spcAft>
                <a:spcPts val="0"/>
              </a:spcAft>
            </a:pPr>
            <a:r>
              <a:rPr sz="3800" b="1">
                <a:solidFill>
                  <a:srgbClr val="4B3A6B"/>
                </a:solidFill>
                <a:latin typeface="Calibri"/>
              </a:rPr>
              <a:t>4</a:t>
            </a:r>
          </a:p>
          <a:p>
            <a:pPr algn="ctr">
              <a:spcBef>
                <a:spcPts val="0"/>
              </a:spcBef>
              <a:spcAft>
                <a:spcPts val="0"/>
              </a:spcAft>
            </a:pPr>
            <a:r>
              <a:rPr sz="1150" b="0">
                <a:solidFill>
                  <a:srgbClr val="5E5E70"/>
                </a:solidFill>
                <a:latin typeface="Calibri"/>
              </a:rPr>
              <a:t>vendors</a:t>
            </a:r>
          </a:p>
        </p:txBody>
      </p:sp>
      <p:sp>
        <p:nvSpPr>
          <p:cNvPr id="13" name="TextBox 12"/>
          <p:cNvSpPr txBox="1"/>
          <p:nvPr/>
        </p:nvSpPr>
        <p:spPr>
          <a:xfrm>
            <a:off x="3255264" y="3858768"/>
            <a:ext cx="1773936" cy="822960"/>
          </a:xfrm>
          <a:prstGeom prst="rect">
            <a:avLst/>
          </a:prstGeom>
          <a:noFill/>
        </p:spPr>
        <p:txBody>
          <a:bodyPr wrap="square" anchor="t" lIns="0" rIns="0" tIns="0" bIns="0">
            <a:spAutoFit/>
          </a:bodyPr>
          <a:lstStyle/>
          <a:p>
            <a:pPr algn="ctr">
              <a:spcBef>
                <a:spcPts val="0"/>
              </a:spcBef>
              <a:spcAft>
                <a:spcPts val="300"/>
              </a:spcAft>
            </a:pPr>
            <a:r>
              <a:rPr sz="1100" b="0">
                <a:solidFill>
                  <a:srgbClr val="5E5E70"/>
                </a:solidFill>
                <a:latin typeface="Calibri"/>
              </a:rPr>
              <a:t>UC barracks</a:t>
            </a:r>
          </a:p>
          <a:p>
            <a:pPr algn="ctr">
              <a:spcBef>
                <a:spcPts val="0"/>
              </a:spcBef>
              <a:spcAft>
                <a:spcPts val="300"/>
              </a:spcAft>
            </a:pPr>
            <a:r>
              <a:rPr sz="1100" b="0">
                <a:solidFill>
                  <a:srgbClr val="5E5E70"/>
                </a:solidFill>
                <a:latin typeface="Calibri"/>
              </a:rPr>
              <a:t>Sister Envy</a:t>
            </a:r>
          </a:p>
          <a:p>
            <a:pPr algn="ctr">
              <a:spcBef>
                <a:spcPts val="0"/>
              </a:spcBef>
              <a:spcAft>
                <a:spcPts val="300"/>
              </a:spcAft>
            </a:pPr>
            <a:r>
              <a:rPr sz="1100" b="0">
                <a:solidFill>
                  <a:srgbClr val="5E5E70"/>
                </a:solidFill>
                <a:latin typeface="Calibri"/>
              </a:rPr>
              <a:t>The Fence</a:t>
            </a:r>
          </a:p>
          <a:p>
            <a:pPr algn="ctr">
              <a:spcBef>
                <a:spcPts val="0"/>
              </a:spcBef>
              <a:spcAft>
                <a:spcPts val="300"/>
              </a:spcAft>
            </a:pPr>
            <a:r>
              <a:rPr sz="1100" b="0">
                <a:solidFill>
                  <a:srgbClr val="5E5E70"/>
                </a:solidFill>
                <a:latin typeface="Calibri"/>
              </a:rPr>
              <a:t>Marius</a:t>
            </a:r>
          </a:p>
        </p:txBody>
      </p:sp>
      <p:sp>
        <p:nvSpPr>
          <p:cNvPr id="14" name="Rectangle 13"/>
          <p:cNvSpPr/>
          <p:nvPr/>
        </p:nvSpPr>
        <p:spPr>
          <a:xfrm>
            <a:off x="5285232" y="2240280"/>
            <a:ext cx="2103120" cy="2514600"/>
          </a:xfrm>
          <a:prstGeom prst="rect">
            <a:avLst/>
          </a:prstGeom>
          <a:solidFill>
            <a:srgbClr val="FFFFFF"/>
          </a:solidFill>
          <a:ln w="9525">
            <a:solidFill>
              <a:srgbClr val="D6D6DE"/>
            </a:solidFill>
          </a:ln>
          <a:effectLst/>
        </p:spPr>
        <p:txBody>
          <a:bodyPr rtlCol="0" anchor="ctr" wrap="square"/>
          <a:lstStyle/>
          <a:p>
            <a:pPr algn="ctr"/>
          </a:p>
        </p:txBody>
      </p:sp>
      <p:sp>
        <p:nvSpPr>
          <p:cNvPr id="15" name="Rectangle 14"/>
          <p:cNvSpPr/>
          <p:nvPr/>
        </p:nvSpPr>
        <p:spPr>
          <a:xfrm>
            <a:off x="5285232" y="2240280"/>
            <a:ext cx="2103120" cy="457200"/>
          </a:xfrm>
          <a:prstGeom prst="rect">
            <a:avLst/>
          </a:prstGeom>
          <a:solidFill>
            <a:srgbClr val="8C2F39"/>
          </a:solidFill>
          <a:ln>
            <a:noFill/>
          </a:ln>
          <a:effectLst/>
        </p:spPr>
        <p:txBody>
          <a:bodyPr rtlCol="0" anchor="ctr" wrap="square" lIns="73152" rIns="73152"/>
          <a:lstStyle/>
          <a:p>
            <a:pPr algn="ctr"/>
            <a:r>
              <a:rPr sz="1500" b="1">
                <a:solidFill>
                  <a:srgbClr val="FFFFFF"/>
                </a:solidFill>
                <a:latin typeface="Calibri"/>
              </a:rPr>
              <a:t>Warlock</a:t>
            </a:r>
          </a:p>
        </p:txBody>
      </p:sp>
      <p:sp>
        <p:nvSpPr>
          <p:cNvPr id="16" name="TextBox 15"/>
          <p:cNvSpPr txBox="1"/>
          <p:nvPr/>
        </p:nvSpPr>
        <p:spPr>
          <a:xfrm>
            <a:off x="5449824" y="2852928"/>
            <a:ext cx="1773936" cy="822960"/>
          </a:xfrm>
          <a:prstGeom prst="rect">
            <a:avLst/>
          </a:prstGeom>
          <a:noFill/>
        </p:spPr>
        <p:txBody>
          <a:bodyPr wrap="square" anchor="t" lIns="0" rIns="0" tIns="0" bIns="0">
            <a:spAutoFit/>
          </a:bodyPr>
          <a:lstStyle/>
          <a:p>
            <a:pPr algn="ctr">
              <a:lnSpc>
                <a:spcPct val="95000"/>
              </a:lnSpc>
              <a:spcBef>
                <a:spcPts val="0"/>
              </a:spcBef>
              <a:spcAft>
                <a:spcPts val="0"/>
              </a:spcAft>
            </a:pPr>
            <a:r>
              <a:rPr sz="3800" b="1">
                <a:solidFill>
                  <a:srgbClr val="8C2F39"/>
                </a:solidFill>
                <a:latin typeface="Calibri"/>
              </a:rPr>
              <a:t>3</a:t>
            </a:r>
          </a:p>
          <a:p>
            <a:pPr algn="ctr">
              <a:spcBef>
                <a:spcPts val="0"/>
              </a:spcBef>
              <a:spcAft>
                <a:spcPts val="0"/>
              </a:spcAft>
            </a:pPr>
            <a:r>
              <a:rPr sz="1150" b="0">
                <a:solidFill>
                  <a:srgbClr val="5E5E70"/>
                </a:solidFill>
                <a:latin typeface="Calibri"/>
              </a:rPr>
              <a:t>vendors</a:t>
            </a:r>
          </a:p>
        </p:txBody>
      </p:sp>
      <p:sp>
        <p:nvSpPr>
          <p:cNvPr id="17" name="TextBox 16"/>
          <p:cNvSpPr txBox="1"/>
          <p:nvPr/>
        </p:nvSpPr>
        <p:spPr>
          <a:xfrm>
            <a:off x="5449824" y="3858768"/>
            <a:ext cx="1773936" cy="822960"/>
          </a:xfrm>
          <a:prstGeom prst="rect">
            <a:avLst/>
          </a:prstGeom>
          <a:noFill/>
        </p:spPr>
        <p:txBody>
          <a:bodyPr wrap="square" anchor="t" lIns="0" rIns="0" tIns="0" bIns="0">
            <a:spAutoFit/>
          </a:bodyPr>
          <a:lstStyle/>
          <a:p>
            <a:pPr algn="ctr">
              <a:spcBef>
                <a:spcPts val="0"/>
              </a:spcBef>
              <a:spcAft>
                <a:spcPts val="300"/>
              </a:spcAft>
            </a:pPr>
            <a:r>
              <a:rPr sz="1100" b="0">
                <a:solidFill>
                  <a:srgbClr val="5E5E70"/>
                </a:solidFill>
                <a:latin typeface="Calibri"/>
              </a:rPr>
              <a:t>UC barracks</a:t>
            </a:r>
          </a:p>
          <a:p>
            <a:pPr algn="ctr">
              <a:spcBef>
                <a:spcPts val="0"/>
              </a:spcBef>
              <a:spcAft>
                <a:spcPts val="300"/>
              </a:spcAft>
            </a:pPr>
            <a:r>
              <a:rPr sz="1100" b="0">
                <a:solidFill>
                  <a:srgbClr val="5E5E70"/>
                </a:solidFill>
                <a:latin typeface="Calibri"/>
              </a:rPr>
              <a:t>Sister Envy</a:t>
            </a:r>
          </a:p>
          <a:p>
            <a:pPr algn="ctr">
              <a:spcBef>
                <a:spcPts val="0"/>
              </a:spcBef>
              <a:spcAft>
                <a:spcPts val="300"/>
              </a:spcAft>
            </a:pPr>
            <a:r>
              <a:rPr sz="1100" b="0">
                <a:solidFill>
                  <a:srgbClr val="5E5E70"/>
                </a:solidFill>
                <a:latin typeface="Calibri"/>
              </a:rPr>
              <a:t>Bash Hole</a:t>
            </a:r>
          </a:p>
        </p:txBody>
      </p:sp>
      <p:sp>
        <p:nvSpPr>
          <p:cNvPr id="18" name="Rectangle 17"/>
          <p:cNvSpPr/>
          <p:nvPr/>
        </p:nvSpPr>
        <p:spPr>
          <a:xfrm>
            <a:off x="7479792" y="2240280"/>
            <a:ext cx="2103120" cy="2514600"/>
          </a:xfrm>
          <a:prstGeom prst="rect">
            <a:avLst/>
          </a:prstGeom>
          <a:solidFill>
            <a:srgbClr val="FFFFFF"/>
          </a:solidFill>
          <a:ln w="9525">
            <a:solidFill>
              <a:srgbClr val="D6D6DE"/>
            </a:solidFill>
          </a:ln>
          <a:effectLst/>
        </p:spPr>
        <p:txBody>
          <a:bodyPr rtlCol="0" anchor="ctr" wrap="square"/>
          <a:lstStyle/>
          <a:p>
            <a:pPr algn="ctr"/>
          </a:p>
        </p:txBody>
      </p:sp>
      <p:sp>
        <p:nvSpPr>
          <p:cNvPr id="19" name="Rectangle 18"/>
          <p:cNvSpPr/>
          <p:nvPr/>
        </p:nvSpPr>
        <p:spPr>
          <a:xfrm>
            <a:off x="7479792" y="2240280"/>
            <a:ext cx="2103120" cy="457200"/>
          </a:xfrm>
          <a:prstGeom prst="rect">
            <a:avLst/>
          </a:prstGeom>
          <a:solidFill>
            <a:srgbClr val="B4862C"/>
          </a:solidFill>
          <a:ln>
            <a:noFill/>
          </a:ln>
          <a:effectLst/>
        </p:spPr>
        <p:txBody>
          <a:bodyPr rtlCol="0" anchor="ctr" wrap="square" lIns="73152" rIns="73152"/>
          <a:lstStyle/>
          <a:p>
            <a:pPr algn="ctr"/>
            <a:r>
              <a:rPr sz="1500" b="1">
                <a:solidFill>
                  <a:srgbClr val="FFFFFF"/>
                </a:solidFill>
                <a:latin typeface="Calibri"/>
              </a:rPr>
              <a:t>Cleric</a:t>
            </a:r>
          </a:p>
        </p:txBody>
      </p:sp>
      <p:sp>
        <p:nvSpPr>
          <p:cNvPr id="20" name="TextBox 19"/>
          <p:cNvSpPr txBox="1"/>
          <p:nvPr/>
        </p:nvSpPr>
        <p:spPr>
          <a:xfrm>
            <a:off x="7644384" y="2852928"/>
            <a:ext cx="1773936" cy="822960"/>
          </a:xfrm>
          <a:prstGeom prst="rect">
            <a:avLst/>
          </a:prstGeom>
          <a:noFill/>
        </p:spPr>
        <p:txBody>
          <a:bodyPr wrap="square" anchor="t" lIns="0" rIns="0" tIns="0" bIns="0">
            <a:spAutoFit/>
          </a:bodyPr>
          <a:lstStyle/>
          <a:p>
            <a:pPr algn="ctr">
              <a:lnSpc>
                <a:spcPct val="95000"/>
              </a:lnSpc>
              <a:spcBef>
                <a:spcPts val="0"/>
              </a:spcBef>
              <a:spcAft>
                <a:spcPts val="0"/>
              </a:spcAft>
            </a:pPr>
            <a:r>
              <a:rPr sz="3800" b="1">
                <a:solidFill>
                  <a:srgbClr val="B4862C"/>
                </a:solidFill>
                <a:latin typeface="Calibri"/>
              </a:rPr>
              <a:t>3</a:t>
            </a:r>
          </a:p>
          <a:p>
            <a:pPr algn="ctr">
              <a:spcBef>
                <a:spcPts val="0"/>
              </a:spcBef>
              <a:spcAft>
                <a:spcPts val="0"/>
              </a:spcAft>
            </a:pPr>
            <a:r>
              <a:rPr sz="1150" b="0">
                <a:solidFill>
                  <a:srgbClr val="5E5E70"/>
                </a:solidFill>
                <a:latin typeface="Calibri"/>
              </a:rPr>
              <a:t>vendors</a:t>
            </a:r>
          </a:p>
        </p:txBody>
      </p:sp>
      <p:sp>
        <p:nvSpPr>
          <p:cNvPr id="21" name="TextBox 20"/>
          <p:cNvSpPr txBox="1"/>
          <p:nvPr/>
        </p:nvSpPr>
        <p:spPr>
          <a:xfrm>
            <a:off x="7644384" y="3858768"/>
            <a:ext cx="1773936" cy="822960"/>
          </a:xfrm>
          <a:prstGeom prst="rect">
            <a:avLst/>
          </a:prstGeom>
          <a:noFill/>
        </p:spPr>
        <p:txBody>
          <a:bodyPr wrap="square" anchor="t" lIns="0" rIns="0" tIns="0" bIns="0">
            <a:spAutoFit/>
          </a:bodyPr>
          <a:lstStyle/>
          <a:p>
            <a:pPr algn="ctr">
              <a:spcBef>
                <a:spcPts val="0"/>
              </a:spcBef>
              <a:spcAft>
                <a:spcPts val="300"/>
              </a:spcAft>
            </a:pPr>
            <a:r>
              <a:rPr sz="1100" b="0">
                <a:solidFill>
                  <a:srgbClr val="5E5E70"/>
                </a:solidFill>
                <a:latin typeface="Calibri"/>
              </a:rPr>
              <a:t>Adreyo</a:t>
            </a:r>
          </a:p>
          <a:p>
            <a:pPr algn="ctr">
              <a:spcBef>
                <a:spcPts val="0"/>
              </a:spcBef>
              <a:spcAft>
                <a:spcPts val="300"/>
              </a:spcAft>
            </a:pPr>
            <a:r>
              <a:rPr sz="1100" b="0">
                <a:solidFill>
                  <a:srgbClr val="5E5E70"/>
                </a:solidFill>
                <a:latin typeface="Calibri"/>
              </a:rPr>
              <a:t>Marius</a:t>
            </a:r>
          </a:p>
          <a:p>
            <a:pPr algn="ctr">
              <a:spcBef>
                <a:spcPts val="0"/>
              </a:spcBef>
              <a:spcAft>
                <a:spcPts val="300"/>
              </a:spcAft>
            </a:pPr>
            <a:r>
              <a:rPr sz="1100" b="0">
                <a:solidFill>
                  <a:srgbClr val="5E5E70"/>
                </a:solidFill>
                <a:latin typeface="Calibri"/>
              </a:rPr>
              <a:t>Ark smith</a:t>
            </a:r>
          </a:p>
        </p:txBody>
      </p:sp>
      <p:sp>
        <p:nvSpPr>
          <p:cNvPr id="22" name="Rectangle 21"/>
          <p:cNvSpPr/>
          <p:nvPr/>
        </p:nvSpPr>
        <p:spPr>
          <a:xfrm>
            <a:off x="9674352" y="2240280"/>
            <a:ext cx="2103120" cy="2514600"/>
          </a:xfrm>
          <a:prstGeom prst="rect">
            <a:avLst/>
          </a:prstGeom>
          <a:solidFill>
            <a:srgbClr val="FFFFFF"/>
          </a:solidFill>
          <a:ln w="9525">
            <a:solidFill>
              <a:srgbClr val="D6D6DE"/>
            </a:solidFill>
          </a:ln>
          <a:effectLst/>
        </p:spPr>
        <p:txBody>
          <a:bodyPr rtlCol="0" anchor="ctr" wrap="square"/>
          <a:lstStyle/>
          <a:p>
            <a:pPr algn="ctr"/>
          </a:p>
        </p:txBody>
      </p:sp>
      <p:sp>
        <p:nvSpPr>
          <p:cNvPr id="23" name="Rectangle 22"/>
          <p:cNvSpPr/>
          <p:nvPr/>
        </p:nvSpPr>
        <p:spPr>
          <a:xfrm>
            <a:off x="9674352" y="2240280"/>
            <a:ext cx="2103120" cy="457200"/>
          </a:xfrm>
          <a:prstGeom prst="rect">
            <a:avLst/>
          </a:prstGeom>
          <a:solidFill>
            <a:srgbClr val="2A6E77"/>
          </a:solidFill>
          <a:ln>
            <a:noFill/>
          </a:ln>
          <a:effectLst/>
        </p:spPr>
        <p:txBody>
          <a:bodyPr rtlCol="0" anchor="ctr" wrap="square" lIns="73152" rIns="73152"/>
          <a:lstStyle/>
          <a:p>
            <a:pPr algn="ctr"/>
            <a:r>
              <a:rPr sz="1500" b="1">
                <a:solidFill>
                  <a:srgbClr val="FFFFFF"/>
                </a:solidFill>
                <a:latin typeface="Calibri"/>
              </a:rPr>
              <a:t>Shaman</a:t>
            </a:r>
          </a:p>
        </p:txBody>
      </p:sp>
      <p:sp>
        <p:nvSpPr>
          <p:cNvPr id="24" name="TextBox 23"/>
          <p:cNvSpPr txBox="1"/>
          <p:nvPr/>
        </p:nvSpPr>
        <p:spPr>
          <a:xfrm>
            <a:off x="9838944" y="2852928"/>
            <a:ext cx="1773936" cy="822960"/>
          </a:xfrm>
          <a:prstGeom prst="rect">
            <a:avLst/>
          </a:prstGeom>
          <a:noFill/>
        </p:spPr>
        <p:txBody>
          <a:bodyPr wrap="square" anchor="t" lIns="0" rIns="0" tIns="0" bIns="0">
            <a:spAutoFit/>
          </a:bodyPr>
          <a:lstStyle/>
          <a:p>
            <a:pPr algn="ctr">
              <a:lnSpc>
                <a:spcPct val="95000"/>
              </a:lnSpc>
              <a:spcBef>
                <a:spcPts val="0"/>
              </a:spcBef>
              <a:spcAft>
                <a:spcPts val="0"/>
              </a:spcAft>
            </a:pPr>
            <a:r>
              <a:rPr sz="3800" b="1">
                <a:solidFill>
                  <a:srgbClr val="2A6E77"/>
                </a:solidFill>
                <a:latin typeface="Calibri"/>
              </a:rPr>
              <a:t>3</a:t>
            </a:r>
          </a:p>
          <a:p>
            <a:pPr algn="ctr">
              <a:spcBef>
                <a:spcPts val="0"/>
              </a:spcBef>
              <a:spcAft>
                <a:spcPts val="0"/>
              </a:spcAft>
            </a:pPr>
            <a:r>
              <a:rPr sz="1150" b="0">
                <a:solidFill>
                  <a:srgbClr val="5E5E70"/>
                </a:solidFill>
                <a:latin typeface="Calibri"/>
              </a:rPr>
              <a:t>vendors</a:t>
            </a:r>
          </a:p>
        </p:txBody>
      </p:sp>
      <p:sp>
        <p:nvSpPr>
          <p:cNvPr id="25" name="TextBox 24"/>
          <p:cNvSpPr txBox="1"/>
          <p:nvPr/>
        </p:nvSpPr>
        <p:spPr>
          <a:xfrm>
            <a:off x="9838944" y="3858768"/>
            <a:ext cx="1773936" cy="822960"/>
          </a:xfrm>
          <a:prstGeom prst="rect">
            <a:avLst/>
          </a:prstGeom>
          <a:noFill/>
        </p:spPr>
        <p:txBody>
          <a:bodyPr wrap="square" anchor="t" lIns="0" rIns="0" tIns="0" bIns="0">
            <a:spAutoFit/>
          </a:bodyPr>
          <a:lstStyle/>
          <a:p>
            <a:pPr algn="ctr">
              <a:spcBef>
                <a:spcPts val="0"/>
              </a:spcBef>
              <a:spcAft>
                <a:spcPts val="300"/>
              </a:spcAft>
            </a:pPr>
            <a:r>
              <a:rPr sz="1100" b="0">
                <a:solidFill>
                  <a:srgbClr val="5E5E70"/>
                </a:solidFill>
                <a:latin typeface="Calibri"/>
              </a:rPr>
              <a:t>Frostcliff</a:t>
            </a:r>
          </a:p>
          <a:p>
            <a:pPr algn="ctr">
              <a:spcBef>
                <a:spcPts val="0"/>
              </a:spcBef>
              <a:spcAft>
                <a:spcPts val="300"/>
              </a:spcAft>
            </a:pPr>
            <a:r>
              <a:rPr sz="1100" b="0">
                <a:solidFill>
                  <a:srgbClr val="5E5E70"/>
                </a:solidFill>
                <a:latin typeface="Calibri"/>
              </a:rPr>
              <a:t>Duneville WM</a:t>
            </a:r>
          </a:p>
          <a:p>
            <a:pPr algn="ctr">
              <a:spcBef>
                <a:spcPts val="0"/>
              </a:spcBef>
              <a:spcAft>
                <a:spcPts val="300"/>
              </a:spcAft>
            </a:pPr>
            <a:r>
              <a:rPr sz="1100" b="0">
                <a:solidFill>
                  <a:srgbClr val="5E5E70"/>
                </a:solidFill>
                <a:latin typeface="Calibri"/>
              </a:rPr>
              <a:t>Duneville smith</a:t>
            </a:r>
          </a:p>
        </p:txBody>
      </p:sp>
      <p:sp>
        <p:nvSpPr>
          <p:cNvPr id="26" name="Rectangle 25"/>
          <p:cNvSpPr/>
          <p:nvPr/>
        </p:nvSpPr>
        <p:spPr>
          <a:xfrm>
            <a:off x="896112" y="5074920"/>
            <a:ext cx="10881360" cy="868680"/>
          </a:xfrm>
          <a:prstGeom prst="rect">
            <a:avLst/>
          </a:prstGeom>
          <a:solidFill>
            <a:srgbClr val="F0F0F5"/>
          </a:solidFill>
          <a:ln>
            <a:noFill/>
          </a:ln>
          <a:effectLst/>
        </p:spPr>
        <p:txBody>
          <a:bodyPr rtlCol="0" anchor="ctr" wrap="square" lIns="274320"/>
          <a:lstStyle/>
          <a:p>
            <a:pPr algn="l"/>
            <a:r>
              <a:rPr sz="1500" b="1">
                <a:solidFill>
                  <a:srgbClr val="2C2A4A"/>
                </a:solidFill>
                <a:latin typeface="Calibri"/>
              </a:rPr>
              <a:t>Novice–Adept: 36 spells at 3 vendors, the 9 Shadow ones at 4  ·  Expert &amp; Master: Ark / Undercity only</a:t>
            </a:r>
          </a:p>
          <a:p>
            <a:pPr algn="l">
              <a:spcBef>
                <a:spcPts val="400"/>
              </a:spcBef>
              <a:spcAft>
                <a:spcPts val="0"/>
              </a:spcAft>
            </a:pPr>
            <a:r>
              <a:rPr sz="1200" b="0">
                <a:solidFill>
                  <a:srgbClr val="5E5E70"/>
                </a:solidFill>
                <a:latin typeface="Calibri"/>
              </a:rPr>
              <a:t>The counts above are the Novice–Adept line; 26 staves sit at one flavour-fit vendor apiece. Asserted by the generator, which walks the full chest → bundle → tier bundle → tome chain and fails the build if any tome falls short.</a:t>
            </a:r>
          </a:p>
        </p:txBody>
      </p:sp>
      <p:sp>
        <p:nvSpPr>
          <p:cNvPr id="27" name="TextBox 26"/>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tools/15-distribution.ps1</a:t>
            </a:r>
          </a:p>
        </p:txBody>
      </p:sp>
      <p:sp>
        <p:nvSpPr>
          <p:cNvPr id="28" name="TextBox 27"/>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PRICING</a:t>
            </a:r>
          </a:p>
          <a:p>
            <a:pPr algn="l">
              <a:lnSpc>
                <a:spcPct val="95000"/>
              </a:lnSpc>
              <a:spcBef>
                <a:spcPts val="0"/>
              </a:spcBef>
              <a:spcAft>
                <a:spcPts val="0"/>
              </a:spcAft>
            </a:pPr>
            <a:r>
              <a:rPr sz="3000" b="1">
                <a:solidFill>
                  <a:srgbClr val="1B1B24"/>
                </a:solidFill>
                <a:latin typeface="Calibri"/>
              </a:rPr>
              <a:t>Rescaled onto Enderal's much flatter economy</a:t>
            </a:r>
          </a:p>
        </p:txBody>
      </p:sp>
      <p:sp>
        <p:nvSpPr>
          <p:cNvPr id="5" name="TextBox 4"/>
          <p:cNvSpPr txBox="1"/>
          <p:nvPr/>
        </p:nvSpPr>
        <p:spPr>
          <a:xfrm>
            <a:off x="896112" y="1371600"/>
            <a:ext cx="10424160" cy="50292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Enai's ladder is vanilla Skyrim's. Enderal's entire spell-tome range is 20–350 gold, so a Skyrim-priced master tome would cost about what a unique greataxe does. The top three tiers rescale by a per-tier ratio, which preserves Enai's ordering inside each tier.</a:t>
            </a:r>
          </a:p>
        </p:txBody>
      </p:sp>
      <p:sp>
        <p:nvSpPr>
          <p:cNvPr id="6" name="TextBox 5"/>
          <p:cNvSpPr txBox="1"/>
          <p:nvPr/>
        </p:nvSpPr>
        <p:spPr>
          <a:xfrm>
            <a:off x="1097280" y="2194560"/>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TIER</a:t>
            </a:r>
          </a:p>
        </p:txBody>
      </p:sp>
      <p:sp>
        <p:nvSpPr>
          <p:cNvPr id="7" name="TextBox 6"/>
          <p:cNvSpPr txBox="1"/>
          <p:nvPr/>
        </p:nvSpPr>
        <p:spPr>
          <a:xfrm>
            <a:off x="2834640" y="2194560"/>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SKYRIM PRICE</a:t>
            </a:r>
          </a:p>
        </p:txBody>
      </p:sp>
      <p:sp>
        <p:nvSpPr>
          <p:cNvPr id="8" name="TextBox 7"/>
          <p:cNvSpPr txBox="1"/>
          <p:nvPr/>
        </p:nvSpPr>
        <p:spPr>
          <a:xfrm>
            <a:off x="4846320" y="2194560"/>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RATIO</a:t>
            </a:r>
          </a:p>
        </p:txBody>
      </p:sp>
      <p:sp>
        <p:nvSpPr>
          <p:cNvPr id="9" name="TextBox 8"/>
          <p:cNvSpPr txBox="1"/>
          <p:nvPr/>
        </p:nvSpPr>
        <p:spPr>
          <a:xfrm>
            <a:off x="6126480" y="2194560"/>
            <a:ext cx="201168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ENDERAL PRICE</a:t>
            </a:r>
          </a:p>
        </p:txBody>
      </p:sp>
      <p:sp>
        <p:nvSpPr>
          <p:cNvPr id="10" name="Rectangle 9"/>
          <p:cNvSpPr/>
          <p:nvPr/>
        </p:nvSpPr>
        <p:spPr>
          <a:xfrm>
            <a:off x="896112" y="2542032"/>
            <a:ext cx="10881360" cy="640080"/>
          </a:xfrm>
          <a:prstGeom prst="rect">
            <a:avLst/>
          </a:prstGeom>
          <a:solidFill>
            <a:srgbClr val="FFFFFF"/>
          </a:solidFill>
          <a:ln w="9525">
            <a:solidFill>
              <a:srgbClr val="D6D6DE"/>
            </a:solidFill>
          </a:ln>
          <a:effectLst/>
        </p:spPr>
        <p:txBody>
          <a:bodyPr rtlCol="0" anchor="ctr" wrap="square"/>
          <a:lstStyle/>
          <a:p>
            <a:pPr algn="ctr"/>
          </a:p>
        </p:txBody>
      </p:sp>
      <p:sp>
        <p:nvSpPr>
          <p:cNvPr id="11" name="Rectangle 10"/>
          <p:cNvSpPr/>
          <p:nvPr/>
        </p:nvSpPr>
        <p:spPr>
          <a:xfrm>
            <a:off x="896112" y="2542032"/>
            <a:ext cx="68580" cy="640080"/>
          </a:xfrm>
          <a:prstGeom prst="rect">
            <a:avLst/>
          </a:prstGeom>
          <a:solidFill>
            <a:srgbClr val="2E6F4F"/>
          </a:solidFill>
          <a:ln>
            <a:noFill/>
          </a:ln>
          <a:effectLst/>
        </p:spPr>
        <p:txBody>
          <a:bodyPr rtlCol="0" anchor="ctr" wrap="square"/>
          <a:lstStyle/>
          <a:p>
            <a:pPr algn="ctr"/>
          </a:p>
        </p:txBody>
      </p:sp>
      <p:sp>
        <p:nvSpPr>
          <p:cNvPr id="12" name="TextBox 11"/>
          <p:cNvSpPr txBox="1"/>
          <p:nvPr/>
        </p:nvSpPr>
        <p:spPr>
          <a:xfrm>
            <a:off x="1097280" y="2706624"/>
            <a:ext cx="1737360" cy="32004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Novice</a:t>
            </a:r>
          </a:p>
        </p:txBody>
      </p:sp>
      <p:sp>
        <p:nvSpPr>
          <p:cNvPr id="13" name="TextBox 12"/>
          <p:cNvSpPr txBox="1"/>
          <p:nvPr/>
        </p:nvSpPr>
        <p:spPr>
          <a:xfrm>
            <a:off x="2834640" y="2724912"/>
            <a:ext cx="1737360" cy="320040"/>
          </a:xfrm>
          <a:prstGeom prst="rect">
            <a:avLst/>
          </a:prstGeom>
          <a:noFill/>
        </p:spPr>
        <p:txBody>
          <a:bodyPr wrap="square" anchor="t" lIns="0" rIns="0" tIns="0" bIns="0">
            <a:spAutoFit/>
          </a:bodyPr>
          <a:lstStyle/>
          <a:p>
            <a:pPr algn="l">
              <a:spcBef>
                <a:spcPts val="0"/>
              </a:spcBef>
              <a:spcAft>
                <a:spcPts val="0"/>
              </a:spcAft>
            </a:pPr>
            <a:r>
              <a:rPr sz="1400" b="0">
                <a:solidFill>
                  <a:srgbClr val="1B1B24"/>
                </a:solidFill>
                <a:latin typeface="Calibri"/>
              </a:rPr>
              <a:t>44 g</a:t>
            </a:r>
          </a:p>
        </p:txBody>
      </p:sp>
      <p:sp>
        <p:nvSpPr>
          <p:cNvPr id="14" name="TextBox 13"/>
          <p:cNvSpPr txBox="1"/>
          <p:nvPr/>
        </p:nvSpPr>
        <p:spPr>
          <a:xfrm>
            <a:off x="4846320" y="2724912"/>
            <a:ext cx="1097280" cy="320040"/>
          </a:xfrm>
          <a:prstGeom prst="rect">
            <a:avLst/>
          </a:prstGeom>
          <a:noFill/>
        </p:spPr>
        <p:txBody>
          <a:bodyPr wrap="square" anchor="t" lIns="0" rIns="0" tIns="0" bIns="0">
            <a:spAutoFit/>
          </a:bodyPr>
          <a:lstStyle/>
          <a:p>
            <a:pPr algn="l">
              <a:spcBef>
                <a:spcPts val="0"/>
              </a:spcBef>
              <a:spcAft>
                <a:spcPts val="0"/>
              </a:spcAft>
            </a:pPr>
            <a:r>
              <a:rPr sz="1350" b="0">
                <a:solidFill>
                  <a:srgbClr val="5E5E70"/>
                </a:solidFill>
                <a:latin typeface="Calibri"/>
              </a:rPr>
              <a:t>—</a:t>
            </a:r>
          </a:p>
        </p:txBody>
      </p:sp>
      <p:sp>
        <p:nvSpPr>
          <p:cNvPr id="15" name="TextBox 14"/>
          <p:cNvSpPr txBox="1"/>
          <p:nvPr/>
        </p:nvSpPr>
        <p:spPr>
          <a:xfrm>
            <a:off x="6126480" y="2706624"/>
            <a:ext cx="2011680" cy="320040"/>
          </a:xfrm>
          <a:prstGeom prst="rect">
            <a:avLst/>
          </a:prstGeom>
          <a:noFill/>
        </p:spPr>
        <p:txBody>
          <a:bodyPr wrap="square" anchor="t" lIns="0" rIns="0" tIns="0" bIns="0">
            <a:spAutoFit/>
          </a:bodyPr>
          <a:lstStyle/>
          <a:p>
            <a:pPr algn="l">
              <a:spcBef>
                <a:spcPts val="0"/>
              </a:spcBef>
              <a:spcAft>
                <a:spcPts val="0"/>
              </a:spcAft>
            </a:pPr>
            <a:r>
              <a:rPr sz="1600" b="1">
                <a:solidFill>
                  <a:srgbClr val="2E6F4F"/>
                </a:solidFill>
                <a:latin typeface="Calibri"/>
              </a:rPr>
              <a:t>44 g</a:t>
            </a:r>
          </a:p>
        </p:txBody>
      </p:sp>
      <p:sp>
        <p:nvSpPr>
          <p:cNvPr id="16" name="TextBox 15"/>
          <p:cNvSpPr txBox="1"/>
          <p:nvPr/>
        </p:nvSpPr>
        <p:spPr>
          <a:xfrm>
            <a:off x="8321040" y="2734056"/>
            <a:ext cx="3291840" cy="320040"/>
          </a:xfrm>
          <a:prstGeom prst="rect">
            <a:avLst/>
          </a:prstGeom>
          <a:noFill/>
        </p:spPr>
        <p:txBody>
          <a:bodyPr wrap="square" anchor="t" lIns="0" rIns="0" tIns="0" bIns="0">
            <a:spAutoFit/>
          </a:bodyPr>
          <a:lstStyle/>
          <a:p>
            <a:pPr algn="l">
              <a:spcBef>
                <a:spcPts val="0"/>
              </a:spcBef>
              <a:spcAft>
                <a:spcPts val="0"/>
              </a:spcAft>
            </a:pPr>
            <a:r>
              <a:rPr sz="1200" b="0">
                <a:solidFill>
                  <a:srgbClr val="5E5E70"/>
                </a:solidFill>
                <a:latin typeface="Calibri"/>
              </a:rPr>
              <a:t>already inside Enderal's band</a:t>
            </a:r>
          </a:p>
        </p:txBody>
      </p:sp>
      <p:sp>
        <p:nvSpPr>
          <p:cNvPr id="17" name="Rectangle 16"/>
          <p:cNvSpPr/>
          <p:nvPr/>
        </p:nvSpPr>
        <p:spPr>
          <a:xfrm>
            <a:off x="896112" y="3200400"/>
            <a:ext cx="10881360" cy="640080"/>
          </a:xfrm>
          <a:prstGeom prst="rect">
            <a:avLst/>
          </a:prstGeom>
          <a:solidFill>
            <a:srgbClr val="FFFFFF"/>
          </a:solidFill>
          <a:ln w="9525">
            <a:solidFill>
              <a:srgbClr val="D6D6DE"/>
            </a:solidFill>
          </a:ln>
          <a:effectLst/>
        </p:spPr>
        <p:txBody>
          <a:bodyPr rtlCol="0" anchor="ctr" wrap="square"/>
          <a:lstStyle/>
          <a:p>
            <a:pPr algn="ctr"/>
          </a:p>
        </p:txBody>
      </p:sp>
      <p:sp>
        <p:nvSpPr>
          <p:cNvPr id="18" name="Rectangle 17"/>
          <p:cNvSpPr/>
          <p:nvPr/>
        </p:nvSpPr>
        <p:spPr>
          <a:xfrm>
            <a:off x="896112" y="3200400"/>
            <a:ext cx="68580" cy="640080"/>
          </a:xfrm>
          <a:prstGeom prst="rect">
            <a:avLst/>
          </a:prstGeom>
          <a:solidFill>
            <a:srgbClr val="2E6F4F"/>
          </a:solidFill>
          <a:ln>
            <a:noFill/>
          </a:ln>
          <a:effectLst/>
        </p:spPr>
        <p:txBody>
          <a:bodyPr rtlCol="0" anchor="ctr" wrap="square"/>
          <a:lstStyle/>
          <a:p>
            <a:pPr algn="ctr"/>
          </a:p>
        </p:txBody>
      </p:sp>
      <p:sp>
        <p:nvSpPr>
          <p:cNvPr id="19" name="TextBox 18"/>
          <p:cNvSpPr txBox="1"/>
          <p:nvPr/>
        </p:nvSpPr>
        <p:spPr>
          <a:xfrm>
            <a:off x="1097280" y="3364992"/>
            <a:ext cx="1737360" cy="32004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Apprentice</a:t>
            </a:r>
          </a:p>
        </p:txBody>
      </p:sp>
      <p:sp>
        <p:nvSpPr>
          <p:cNvPr id="20" name="TextBox 19"/>
          <p:cNvSpPr txBox="1"/>
          <p:nvPr/>
        </p:nvSpPr>
        <p:spPr>
          <a:xfrm>
            <a:off x="2834640" y="3383280"/>
            <a:ext cx="1737360" cy="320040"/>
          </a:xfrm>
          <a:prstGeom prst="rect">
            <a:avLst/>
          </a:prstGeom>
          <a:noFill/>
        </p:spPr>
        <p:txBody>
          <a:bodyPr wrap="square" anchor="t" lIns="0" rIns="0" tIns="0" bIns="0">
            <a:spAutoFit/>
          </a:bodyPr>
          <a:lstStyle/>
          <a:p>
            <a:pPr algn="l">
              <a:spcBef>
                <a:spcPts val="0"/>
              </a:spcBef>
              <a:spcAft>
                <a:spcPts val="0"/>
              </a:spcAft>
            </a:pPr>
            <a:r>
              <a:rPr sz="1400" b="0">
                <a:solidFill>
                  <a:srgbClr val="1B1B24"/>
                </a:solidFill>
                <a:latin typeface="Calibri"/>
              </a:rPr>
              <a:t>104 g</a:t>
            </a:r>
          </a:p>
        </p:txBody>
      </p:sp>
      <p:sp>
        <p:nvSpPr>
          <p:cNvPr id="21" name="TextBox 20"/>
          <p:cNvSpPr txBox="1"/>
          <p:nvPr/>
        </p:nvSpPr>
        <p:spPr>
          <a:xfrm>
            <a:off x="4846320" y="3383280"/>
            <a:ext cx="1097280" cy="320040"/>
          </a:xfrm>
          <a:prstGeom prst="rect">
            <a:avLst/>
          </a:prstGeom>
          <a:noFill/>
        </p:spPr>
        <p:txBody>
          <a:bodyPr wrap="square" anchor="t" lIns="0" rIns="0" tIns="0" bIns="0">
            <a:spAutoFit/>
          </a:bodyPr>
          <a:lstStyle/>
          <a:p>
            <a:pPr algn="l">
              <a:spcBef>
                <a:spcPts val="0"/>
              </a:spcBef>
              <a:spcAft>
                <a:spcPts val="0"/>
              </a:spcAft>
            </a:pPr>
            <a:r>
              <a:rPr sz="1350" b="0">
                <a:solidFill>
                  <a:srgbClr val="5E5E70"/>
                </a:solidFill>
                <a:latin typeface="Calibri"/>
              </a:rPr>
              <a:t>—</a:t>
            </a:r>
          </a:p>
        </p:txBody>
      </p:sp>
      <p:sp>
        <p:nvSpPr>
          <p:cNvPr id="22" name="TextBox 21"/>
          <p:cNvSpPr txBox="1"/>
          <p:nvPr/>
        </p:nvSpPr>
        <p:spPr>
          <a:xfrm>
            <a:off x="6126480" y="3364992"/>
            <a:ext cx="2011680" cy="320040"/>
          </a:xfrm>
          <a:prstGeom prst="rect">
            <a:avLst/>
          </a:prstGeom>
          <a:noFill/>
        </p:spPr>
        <p:txBody>
          <a:bodyPr wrap="square" anchor="t" lIns="0" rIns="0" tIns="0" bIns="0">
            <a:spAutoFit/>
          </a:bodyPr>
          <a:lstStyle/>
          <a:p>
            <a:pPr algn="l">
              <a:spcBef>
                <a:spcPts val="0"/>
              </a:spcBef>
              <a:spcAft>
                <a:spcPts val="0"/>
              </a:spcAft>
            </a:pPr>
            <a:r>
              <a:rPr sz="1600" b="1">
                <a:solidFill>
                  <a:srgbClr val="2E6F4F"/>
                </a:solidFill>
                <a:latin typeface="Calibri"/>
              </a:rPr>
              <a:t>104 g</a:t>
            </a:r>
          </a:p>
        </p:txBody>
      </p:sp>
      <p:sp>
        <p:nvSpPr>
          <p:cNvPr id="23" name="TextBox 22"/>
          <p:cNvSpPr txBox="1"/>
          <p:nvPr/>
        </p:nvSpPr>
        <p:spPr>
          <a:xfrm>
            <a:off x="8321040" y="3392424"/>
            <a:ext cx="3291840" cy="320040"/>
          </a:xfrm>
          <a:prstGeom prst="rect">
            <a:avLst/>
          </a:prstGeom>
          <a:noFill/>
        </p:spPr>
        <p:txBody>
          <a:bodyPr wrap="square" anchor="t" lIns="0" rIns="0" tIns="0" bIns="0">
            <a:spAutoFit/>
          </a:bodyPr>
          <a:lstStyle/>
          <a:p>
            <a:pPr algn="l">
              <a:spcBef>
                <a:spcPts val="0"/>
              </a:spcBef>
              <a:spcAft>
                <a:spcPts val="0"/>
              </a:spcAft>
            </a:pPr>
            <a:r>
              <a:rPr sz="1200" b="0">
                <a:solidFill>
                  <a:srgbClr val="5E5E70"/>
                </a:solidFill>
                <a:latin typeface="Calibri"/>
              </a:rPr>
              <a:t>already inside Enderal's band</a:t>
            </a:r>
          </a:p>
        </p:txBody>
      </p:sp>
      <p:sp>
        <p:nvSpPr>
          <p:cNvPr id="24" name="Rectangle 23"/>
          <p:cNvSpPr/>
          <p:nvPr/>
        </p:nvSpPr>
        <p:spPr>
          <a:xfrm>
            <a:off x="896112" y="3858768"/>
            <a:ext cx="10881360" cy="640080"/>
          </a:xfrm>
          <a:prstGeom prst="rect">
            <a:avLst/>
          </a:prstGeom>
          <a:solidFill>
            <a:srgbClr val="FFFFFF"/>
          </a:solidFill>
          <a:ln w="9525">
            <a:solidFill>
              <a:srgbClr val="D6D6DE"/>
            </a:solidFill>
          </a:ln>
          <a:effectLst/>
        </p:spPr>
        <p:txBody>
          <a:bodyPr rtlCol="0" anchor="ctr" wrap="square"/>
          <a:lstStyle/>
          <a:p>
            <a:pPr algn="ctr"/>
          </a:p>
        </p:txBody>
      </p:sp>
      <p:sp>
        <p:nvSpPr>
          <p:cNvPr id="25" name="Rectangle 24"/>
          <p:cNvSpPr/>
          <p:nvPr/>
        </p:nvSpPr>
        <p:spPr>
          <a:xfrm>
            <a:off x="896112" y="3858768"/>
            <a:ext cx="68580" cy="640080"/>
          </a:xfrm>
          <a:prstGeom prst="rect">
            <a:avLst/>
          </a:prstGeom>
          <a:solidFill>
            <a:srgbClr val="B4862C"/>
          </a:solidFill>
          <a:ln>
            <a:noFill/>
          </a:ln>
          <a:effectLst/>
        </p:spPr>
        <p:txBody>
          <a:bodyPr rtlCol="0" anchor="ctr" wrap="square"/>
          <a:lstStyle/>
          <a:p>
            <a:pPr algn="ctr"/>
          </a:p>
        </p:txBody>
      </p:sp>
      <p:sp>
        <p:nvSpPr>
          <p:cNvPr id="26" name="TextBox 25"/>
          <p:cNvSpPr txBox="1"/>
          <p:nvPr/>
        </p:nvSpPr>
        <p:spPr>
          <a:xfrm>
            <a:off x="1097280" y="4023360"/>
            <a:ext cx="1737360" cy="32004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Adept</a:t>
            </a:r>
          </a:p>
        </p:txBody>
      </p:sp>
      <p:sp>
        <p:nvSpPr>
          <p:cNvPr id="27" name="TextBox 26"/>
          <p:cNvSpPr txBox="1"/>
          <p:nvPr/>
        </p:nvSpPr>
        <p:spPr>
          <a:xfrm>
            <a:off x="2834640" y="4041648"/>
            <a:ext cx="1737360" cy="320040"/>
          </a:xfrm>
          <a:prstGeom prst="rect">
            <a:avLst/>
          </a:prstGeom>
          <a:noFill/>
        </p:spPr>
        <p:txBody>
          <a:bodyPr wrap="square" anchor="t" lIns="0" rIns="0" tIns="0" bIns="0">
            <a:spAutoFit/>
          </a:bodyPr>
          <a:lstStyle/>
          <a:p>
            <a:pPr algn="l">
              <a:spcBef>
                <a:spcPts val="0"/>
              </a:spcBef>
              <a:spcAft>
                <a:spcPts val="0"/>
              </a:spcAft>
            </a:pPr>
            <a:r>
              <a:rPr sz="1400" b="0">
                <a:solidFill>
                  <a:srgbClr val="5E5E70"/>
                </a:solidFill>
                <a:latin typeface="Calibri"/>
              </a:rPr>
              <a:t>356 g</a:t>
            </a:r>
          </a:p>
        </p:txBody>
      </p:sp>
      <p:sp>
        <p:nvSpPr>
          <p:cNvPr id="28" name="TextBox 27"/>
          <p:cNvSpPr txBox="1"/>
          <p:nvPr/>
        </p:nvSpPr>
        <p:spPr>
          <a:xfrm>
            <a:off x="4846320" y="4041648"/>
            <a:ext cx="1097280" cy="320040"/>
          </a:xfrm>
          <a:prstGeom prst="rect">
            <a:avLst/>
          </a:prstGeom>
          <a:noFill/>
        </p:spPr>
        <p:txBody>
          <a:bodyPr wrap="square" anchor="t" lIns="0" rIns="0" tIns="0" bIns="0">
            <a:spAutoFit/>
          </a:bodyPr>
          <a:lstStyle/>
          <a:p>
            <a:pPr algn="l">
              <a:spcBef>
                <a:spcPts val="0"/>
              </a:spcBef>
              <a:spcAft>
                <a:spcPts val="0"/>
              </a:spcAft>
            </a:pPr>
            <a:r>
              <a:rPr sz="1350" b="1">
                <a:solidFill>
                  <a:srgbClr val="B4862C"/>
                </a:solidFill>
                <a:latin typeface="Calibri"/>
              </a:rPr>
              <a:t>×0.43</a:t>
            </a:r>
          </a:p>
        </p:txBody>
      </p:sp>
      <p:sp>
        <p:nvSpPr>
          <p:cNvPr id="29" name="TextBox 28"/>
          <p:cNvSpPr txBox="1"/>
          <p:nvPr/>
        </p:nvSpPr>
        <p:spPr>
          <a:xfrm>
            <a:off x="6126480" y="4023360"/>
            <a:ext cx="2011680" cy="320040"/>
          </a:xfrm>
          <a:prstGeom prst="rect">
            <a:avLst/>
          </a:prstGeom>
          <a:noFill/>
        </p:spPr>
        <p:txBody>
          <a:bodyPr wrap="square" anchor="t" lIns="0" rIns="0" tIns="0" bIns="0">
            <a:spAutoFit/>
          </a:bodyPr>
          <a:lstStyle/>
          <a:p>
            <a:pPr algn="l">
              <a:spcBef>
                <a:spcPts val="0"/>
              </a:spcBef>
              <a:spcAft>
                <a:spcPts val="0"/>
              </a:spcAft>
            </a:pPr>
            <a:r>
              <a:rPr sz="1600" b="1">
                <a:solidFill>
                  <a:srgbClr val="B4862C"/>
                </a:solidFill>
                <a:latin typeface="Calibri"/>
              </a:rPr>
              <a:t>153 g</a:t>
            </a:r>
          </a:p>
        </p:txBody>
      </p:sp>
      <p:sp>
        <p:nvSpPr>
          <p:cNvPr id="30" name="TextBox 29"/>
          <p:cNvSpPr txBox="1"/>
          <p:nvPr/>
        </p:nvSpPr>
        <p:spPr>
          <a:xfrm>
            <a:off x="8321040" y="4050792"/>
            <a:ext cx="3291840" cy="320040"/>
          </a:xfrm>
          <a:prstGeom prst="rect">
            <a:avLst/>
          </a:prstGeom>
          <a:noFill/>
        </p:spPr>
        <p:txBody>
          <a:bodyPr wrap="square" anchor="t" lIns="0" rIns="0" tIns="0" bIns="0">
            <a:spAutoFit/>
          </a:bodyPr>
          <a:lstStyle/>
          <a:p>
            <a:pPr algn="l">
              <a:spcBef>
                <a:spcPts val="0"/>
              </a:spcBef>
              <a:spcAft>
                <a:spcPts val="0"/>
              </a:spcAft>
            </a:pPr>
            <a:r>
              <a:rPr sz="1200" b="0">
                <a:solidFill>
                  <a:srgbClr val="5E5E70"/>
                </a:solidFill>
                <a:latin typeface="Calibri"/>
              </a:rPr>
              <a:t>rescaled</a:t>
            </a:r>
          </a:p>
        </p:txBody>
      </p:sp>
      <p:sp>
        <p:nvSpPr>
          <p:cNvPr id="31" name="Rectangle 30"/>
          <p:cNvSpPr/>
          <p:nvPr/>
        </p:nvSpPr>
        <p:spPr>
          <a:xfrm>
            <a:off x="896112" y="4517136"/>
            <a:ext cx="10881360" cy="640080"/>
          </a:xfrm>
          <a:prstGeom prst="rect">
            <a:avLst/>
          </a:prstGeom>
          <a:solidFill>
            <a:srgbClr val="FFFFFF"/>
          </a:solidFill>
          <a:ln w="9525">
            <a:solidFill>
              <a:srgbClr val="D6D6DE"/>
            </a:solidFill>
          </a:ln>
          <a:effectLst/>
        </p:spPr>
        <p:txBody>
          <a:bodyPr rtlCol="0" anchor="ctr" wrap="square"/>
          <a:lstStyle/>
          <a:p>
            <a:pPr algn="ctr"/>
          </a:p>
        </p:txBody>
      </p:sp>
      <p:sp>
        <p:nvSpPr>
          <p:cNvPr id="32" name="Rectangle 31"/>
          <p:cNvSpPr/>
          <p:nvPr/>
        </p:nvSpPr>
        <p:spPr>
          <a:xfrm>
            <a:off x="896112" y="4517136"/>
            <a:ext cx="68580" cy="640080"/>
          </a:xfrm>
          <a:prstGeom prst="rect">
            <a:avLst/>
          </a:prstGeom>
          <a:solidFill>
            <a:srgbClr val="B4862C"/>
          </a:solidFill>
          <a:ln>
            <a:noFill/>
          </a:ln>
          <a:effectLst/>
        </p:spPr>
        <p:txBody>
          <a:bodyPr rtlCol="0" anchor="ctr" wrap="square"/>
          <a:lstStyle/>
          <a:p>
            <a:pPr algn="ctr"/>
          </a:p>
        </p:txBody>
      </p:sp>
      <p:sp>
        <p:nvSpPr>
          <p:cNvPr id="33" name="TextBox 32"/>
          <p:cNvSpPr txBox="1"/>
          <p:nvPr/>
        </p:nvSpPr>
        <p:spPr>
          <a:xfrm>
            <a:off x="1097280" y="4681728"/>
            <a:ext cx="1737360" cy="32004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Expert</a:t>
            </a:r>
          </a:p>
        </p:txBody>
      </p:sp>
      <p:sp>
        <p:nvSpPr>
          <p:cNvPr id="34" name="TextBox 33"/>
          <p:cNvSpPr txBox="1"/>
          <p:nvPr/>
        </p:nvSpPr>
        <p:spPr>
          <a:xfrm>
            <a:off x="2834640" y="4700016"/>
            <a:ext cx="1737360" cy="320040"/>
          </a:xfrm>
          <a:prstGeom prst="rect">
            <a:avLst/>
          </a:prstGeom>
          <a:noFill/>
        </p:spPr>
        <p:txBody>
          <a:bodyPr wrap="square" anchor="t" lIns="0" rIns="0" tIns="0" bIns="0">
            <a:spAutoFit/>
          </a:bodyPr>
          <a:lstStyle/>
          <a:p>
            <a:pPr algn="l">
              <a:spcBef>
                <a:spcPts val="0"/>
              </a:spcBef>
              <a:spcAft>
                <a:spcPts val="0"/>
              </a:spcAft>
            </a:pPr>
            <a:r>
              <a:rPr sz="1400" b="0">
                <a:solidFill>
                  <a:srgbClr val="5E5E70"/>
                </a:solidFill>
                <a:latin typeface="Calibri"/>
              </a:rPr>
              <a:t>646 g</a:t>
            </a:r>
          </a:p>
        </p:txBody>
      </p:sp>
      <p:sp>
        <p:nvSpPr>
          <p:cNvPr id="35" name="TextBox 34"/>
          <p:cNvSpPr txBox="1"/>
          <p:nvPr/>
        </p:nvSpPr>
        <p:spPr>
          <a:xfrm>
            <a:off x="4846320" y="4700016"/>
            <a:ext cx="1097280" cy="320040"/>
          </a:xfrm>
          <a:prstGeom prst="rect">
            <a:avLst/>
          </a:prstGeom>
          <a:noFill/>
        </p:spPr>
        <p:txBody>
          <a:bodyPr wrap="square" anchor="t" lIns="0" rIns="0" tIns="0" bIns="0">
            <a:spAutoFit/>
          </a:bodyPr>
          <a:lstStyle/>
          <a:p>
            <a:pPr algn="l">
              <a:spcBef>
                <a:spcPts val="0"/>
              </a:spcBef>
              <a:spcAft>
                <a:spcPts val="0"/>
              </a:spcAft>
            </a:pPr>
            <a:r>
              <a:rPr sz="1350" b="1">
                <a:solidFill>
                  <a:srgbClr val="B4862C"/>
                </a:solidFill>
                <a:latin typeface="Calibri"/>
              </a:rPr>
              <a:t>×0.35</a:t>
            </a:r>
          </a:p>
        </p:txBody>
      </p:sp>
      <p:sp>
        <p:nvSpPr>
          <p:cNvPr id="36" name="TextBox 35"/>
          <p:cNvSpPr txBox="1"/>
          <p:nvPr/>
        </p:nvSpPr>
        <p:spPr>
          <a:xfrm>
            <a:off x="6126480" y="4681728"/>
            <a:ext cx="2011680" cy="320040"/>
          </a:xfrm>
          <a:prstGeom prst="rect">
            <a:avLst/>
          </a:prstGeom>
          <a:noFill/>
        </p:spPr>
        <p:txBody>
          <a:bodyPr wrap="square" anchor="t" lIns="0" rIns="0" tIns="0" bIns="0">
            <a:spAutoFit/>
          </a:bodyPr>
          <a:lstStyle/>
          <a:p>
            <a:pPr algn="l">
              <a:spcBef>
                <a:spcPts val="0"/>
              </a:spcBef>
              <a:spcAft>
                <a:spcPts val="0"/>
              </a:spcAft>
            </a:pPr>
            <a:r>
              <a:rPr sz="1600" b="1">
                <a:solidFill>
                  <a:srgbClr val="B4862C"/>
                </a:solidFill>
                <a:latin typeface="Calibri"/>
              </a:rPr>
              <a:t>226 g</a:t>
            </a:r>
          </a:p>
        </p:txBody>
      </p:sp>
      <p:sp>
        <p:nvSpPr>
          <p:cNvPr id="37" name="TextBox 36"/>
          <p:cNvSpPr txBox="1"/>
          <p:nvPr/>
        </p:nvSpPr>
        <p:spPr>
          <a:xfrm>
            <a:off x="8321040" y="4709160"/>
            <a:ext cx="3291840" cy="320040"/>
          </a:xfrm>
          <a:prstGeom prst="rect">
            <a:avLst/>
          </a:prstGeom>
          <a:noFill/>
        </p:spPr>
        <p:txBody>
          <a:bodyPr wrap="square" anchor="t" lIns="0" rIns="0" tIns="0" bIns="0">
            <a:spAutoFit/>
          </a:bodyPr>
          <a:lstStyle/>
          <a:p>
            <a:pPr algn="l">
              <a:spcBef>
                <a:spcPts val="0"/>
              </a:spcBef>
              <a:spcAft>
                <a:spcPts val="0"/>
              </a:spcAft>
            </a:pPr>
            <a:r>
              <a:rPr sz="1200" b="0">
                <a:solidFill>
                  <a:srgbClr val="5E5E70"/>
                </a:solidFill>
                <a:latin typeface="Calibri"/>
              </a:rPr>
              <a:t>rescaled</a:t>
            </a:r>
          </a:p>
        </p:txBody>
      </p:sp>
      <p:sp>
        <p:nvSpPr>
          <p:cNvPr id="38" name="Rectangle 37"/>
          <p:cNvSpPr/>
          <p:nvPr/>
        </p:nvSpPr>
        <p:spPr>
          <a:xfrm>
            <a:off x="896112" y="5175504"/>
            <a:ext cx="10881360" cy="640080"/>
          </a:xfrm>
          <a:prstGeom prst="rect">
            <a:avLst/>
          </a:prstGeom>
          <a:solidFill>
            <a:srgbClr val="FFFFFF"/>
          </a:solidFill>
          <a:ln w="9525">
            <a:solidFill>
              <a:srgbClr val="D6D6DE"/>
            </a:solidFill>
          </a:ln>
          <a:effectLst/>
        </p:spPr>
        <p:txBody>
          <a:bodyPr rtlCol="0" anchor="ctr" wrap="square"/>
          <a:lstStyle/>
          <a:p>
            <a:pPr algn="ctr"/>
          </a:p>
        </p:txBody>
      </p:sp>
      <p:sp>
        <p:nvSpPr>
          <p:cNvPr id="39" name="Rectangle 38"/>
          <p:cNvSpPr/>
          <p:nvPr/>
        </p:nvSpPr>
        <p:spPr>
          <a:xfrm>
            <a:off x="896112" y="5175504"/>
            <a:ext cx="68580" cy="640080"/>
          </a:xfrm>
          <a:prstGeom prst="rect">
            <a:avLst/>
          </a:prstGeom>
          <a:solidFill>
            <a:srgbClr val="B4862C"/>
          </a:solidFill>
          <a:ln>
            <a:noFill/>
          </a:ln>
          <a:effectLst/>
        </p:spPr>
        <p:txBody>
          <a:bodyPr rtlCol="0" anchor="ctr" wrap="square"/>
          <a:lstStyle/>
          <a:p>
            <a:pPr algn="ctr"/>
          </a:p>
        </p:txBody>
      </p:sp>
      <p:sp>
        <p:nvSpPr>
          <p:cNvPr id="40" name="TextBox 39"/>
          <p:cNvSpPr txBox="1"/>
          <p:nvPr/>
        </p:nvSpPr>
        <p:spPr>
          <a:xfrm>
            <a:off x="1097280" y="5340096"/>
            <a:ext cx="1737360" cy="320040"/>
          </a:xfrm>
          <a:prstGeom prst="rect">
            <a:avLst/>
          </a:prstGeom>
          <a:noFill/>
        </p:spPr>
        <p:txBody>
          <a:bodyPr wrap="square" anchor="t" lIns="0" rIns="0" tIns="0" bIns="0">
            <a:spAutoFit/>
          </a:bodyPr>
          <a:lstStyle/>
          <a:p>
            <a:pPr algn="l">
              <a:spcBef>
                <a:spcPts val="0"/>
              </a:spcBef>
              <a:spcAft>
                <a:spcPts val="0"/>
              </a:spcAft>
            </a:pPr>
            <a:r>
              <a:rPr sz="1500" b="1">
                <a:solidFill>
                  <a:srgbClr val="1B1B24"/>
                </a:solidFill>
                <a:latin typeface="Calibri"/>
              </a:rPr>
              <a:t>Master</a:t>
            </a:r>
          </a:p>
        </p:txBody>
      </p:sp>
      <p:sp>
        <p:nvSpPr>
          <p:cNvPr id="41" name="TextBox 40"/>
          <p:cNvSpPr txBox="1"/>
          <p:nvPr/>
        </p:nvSpPr>
        <p:spPr>
          <a:xfrm>
            <a:off x="2834640" y="5358384"/>
            <a:ext cx="1737360" cy="320040"/>
          </a:xfrm>
          <a:prstGeom prst="rect">
            <a:avLst/>
          </a:prstGeom>
          <a:noFill/>
        </p:spPr>
        <p:txBody>
          <a:bodyPr wrap="square" anchor="t" lIns="0" rIns="0" tIns="0" bIns="0">
            <a:spAutoFit/>
          </a:bodyPr>
          <a:lstStyle/>
          <a:p>
            <a:pPr algn="l">
              <a:spcBef>
                <a:spcPts val="0"/>
              </a:spcBef>
              <a:spcAft>
                <a:spcPts val="0"/>
              </a:spcAft>
            </a:pPr>
            <a:r>
              <a:rPr sz="1400" b="0">
                <a:solidFill>
                  <a:srgbClr val="5E5E70"/>
                </a:solidFill>
                <a:latin typeface="Calibri"/>
              </a:rPr>
              <a:t>1491 g</a:t>
            </a:r>
          </a:p>
        </p:txBody>
      </p:sp>
      <p:sp>
        <p:nvSpPr>
          <p:cNvPr id="42" name="TextBox 41"/>
          <p:cNvSpPr txBox="1"/>
          <p:nvPr/>
        </p:nvSpPr>
        <p:spPr>
          <a:xfrm>
            <a:off x="4846320" y="5358384"/>
            <a:ext cx="1097280" cy="320040"/>
          </a:xfrm>
          <a:prstGeom prst="rect">
            <a:avLst/>
          </a:prstGeom>
          <a:noFill/>
        </p:spPr>
        <p:txBody>
          <a:bodyPr wrap="square" anchor="t" lIns="0" rIns="0" tIns="0" bIns="0">
            <a:spAutoFit/>
          </a:bodyPr>
          <a:lstStyle/>
          <a:p>
            <a:pPr algn="l">
              <a:spcBef>
                <a:spcPts val="0"/>
              </a:spcBef>
              <a:spcAft>
                <a:spcPts val="0"/>
              </a:spcAft>
            </a:pPr>
            <a:r>
              <a:rPr sz="1350" b="1">
                <a:solidFill>
                  <a:srgbClr val="B4862C"/>
                </a:solidFill>
                <a:latin typeface="Calibri"/>
              </a:rPr>
              <a:t>×0.23</a:t>
            </a:r>
          </a:p>
        </p:txBody>
      </p:sp>
      <p:sp>
        <p:nvSpPr>
          <p:cNvPr id="43" name="TextBox 42"/>
          <p:cNvSpPr txBox="1"/>
          <p:nvPr/>
        </p:nvSpPr>
        <p:spPr>
          <a:xfrm>
            <a:off x="6126480" y="5340096"/>
            <a:ext cx="2011680" cy="320040"/>
          </a:xfrm>
          <a:prstGeom prst="rect">
            <a:avLst/>
          </a:prstGeom>
          <a:noFill/>
        </p:spPr>
        <p:txBody>
          <a:bodyPr wrap="square" anchor="t" lIns="0" rIns="0" tIns="0" bIns="0">
            <a:spAutoFit/>
          </a:bodyPr>
          <a:lstStyle/>
          <a:p>
            <a:pPr algn="l">
              <a:spcBef>
                <a:spcPts val="0"/>
              </a:spcBef>
              <a:spcAft>
                <a:spcPts val="0"/>
              </a:spcAft>
            </a:pPr>
            <a:r>
              <a:rPr sz="1600" b="1">
                <a:solidFill>
                  <a:srgbClr val="B4862C"/>
                </a:solidFill>
                <a:latin typeface="Calibri"/>
              </a:rPr>
              <a:t>343 g</a:t>
            </a:r>
          </a:p>
        </p:txBody>
      </p:sp>
      <p:sp>
        <p:nvSpPr>
          <p:cNvPr id="44" name="TextBox 43"/>
          <p:cNvSpPr txBox="1"/>
          <p:nvPr/>
        </p:nvSpPr>
        <p:spPr>
          <a:xfrm>
            <a:off x="8321040" y="5367528"/>
            <a:ext cx="3291840" cy="320040"/>
          </a:xfrm>
          <a:prstGeom prst="rect">
            <a:avLst/>
          </a:prstGeom>
          <a:noFill/>
        </p:spPr>
        <p:txBody>
          <a:bodyPr wrap="square" anchor="t" lIns="0" rIns="0" tIns="0" bIns="0">
            <a:spAutoFit/>
          </a:bodyPr>
          <a:lstStyle/>
          <a:p>
            <a:pPr algn="l">
              <a:spcBef>
                <a:spcPts val="0"/>
              </a:spcBef>
              <a:spcAft>
                <a:spcPts val="0"/>
              </a:spcAft>
            </a:pPr>
            <a:r>
              <a:rPr sz="1200" b="0">
                <a:solidFill>
                  <a:srgbClr val="5E5E70"/>
                </a:solidFill>
                <a:latin typeface="Calibri"/>
              </a:rPr>
              <a:t>rescaled</a:t>
            </a:r>
          </a:p>
        </p:txBody>
      </p:sp>
      <p:sp>
        <p:nvSpPr>
          <p:cNvPr id="45" name="TextBox 44"/>
          <p:cNvSpPr txBox="1"/>
          <p:nvPr/>
        </p:nvSpPr>
        <p:spPr>
          <a:xfrm>
            <a:off x="896112" y="5925312"/>
            <a:ext cx="10881360" cy="457200"/>
          </a:xfrm>
          <a:prstGeom prst="rect">
            <a:avLst/>
          </a:prstGeom>
          <a:noFill/>
        </p:spPr>
        <p:txBody>
          <a:bodyPr wrap="square" anchor="t" lIns="0" rIns="0" tIns="0" bIns="0">
            <a:spAutoFit/>
          </a:bodyPr>
          <a:lstStyle/>
          <a:p>
            <a:pPr algn="l">
              <a:spcBef>
                <a:spcPts val="0"/>
              </a:spcBef>
              <a:spcAft>
                <a:spcPts val="0"/>
              </a:spcAft>
            </a:pPr>
            <a:r>
              <a:rPr sz="1150" b="0">
                <a:solidFill>
                  <a:srgbClr val="5E5E70"/>
                </a:solidFill>
                <a:latin typeface="Calibri"/>
              </a:rPr>
              <a:t>Prices shown are the Druid Mentalism line (Druidcraft → Chase the Horizon) as a worked example. 45 tomes were repriced in total.</a:t>
            </a:r>
          </a:p>
        </p:txBody>
      </p:sp>
      <p:sp>
        <p:nvSpPr>
          <p:cNvPr id="46" name="TextBox 45"/>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Enderal's whole tome range: 20–350 gold</a:t>
            </a:r>
          </a:p>
        </p:txBody>
      </p:sp>
      <p:sp>
        <p:nvSpPr>
          <p:cNvPr id="47" name="TextBox 46"/>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HOUSEKEEPING</a:t>
            </a:r>
          </a:p>
          <a:p>
            <a:pPr algn="l">
              <a:lnSpc>
                <a:spcPct val="95000"/>
              </a:lnSpc>
              <a:spcBef>
                <a:spcPts val="0"/>
              </a:spcBef>
              <a:spcAft>
                <a:spcPts val="0"/>
              </a:spcAft>
            </a:pPr>
            <a:r>
              <a:rPr sz="3000" b="1">
                <a:solidFill>
                  <a:srgbClr val="1B1B24"/>
                </a:solidFill>
                <a:latin typeface="Calibri"/>
              </a:rPr>
              <a:t>What the rebuild deleted</a:t>
            </a:r>
          </a:p>
        </p:txBody>
      </p:sp>
      <p:sp>
        <p:nvSpPr>
          <p:cNvPr id="5" name="TextBox 4"/>
          <p:cNvSpPr txBox="1"/>
          <p:nvPr/>
        </p:nvSpPr>
        <p:spPr>
          <a:xfrm>
            <a:off x="896112" y="1371600"/>
            <a:ext cx="10424160" cy="45720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37 records of dead machinery came out. After the pass the plugin overrides nothing of any master except the ten chests.</a:t>
            </a:r>
          </a:p>
        </p:txBody>
      </p:sp>
      <p:sp>
        <p:nvSpPr>
          <p:cNvPr id="6" name="Rectangle 5"/>
          <p:cNvSpPr/>
          <p:nvPr/>
        </p:nvSpPr>
        <p:spPr>
          <a:xfrm>
            <a:off x="896112" y="2148840"/>
            <a:ext cx="2624328" cy="1737360"/>
          </a:xfrm>
          <a:prstGeom prst="rect">
            <a:avLst/>
          </a:prstGeom>
          <a:solidFill>
            <a:srgbClr val="FFFFFF"/>
          </a:solidFill>
          <a:ln w="9525">
            <a:solidFill>
              <a:srgbClr val="D6D6DE"/>
            </a:solidFill>
          </a:ln>
          <a:effectLst/>
        </p:spPr>
        <p:txBody>
          <a:bodyPr rtlCol="0" anchor="ctr" wrap="square"/>
          <a:lstStyle/>
          <a:p>
            <a:pPr algn="ctr"/>
          </a:p>
        </p:txBody>
      </p:sp>
      <p:sp>
        <p:nvSpPr>
          <p:cNvPr id="7" name="TextBox 6"/>
          <p:cNvSpPr txBox="1"/>
          <p:nvPr/>
        </p:nvSpPr>
        <p:spPr>
          <a:xfrm>
            <a:off x="1097280" y="2331720"/>
            <a:ext cx="2221992" cy="1371600"/>
          </a:xfrm>
          <a:prstGeom prst="rect">
            <a:avLst/>
          </a:prstGeom>
          <a:noFill/>
        </p:spPr>
        <p:txBody>
          <a:bodyPr wrap="square" anchor="t" lIns="0" rIns="0" tIns="0" bIns="0">
            <a:spAutoFit/>
          </a:bodyPr>
          <a:lstStyle/>
          <a:p>
            <a:pPr algn="l">
              <a:lnSpc>
                <a:spcPct val="95000"/>
              </a:lnSpc>
              <a:spcBef>
                <a:spcPts val="0"/>
              </a:spcBef>
              <a:spcAft>
                <a:spcPts val="200"/>
              </a:spcAft>
            </a:pPr>
            <a:r>
              <a:rPr sz="3400" b="1">
                <a:solidFill>
                  <a:srgbClr val="A8332B"/>
                </a:solidFill>
                <a:latin typeface="Calibri"/>
              </a:rPr>
              <a:t>14</a:t>
            </a:r>
          </a:p>
          <a:p>
            <a:pPr algn="l">
              <a:lnSpc>
                <a:spcPct val="110000"/>
              </a:lnSpc>
              <a:spcBef>
                <a:spcPts val="0"/>
              </a:spcBef>
              <a:spcAft>
                <a:spcPts val="600"/>
              </a:spcAft>
            </a:pPr>
            <a:r>
              <a:rPr sz="1300" b="1">
                <a:solidFill>
                  <a:srgbClr val="1B1B24"/>
                </a:solidFill>
                <a:latin typeface="Calibri"/>
              </a:rPr>
              <a:t>vanilla merchant chests</a:t>
            </a:r>
          </a:p>
          <a:p>
            <a:pPr algn="l">
              <a:lnSpc>
                <a:spcPct val="115000"/>
              </a:lnSpc>
              <a:spcBef>
                <a:spcPts val="0"/>
              </a:spcBef>
              <a:spcAft>
                <a:spcPts val="0"/>
              </a:spcAft>
            </a:pPr>
            <a:r>
              <a:rPr sz="1150" b="0">
                <a:solidFill>
                  <a:srgbClr val="5E5E70"/>
                </a:solidFill>
                <a:latin typeface="Calibri"/>
              </a:rPr>
              <a:t>Overrides of Skyrim chests Enderal does not have</a:t>
            </a:r>
          </a:p>
        </p:txBody>
      </p:sp>
      <p:sp>
        <p:nvSpPr>
          <p:cNvPr id="8" name="Rectangle 7"/>
          <p:cNvSpPr/>
          <p:nvPr/>
        </p:nvSpPr>
        <p:spPr>
          <a:xfrm>
            <a:off x="3648456" y="2148840"/>
            <a:ext cx="2624328" cy="1737360"/>
          </a:xfrm>
          <a:prstGeom prst="rect">
            <a:avLst/>
          </a:prstGeom>
          <a:solidFill>
            <a:srgbClr val="FFFFFF"/>
          </a:solidFill>
          <a:ln w="9525">
            <a:solidFill>
              <a:srgbClr val="D6D6DE"/>
            </a:solidFill>
          </a:ln>
          <a:effectLst/>
        </p:spPr>
        <p:txBody>
          <a:bodyPr rtlCol="0" anchor="ctr" wrap="square"/>
          <a:lstStyle/>
          <a:p>
            <a:pPr algn="ctr"/>
          </a:p>
        </p:txBody>
      </p:sp>
      <p:sp>
        <p:nvSpPr>
          <p:cNvPr id="9" name="TextBox 8"/>
          <p:cNvSpPr txBox="1"/>
          <p:nvPr/>
        </p:nvSpPr>
        <p:spPr>
          <a:xfrm>
            <a:off x="3849624" y="2331720"/>
            <a:ext cx="2221992" cy="1371600"/>
          </a:xfrm>
          <a:prstGeom prst="rect">
            <a:avLst/>
          </a:prstGeom>
          <a:noFill/>
        </p:spPr>
        <p:txBody>
          <a:bodyPr wrap="square" anchor="t" lIns="0" rIns="0" tIns="0" bIns="0">
            <a:spAutoFit/>
          </a:bodyPr>
          <a:lstStyle/>
          <a:p>
            <a:pPr algn="l">
              <a:lnSpc>
                <a:spcPct val="95000"/>
              </a:lnSpc>
              <a:spcBef>
                <a:spcPts val="0"/>
              </a:spcBef>
              <a:spcAft>
                <a:spcPts val="200"/>
              </a:spcAft>
            </a:pPr>
            <a:r>
              <a:rPr sz="3400" b="1">
                <a:solidFill>
                  <a:srgbClr val="A8332B"/>
                </a:solidFill>
                <a:latin typeface="Calibri"/>
              </a:rPr>
              <a:t>6</a:t>
            </a:r>
          </a:p>
          <a:p>
            <a:pPr algn="l">
              <a:lnSpc>
                <a:spcPct val="110000"/>
              </a:lnSpc>
              <a:spcBef>
                <a:spcPts val="0"/>
              </a:spcBef>
              <a:spcAft>
                <a:spcPts val="600"/>
              </a:spcAft>
            </a:pPr>
            <a:r>
              <a:rPr sz="1300" b="1">
                <a:solidFill>
                  <a:srgbClr val="1B1B24"/>
                </a:solidFill>
                <a:latin typeface="Calibri"/>
              </a:rPr>
              <a:t>vanilla Services* factions</a:t>
            </a:r>
          </a:p>
          <a:p>
            <a:pPr algn="l">
              <a:lnSpc>
                <a:spcPct val="115000"/>
              </a:lnSpc>
              <a:spcBef>
                <a:spcPts val="0"/>
              </a:spcBef>
              <a:spcAft>
                <a:spcPts val="0"/>
              </a:spcAft>
            </a:pPr>
            <a:r>
              <a:rPr sz="1150" b="0">
                <a:solidFill>
                  <a:srgbClr val="5E5E70"/>
                </a:solidFill>
                <a:latin typeface="Calibri"/>
              </a:rPr>
              <a:t>The barter factions those chests hung off</a:t>
            </a:r>
          </a:p>
        </p:txBody>
      </p:sp>
      <p:sp>
        <p:nvSpPr>
          <p:cNvPr id="10" name="Rectangle 9"/>
          <p:cNvSpPr/>
          <p:nvPr/>
        </p:nvSpPr>
        <p:spPr>
          <a:xfrm>
            <a:off x="6400800" y="2148840"/>
            <a:ext cx="2624328" cy="1737360"/>
          </a:xfrm>
          <a:prstGeom prst="rect">
            <a:avLst/>
          </a:prstGeom>
          <a:solidFill>
            <a:srgbClr val="FFFFFF"/>
          </a:solidFill>
          <a:ln w="9525">
            <a:solidFill>
              <a:srgbClr val="D6D6DE"/>
            </a:solidFill>
          </a:ln>
          <a:effectLst/>
        </p:spPr>
        <p:txBody>
          <a:bodyPr rtlCol="0" anchor="ctr" wrap="square"/>
          <a:lstStyle/>
          <a:p>
            <a:pPr algn="ctr"/>
          </a:p>
        </p:txBody>
      </p:sp>
      <p:sp>
        <p:nvSpPr>
          <p:cNvPr id="11" name="TextBox 10"/>
          <p:cNvSpPr txBox="1"/>
          <p:nvPr/>
        </p:nvSpPr>
        <p:spPr>
          <a:xfrm>
            <a:off x="6601968" y="2331720"/>
            <a:ext cx="2221992" cy="1371600"/>
          </a:xfrm>
          <a:prstGeom prst="rect">
            <a:avLst/>
          </a:prstGeom>
          <a:noFill/>
        </p:spPr>
        <p:txBody>
          <a:bodyPr wrap="square" anchor="t" lIns="0" rIns="0" tIns="0" bIns="0">
            <a:spAutoFit/>
          </a:bodyPr>
          <a:lstStyle/>
          <a:p>
            <a:pPr algn="l">
              <a:lnSpc>
                <a:spcPct val="95000"/>
              </a:lnSpc>
              <a:spcBef>
                <a:spcPts val="0"/>
              </a:spcBef>
              <a:spcAft>
                <a:spcPts val="200"/>
              </a:spcAft>
            </a:pPr>
            <a:r>
              <a:rPr sz="3400" b="1">
                <a:solidFill>
                  <a:srgbClr val="A8332B"/>
                </a:solidFill>
                <a:latin typeface="Calibri"/>
              </a:rPr>
              <a:t>8</a:t>
            </a:r>
          </a:p>
          <a:p>
            <a:pPr algn="l">
              <a:lnSpc>
                <a:spcPct val="110000"/>
              </a:lnSpc>
              <a:spcBef>
                <a:spcPts val="0"/>
              </a:spcBef>
              <a:spcAft>
                <a:spcPts val="600"/>
              </a:spcAft>
            </a:pPr>
            <a:r>
              <a:rPr sz="1300" b="1">
                <a:solidFill>
                  <a:srgbClr val="1B1B24"/>
                </a:solidFill>
                <a:latin typeface="Calibri"/>
              </a:rPr>
              <a:t>TVR satellite chests</a:t>
            </a:r>
          </a:p>
          <a:p>
            <a:pPr algn="l">
              <a:lnSpc>
                <a:spcPct val="115000"/>
              </a:lnSpc>
              <a:spcBef>
                <a:spcPts val="0"/>
              </a:spcBef>
              <a:spcAft>
                <a:spcPts val="0"/>
              </a:spcAft>
            </a:pPr>
            <a:r>
              <a:rPr sz="1150" b="0">
                <a:solidFill>
                  <a:srgbClr val="5E5E70"/>
                </a:solidFill>
                <a:latin typeface="Calibri"/>
              </a:rPr>
              <a:t>Enai's own hidden inventories, plus their placed refs</a:t>
            </a:r>
          </a:p>
        </p:txBody>
      </p:sp>
      <p:sp>
        <p:nvSpPr>
          <p:cNvPr id="12" name="Rectangle 11"/>
          <p:cNvSpPr/>
          <p:nvPr/>
        </p:nvSpPr>
        <p:spPr>
          <a:xfrm>
            <a:off x="9153144" y="2148840"/>
            <a:ext cx="2624328" cy="1737360"/>
          </a:xfrm>
          <a:prstGeom prst="rect">
            <a:avLst/>
          </a:prstGeom>
          <a:solidFill>
            <a:srgbClr val="FFFFFF"/>
          </a:solidFill>
          <a:ln w="9525">
            <a:solidFill>
              <a:srgbClr val="D6D6DE"/>
            </a:solidFill>
          </a:ln>
          <a:effectLst/>
        </p:spPr>
        <p:txBody>
          <a:bodyPr rtlCol="0" anchor="ctr" wrap="square"/>
          <a:lstStyle/>
          <a:p>
            <a:pPr algn="ctr"/>
          </a:p>
        </p:txBody>
      </p:sp>
      <p:sp>
        <p:nvSpPr>
          <p:cNvPr id="13" name="TextBox 12"/>
          <p:cNvSpPr txBox="1"/>
          <p:nvPr/>
        </p:nvSpPr>
        <p:spPr>
          <a:xfrm>
            <a:off x="9354312" y="2331720"/>
            <a:ext cx="2221992" cy="1371600"/>
          </a:xfrm>
          <a:prstGeom prst="rect">
            <a:avLst/>
          </a:prstGeom>
          <a:noFill/>
        </p:spPr>
        <p:txBody>
          <a:bodyPr wrap="square" anchor="t" lIns="0" rIns="0" tIns="0" bIns="0">
            <a:spAutoFit/>
          </a:bodyPr>
          <a:lstStyle/>
          <a:p>
            <a:pPr algn="l">
              <a:lnSpc>
                <a:spcPct val="95000"/>
              </a:lnSpc>
              <a:spcBef>
                <a:spcPts val="0"/>
              </a:spcBef>
              <a:spcAft>
                <a:spcPts val="200"/>
              </a:spcAft>
            </a:pPr>
            <a:r>
              <a:rPr sz="3400" b="1">
                <a:solidFill>
                  <a:srgbClr val="A8332B"/>
                </a:solidFill>
                <a:latin typeface="Calibri"/>
              </a:rPr>
              <a:t>9</a:t>
            </a:r>
          </a:p>
          <a:p>
            <a:pPr algn="l">
              <a:lnSpc>
                <a:spcPct val="110000"/>
              </a:lnSpc>
              <a:spcBef>
                <a:spcPts val="0"/>
              </a:spcBef>
              <a:spcAft>
                <a:spcPts val="600"/>
              </a:spcAft>
            </a:pPr>
            <a:r>
              <a:rPr sz="1300" b="1">
                <a:solidFill>
                  <a:srgbClr val="1B1B24"/>
                </a:solidFill>
                <a:latin typeface="Calibri"/>
              </a:rPr>
              <a:t>TVR Services factions</a:t>
            </a:r>
          </a:p>
          <a:p>
            <a:pPr algn="l">
              <a:lnSpc>
                <a:spcPct val="115000"/>
              </a:lnSpc>
              <a:spcBef>
                <a:spcPts val="0"/>
              </a:spcBef>
              <a:spcAft>
                <a:spcPts val="0"/>
              </a:spcAft>
            </a:pPr>
            <a:r>
              <a:rPr sz="1150" b="0">
                <a:solidFill>
                  <a:srgbClr val="5E5E70"/>
                </a:solidFill>
                <a:latin typeface="Calibri"/>
              </a:rPr>
              <a:t>The factions that made 10 Skyrim NPCs barterable</a:t>
            </a:r>
          </a:p>
        </p:txBody>
      </p:sp>
      <p:sp>
        <p:nvSpPr>
          <p:cNvPr id="14" name="Rectangle 13"/>
          <p:cNvSpPr/>
          <p:nvPr/>
        </p:nvSpPr>
        <p:spPr>
          <a:xfrm>
            <a:off x="896112" y="4160520"/>
            <a:ext cx="10881360" cy="1417320"/>
          </a:xfrm>
          <a:prstGeom prst="rect">
            <a:avLst/>
          </a:prstGeom>
          <a:solidFill>
            <a:srgbClr val="F0F0F5"/>
          </a:solidFill>
          <a:ln>
            <a:noFill/>
          </a:ln>
          <a:effectLst/>
        </p:spPr>
        <p:txBody>
          <a:bodyPr rtlCol="0" anchor="t" wrap="square" lIns="274320" tIns="201168"/>
          <a:lstStyle/>
          <a:p>
            <a:pPr algn="l"/>
            <a:r>
              <a:rPr sz="1500" b="1">
                <a:solidFill>
                  <a:srgbClr val="2C2A4A"/>
                </a:solidFill>
                <a:latin typeface="Calibri"/>
              </a:rPr>
              <a:t>What survived, and why the quest was not simply switched off</a:t>
            </a:r>
          </a:p>
          <a:p>
            <a:pPr algn="l">
              <a:lnSpc>
                <a:spcPct val="125000"/>
              </a:lnSpc>
              <a:spcBef>
                <a:spcPts val="700"/>
              </a:spcBef>
              <a:spcAft>
                <a:spcPts val="0"/>
              </a:spcAft>
            </a:pPr>
            <a:r>
              <a:rPr sz="1300" b="0">
                <a:solidFill>
                  <a:srgbClr val="1B1B24"/>
                </a:solidFill>
                <a:latin typeface="Calibri"/>
              </a:rPr>
              <a:t>A quest flag does not gate a quest script — clearing StartGameEnabled leaves OnInit firing anyway. So the populate quest keeps a stripped VMAD with three properties, and a loose replacement TVR_PopulateSpellBooks_Script.pex keeps only its two live pieces: starting the Obedience/conversion quest, and showing the mod-ready message. A loose file beats the BSA's copy, so the 76 dead calls are gone outright.</a:t>
            </a:r>
          </a:p>
        </p:txBody>
      </p:sp>
      <p:sp>
        <p:nvSpPr>
          <p:cNvPr id="15" name="Rectangle 14"/>
          <p:cNvSpPr/>
          <p:nvPr/>
        </p:nvSpPr>
        <p:spPr>
          <a:xfrm>
            <a:off x="896112" y="5724144"/>
            <a:ext cx="10881360" cy="512064"/>
          </a:xfrm>
          <a:prstGeom prst="rect">
            <a:avLst/>
          </a:prstGeom>
          <a:solidFill>
            <a:srgbClr val="FFFFFF"/>
          </a:solidFill>
          <a:ln w="9525">
            <a:solidFill>
              <a:srgbClr val="D6D6DE"/>
            </a:solidFill>
          </a:ln>
          <a:effectLst/>
        </p:spPr>
        <p:txBody>
          <a:bodyPr rtlCol="0" anchor="ctr" wrap="square" lIns="73152" rIns="73152"/>
          <a:lstStyle/>
          <a:p>
            <a:pPr algn="ctr"/>
            <a:r>
              <a:rPr sz="1100" b="0">
                <a:solidFill>
                  <a:srgbClr val="5E5E70"/>
                </a:solidFill>
                <a:latin typeface="Consolas"/>
              </a:rPr>
              <a:t>HEDR 1.70  ·  masters: Skyrim.esm + Update.esm + Forgotten Stories.esm  ·  745,728 bytes  ·  byte-identical across two builds</a:t>
            </a:r>
          </a:p>
        </p:txBody>
      </p:sp>
      <p:sp>
        <p:nvSpPr>
          <p:cNvPr id="16" name="TextBox 15"/>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Spriggit pinned at 0.40.0 — 0.41.0 silently corrupts leveled-list entries, which is exactly this work</a:t>
            </a:r>
          </a:p>
        </p:txBody>
      </p:sp>
      <p:sp>
        <p:nvSpPr>
          <p:cNvPr id="17" name="TextBox 16"/>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E6F4F"/>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E6F4F"/>
                </a:solidFill>
                <a:latin typeface="Calibri"/>
              </a:rPr>
              <a:t>THE BUG</a:t>
            </a:r>
          </a:p>
          <a:p>
            <a:pPr algn="l">
              <a:lnSpc>
                <a:spcPct val="95000"/>
              </a:lnSpc>
              <a:spcBef>
                <a:spcPts val="0"/>
              </a:spcBef>
              <a:spcAft>
                <a:spcPts val="0"/>
              </a:spcAft>
            </a:pPr>
            <a:r>
              <a:rPr sz="3000" b="1">
                <a:solidFill>
                  <a:srgbClr val="1B1B24"/>
                </a:solidFill>
                <a:latin typeface="Calibri"/>
              </a:rPr>
              <a:t>45 of the 75 tomes could never be sold</a:t>
            </a:r>
          </a:p>
        </p:txBody>
      </p:sp>
      <p:sp>
        <p:nvSpPr>
          <p:cNvPr id="5" name="TextBox 4"/>
          <p:cNvSpPr txBox="1"/>
          <p:nvPr/>
        </p:nvSpPr>
        <p:spPr>
          <a:xfrm>
            <a:off x="896112" y="1371600"/>
            <a:ext cx="10424160" cy="50292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Re-homing the tomes onto live merchants was necessary and not sufficient. Enai's Adept, Expert and Master tier bundles still carried vanilla Skyrim's spell-tome gate — and in Enderal that gate never opens.</a:t>
            </a:r>
          </a:p>
        </p:txBody>
      </p:sp>
      <p:sp>
        <p:nvSpPr>
          <p:cNvPr id="6" name="Rectangle 5"/>
          <p:cNvSpPr/>
          <p:nvPr/>
        </p:nvSpPr>
        <p:spPr>
          <a:xfrm>
            <a:off x="896112" y="2121408"/>
            <a:ext cx="5212080" cy="1481328"/>
          </a:xfrm>
          <a:prstGeom prst="rect">
            <a:avLst/>
          </a:prstGeom>
          <a:solidFill>
            <a:srgbClr val="242430"/>
          </a:solidFill>
          <a:ln>
            <a:noFill/>
          </a:ln>
          <a:effectLst/>
        </p:spPr>
        <p:txBody>
          <a:bodyPr rtlCol="0" anchor="t" wrap="square" lIns="228600" tIns="164592"/>
          <a:lstStyle/>
          <a:p>
            <a:pPr algn="l"/>
            <a:r>
              <a:rPr sz="1150">
                <a:solidFill>
                  <a:srgbClr val="88889C"/>
                </a:solidFill>
                <a:latin typeface="Consolas"/>
              </a:rPr>
              <a:t># TVR_Tomes_Litem_Druid_050_Alteration</a:t>
            </a:r>
          </a:p>
          <a:p>
            <a:pPr algn="l">
              <a:spcBef>
                <a:spcPts val="600"/>
              </a:spcBef>
              <a:spcAft>
                <a:spcPts val="200"/>
              </a:spcAft>
            </a:pPr>
            <a:r>
              <a:rPr sz="1350" b="0">
                <a:solidFill>
                  <a:srgbClr val="E8E8F0"/>
                </a:solidFill>
                <a:latin typeface="Consolas"/>
              </a:rPr>
              <a:t>ChanceNone: 1</a:t>
            </a:r>
          </a:p>
          <a:p>
            <a:pPr algn="l">
              <a:spcBef>
                <a:spcPts val="0"/>
              </a:spcBef>
              <a:spcAft>
                <a:spcPts val="200"/>
              </a:spcAft>
            </a:pPr>
            <a:r>
              <a:rPr sz="1350" b="0">
                <a:solidFill>
                  <a:srgbClr val="E8A098"/>
                </a:solidFill>
                <a:latin typeface="Consolas"/>
              </a:rPr>
              <a:t>Global: 0F2584:Skyrim.esm   ← deleted</a:t>
            </a:r>
          </a:p>
          <a:p>
            <a:pPr algn="l">
              <a:spcBef>
                <a:spcPts val="0"/>
              </a:spcBef>
              <a:spcAft>
                <a:spcPts val="0"/>
              </a:spcAft>
            </a:pPr>
            <a:r>
              <a:rPr sz="1150" b="0">
                <a:solidFill>
                  <a:srgbClr val="88889C"/>
                </a:solidFill>
                <a:latin typeface="Consolas"/>
              </a:rPr>
              <a:t>        # PCAlterationAdept, reads 100</a:t>
            </a:r>
          </a:p>
        </p:txBody>
      </p:sp>
      <p:sp>
        <p:nvSpPr>
          <p:cNvPr id="7" name="TextBox 6"/>
          <p:cNvSpPr txBox="1"/>
          <p:nvPr/>
        </p:nvSpPr>
        <p:spPr>
          <a:xfrm>
            <a:off x="6446520" y="2121408"/>
            <a:ext cx="5349240" cy="960120"/>
          </a:xfrm>
          <a:prstGeom prst="rect">
            <a:avLst/>
          </a:prstGeom>
          <a:noFill/>
        </p:spPr>
        <p:txBody>
          <a:bodyPr wrap="square" anchor="t" lIns="0" rIns="0" tIns="0" bIns="0">
            <a:spAutoFit/>
          </a:bodyPr>
          <a:lstStyle/>
          <a:p>
            <a:pPr algn="l">
              <a:spcBef>
                <a:spcPts val="0"/>
              </a:spcBef>
              <a:spcAft>
                <a:spcPts val="300"/>
              </a:spcAft>
            </a:pPr>
            <a:r>
              <a:rPr sz="1400" b="1">
                <a:solidFill>
                  <a:srgbClr val="1B1B24"/>
                </a:solidFill>
                <a:latin typeface="Calibri"/>
              </a:rPr>
              <a:t>1.  Global overrides ChanceNone</a:t>
            </a:r>
          </a:p>
          <a:p>
            <a:pPr algn="l">
              <a:lnSpc>
                <a:spcPct val="120000"/>
              </a:lnSpc>
              <a:spcBef>
                <a:spcPts val="0"/>
              </a:spcBef>
              <a:spcAft>
                <a:spcPts val="0"/>
              </a:spcAft>
            </a:pPr>
            <a:r>
              <a:rPr sz="1200" b="0">
                <a:solidFill>
                  <a:srgbClr val="5E5E70"/>
                </a:solidFill>
                <a:latin typeface="Calibri"/>
              </a:rPr>
              <a:t>When a leveled list names a Global, that global's value IS the chance-none percentage. 100 means it yields nothing, ever.</a:t>
            </a:r>
          </a:p>
        </p:txBody>
      </p:sp>
      <p:sp>
        <p:nvSpPr>
          <p:cNvPr id="8" name="TextBox 7"/>
          <p:cNvSpPr txBox="1"/>
          <p:nvPr/>
        </p:nvSpPr>
        <p:spPr>
          <a:xfrm>
            <a:off x="6446520" y="3172968"/>
            <a:ext cx="5349240" cy="960120"/>
          </a:xfrm>
          <a:prstGeom prst="rect">
            <a:avLst/>
          </a:prstGeom>
          <a:noFill/>
        </p:spPr>
        <p:txBody>
          <a:bodyPr wrap="square" anchor="t" lIns="0" rIns="0" tIns="0" bIns="0">
            <a:spAutoFit/>
          </a:bodyPr>
          <a:lstStyle/>
          <a:p>
            <a:pPr algn="l">
              <a:spcBef>
                <a:spcPts val="0"/>
              </a:spcBef>
              <a:spcAft>
                <a:spcPts val="300"/>
              </a:spcAft>
            </a:pPr>
            <a:r>
              <a:rPr sz="1400" b="1">
                <a:solidFill>
                  <a:srgbClr val="1B1B24"/>
                </a:solidFill>
                <a:latin typeface="Calibri"/>
              </a:rPr>
              <a:t>2.  Nothing in Enderal lowers it</a:t>
            </a:r>
          </a:p>
          <a:p>
            <a:pPr algn="l">
              <a:lnSpc>
                <a:spcPct val="120000"/>
              </a:lnSpc>
              <a:spcBef>
                <a:spcPts val="0"/>
              </a:spcBef>
              <a:spcAft>
                <a:spcPts val="0"/>
              </a:spcAft>
            </a:pPr>
            <a:r>
              <a:rPr sz="1200" b="0">
                <a:solidFill>
                  <a:srgbClr val="5E5E70"/>
                </a:solidFill>
                <a:latin typeface="Calibri"/>
              </a:rPr>
              <a:t>Vanilla zeroes it from WISkillIncrease02 — a quest in the real Skyrim.esm and in neither Enderal's nor FS. No Enderal script mentions the globals.</a:t>
            </a:r>
          </a:p>
        </p:txBody>
      </p:sp>
      <p:sp>
        <p:nvSpPr>
          <p:cNvPr id="9" name="TextBox 8"/>
          <p:cNvSpPr txBox="1"/>
          <p:nvPr/>
        </p:nvSpPr>
        <p:spPr>
          <a:xfrm>
            <a:off x="6446520" y="4224528"/>
            <a:ext cx="5349240" cy="960120"/>
          </a:xfrm>
          <a:prstGeom prst="rect">
            <a:avLst/>
          </a:prstGeom>
          <a:noFill/>
        </p:spPr>
        <p:txBody>
          <a:bodyPr wrap="square" anchor="t" lIns="0" rIns="0" tIns="0" bIns="0">
            <a:spAutoFit/>
          </a:bodyPr>
          <a:lstStyle/>
          <a:p>
            <a:pPr algn="l">
              <a:spcBef>
                <a:spcPts val="0"/>
              </a:spcBef>
              <a:spcAft>
                <a:spcPts val="300"/>
              </a:spcAft>
            </a:pPr>
            <a:r>
              <a:rPr sz="1400" b="1">
                <a:solidFill>
                  <a:srgbClr val="1B1B24"/>
                </a:solidFill>
                <a:latin typeface="Calibri"/>
              </a:rPr>
              <a:t>3.  So it is inert, not missing</a:t>
            </a:r>
          </a:p>
          <a:p>
            <a:pPr algn="l">
              <a:lnSpc>
                <a:spcPct val="120000"/>
              </a:lnSpc>
              <a:spcBef>
                <a:spcPts val="0"/>
              </a:spcBef>
              <a:spcAft>
                <a:spcPts val="0"/>
              </a:spcAft>
            </a:pPr>
            <a:r>
              <a:rPr sz="1200" b="0">
                <a:solidFill>
                  <a:srgbClr val="5E5E70"/>
                </a:solidFill>
                <a:latin typeface="Calibri"/>
              </a:rPr>
              <a:t>Across Enderal's whole tree the only file referencing 0F2584 is the global's own record. It resolves fine; it just never changes.</a:t>
            </a:r>
          </a:p>
        </p:txBody>
      </p:sp>
      <p:sp>
        <p:nvSpPr>
          <p:cNvPr id="10" name="Rectangle 9"/>
          <p:cNvSpPr/>
          <p:nvPr/>
        </p:nvSpPr>
        <p:spPr>
          <a:xfrm>
            <a:off x="896112" y="3822191"/>
            <a:ext cx="5212080" cy="1463040"/>
          </a:xfrm>
          <a:prstGeom prst="rect">
            <a:avLst/>
          </a:prstGeom>
          <a:solidFill>
            <a:srgbClr val="E7F2EB"/>
          </a:solidFill>
          <a:ln>
            <a:noFill/>
          </a:ln>
          <a:effectLst/>
        </p:spPr>
        <p:txBody>
          <a:bodyPr rtlCol="0" anchor="t" wrap="square" lIns="228600" tIns="182880"/>
          <a:lstStyle/>
          <a:p>
            <a:pPr algn="l"/>
            <a:r>
              <a:rPr sz="1400" b="1">
                <a:solidFill>
                  <a:srgbClr val="2E6F4F"/>
                </a:solidFill>
                <a:latin typeface="Calibri"/>
              </a:rPr>
              <a:t>Fixed</a:t>
            </a:r>
          </a:p>
          <a:p>
            <a:pPr algn="l">
              <a:lnSpc>
                <a:spcPct val="120000"/>
              </a:lnSpc>
              <a:spcBef>
                <a:spcPts val="600"/>
              </a:spcBef>
              <a:spcAft>
                <a:spcPts val="800"/>
              </a:spcAft>
            </a:pPr>
            <a:r>
              <a:rPr sz="1400" b="1">
                <a:solidFill>
                  <a:srgbClr val="1B1B24"/>
                </a:solidFill>
                <a:latin typeface="Calibri"/>
              </a:rPr>
              <a:t>One line deleted from 45 records.</a:t>
            </a:r>
          </a:p>
          <a:p>
            <a:pPr algn="l">
              <a:spcBef>
                <a:spcPts val="0"/>
              </a:spcBef>
              <a:spcAft>
                <a:spcPts val="0"/>
              </a:spcAft>
            </a:pPr>
            <a:r>
              <a:rPr sz="1500" b="1">
                <a:solidFill>
                  <a:srgbClr val="2E6F4F"/>
                </a:solidFill>
                <a:latin typeface="Calibri"/>
              </a:rPr>
              <a:t>30 of 75 obtainable  →  75 of 75</a:t>
            </a:r>
          </a:p>
        </p:txBody>
      </p:sp>
      <p:sp>
        <p:nvSpPr>
          <p:cNvPr id="11" name="Rectangle 10"/>
          <p:cNvSpPr/>
          <p:nvPr/>
        </p:nvSpPr>
        <p:spPr>
          <a:xfrm>
            <a:off x="896112" y="5486400"/>
            <a:ext cx="10881360" cy="713232"/>
          </a:xfrm>
          <a:prstGeom prst="rect">
            <a:avLst/>
          </a:prstGeom>
          <a:solidFill>
            <a:srgbClr val="F0F0F5"/>
          </a:solidFill>
          <a:ln>
            <a:noFill/>
          </a:ln>
          <a:effectLst/>
        </p:spPr>
        <p:txBody>
          <a:bodyPr rtlCol="0" anchor="ctr" wrap="square" lIns="73152" rIns="73152"/>
          <a:lstStyle/>
          <a:p>
            <a:pPr algn="l"/>
            <a:r>
              <a:rPr sz="1250" b="0">
                <a:solidFill>
                  <a:srgbClr val="1B1B24"/>
                </a:solidFill>
                <a:latin typeface="Calibri"/>
              </a:rPr>
              <a:t>Why the build missed it: the old proof walked the chain STRUCTURALLY — it read Reference: and never ChanceNone or Global, so it reported “75/75 tomes at ≥3 vendors” on a mod that could sell 30.</a:t>
            </a:r>
          </a:p>
        </p:txBody>
      </p:sp>
      <p:sp>
        <p:nvSpPr>
          <p:cNvPr id="12" name="TextBox 11"/>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tools/17-tier-gating.ps1  ·  a structural reachability proof is not a reachability proof</a:t>
            </a:r>
          </a:p>
        </p:txBody>
      </p:sp>
      <p:sp>
        <p:nvSpPr>
          <p:cNvPr id="13" name="TextBox 12"/>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TIER GATING</a:t>
            </a:r>
          </a:p>
          <a:p>
            <a:pPr algn="l">
              <a:lnSpc>
                <a:spcPct val="95000"/>
              </a:lnSpc>
              <a:spcBef>
                <a:spcPts val="0"/>
              </a:spcBef>
              <a:spcAft>
                <a:spcPts val="0"/>
              </a:spcAft>
            </a:pPr>
            <a:r>
              <a:rPr sz="3000" b="1">
                <a:solidFill>
                  <a:srgbClr val="1B1B24"/>
                </a:solidFill>
                <a:latin typeface="Calibri"/>
              </a:rPr>
              <a:t>Expert and Master: Ark and the Undercity only</a:t>
            </a:r>
          </a:p>
        </p:txBody>
      </p:sp>
      <p:sp>
        <p:nvSpPr>
          <p:cNvPr id="5" name="TextBox 4"/>
          <p:cNvSpPr txBox="1"/>
          <p:nvPr/>
        </p:nvSpPr>
        <p:spPr>
          <a:xfrm>
            <a:off x="896112" y="1371600"/>
            <a:ext cx="10424160" cy="502920"/>
          </a:xfrm>
          <a:prstGeom prst="rect">
            <a:avLst/>
          </a:prstGeom>
          <a:noFill/>
        </p:spPr>
        <p:txBody>
          <a:bodyPr wrap="square" anchor="t" lIns="0" rIns="0" tIns="0" bIns="0">
            <a:spAutoFit/>
          </a:bodyPr>
          <a:lstStyle/>
          <a:p>
            <a:pPr algn="l">
              <a:lnSpc>
                <a:spcPct val="115000"/>
              </a:lnSpc>
              <a:spcBef>
                <a:spcPts val="0"/>
              </a:spcBef>
              <a:spcAft>
                <a:spcPts val="0"/>
              </a:spcAft>
            </a:pPr>
            <a:r>
              <a:rPr sz="1500" b="0">
                <a:solidFill>
                  <a:srgbClr val="5E5E70"/>
                </a:solidFill>
                <a:latin typeface="Calibri"/>
              </a:rPr>
              <a:t>With the gate gone, every vendor would sell every tier. So the top two tiers are cut out of the 15 per-school parent bundles and placed at five capital and underworld merchants instead — into their CustomMerchandise hooks, like everything else.</a:t>
            </a:r>
          </a:p>
        </p:txBody>
      </p:sp>
      <p:sp>
        <p:nvSpPr>
          <p:cNvPr id="6" name="TextBox 5"/>
          <p:cNvSpPr txBox="1"/>
          <p:nvPr/>
        </p:nvSpPr>
        <p:spPr>
          <a:xfrm>
            <a:off x="1051560" y="2048256"/>
            <a:ext cx="365760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MERCHANT</a:t>
            </a:r>
          </a:p>
        </p:txBody>
      </p:sp>
      <p:sp>
        <p:nvSpPr>
          <p:cNvPr id="7" name="TextBox 6"/>
          <p:cNvSpPr txBox="1"/>
          <p:nvPr/>
        </p:nvSpPr>
        <p:spPr>
          <a:xfrm>
            <a:off x="2926080" y="2048256"/>
            <a:ext cx="365760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CELL (RESOLVED FROM ITS PLACED REF)</a:t>
            </a:r>
          </a:p>
        </p:txBody>
      </p:sp>
      <p:sp>
        <p:nvSpPr>
          <p:cNvPr id="8" name="TextBox 7"/>
          <p:cNvSpPr txBox="1"/>
          <p:nvPr/>
        </p:nvSpPr>
        <p:spPr>
          <a:xfrm>
            <a:off x="6720840" y="2048256"/>
            <a:ext cx="3657600" cy="274320"/>
          </a:xfrm>
          <a:prstGeom prst="rect">
            <a:avLst/>
          </a:prstGeom>
          <a:noFill/>
        </p:spPr>
        <p:txBody>
          <a:bodyPr wrap="square" anchor="t" lIns="0" rIns="0" tIns="0" bIns="0">
            <a:spAutoFit/>
          </a:bodyPr>
          <a:lstStyle/>
          <a:p>
            <a:pPr algn="l">
              <a:spcBef>
                <a:spcPts val="0"/>
              </a:spcBef>
              <a:spcAft>
                <a:spcPts val="0"/>
              </a:spcAft>
            </a:pPr>
            <a:r>
              <a:rPr sz="1050" b="1">
                <a:solidFill>
                  <a:srgbClr val="5E5E70"/>
                </a:solidFill>
                <a:latin typeface="Calibri"/>
              </a:rPr>
              <a:t>CARRIES EXPERT + MASTER FOR</a:t>
            </a:r>
          </a:p>
        </p:txBody>
      </p:sp>
      <p:sp>
        <p:nvSpPr>
          <p:cNvPr id="9" name="Rectangle 8"/>
          <p:cNvSpPr/>
          <p:nvPr/>
        </p:nvSpPr>
        <p:spPr>
          <a:xfrm>
            <a:off x="896112" y="2304288"/>
            <a:ext cx="10881360" cy="530352"/>
          </a:xfrm>
          <a:prstGeom prst="rect">
            <a:avLst/>
          </a:prstGeom>
          <a:solidFill>
            <a:srgbClr val="FFFFFF"/>
          </a:solidFill>
          <a:ln w="9525">
            <a:solidFill>
              <a:srgbClr val="D6D6DE"/>
            </a:solidFill>
          </a:ln>
          <a:effectLst/>
        </p:spPr>
        <p:txBody>
          <a:bodyPr rtlCol="0" anchor="ctr" wrap="square"/>
          <a:lstStyle/>
          <a:p>
            <a:pPr algn="ctr"/>
          </a:p>
        </p:txBody>
      </p:sp>
      <p:sp>
        <p:nvSpPr>
          <p:cNvPr id="10" name="TextBox 9"/>
          <p:cNvSpPr txBox="1"/>
          <p:nvPr/>
        </p:nvSpPr>
        <p:spPr>
          <a:xfrm>
            <a:off x="1051560" y="2423160"/>
            <a:ext cx="1920240" cy="320040"/>
          </a:xfrm>
          <a:prstGeom prst="rect">
            <a:avLst/>
          </a:prstGeom>
          <a:noFill/>
        </p:spPr>
        <p:txBody>
          <a:bodyPr wrap="square" anchor="t" lIns="0" rIns="0" tIns="0" bIns="0">
            <a:spAutoFit/>
          </a:bodyPr>
          <a:lstStyle/>
          <a:p>
            <a:pPr algn="l">
              <a:spcBef>
                <a:spcPts val="0"/>
              </a:spcBef>
              <a:spcAft>
                <a:spcPts val="0"/>
              </a:spcAft>
            </a:pPr>
            <a:r>
              <a:rPr sz="1350" b="1">
                <a:solidFill>
                  <a:srgbClr val="1B1B24"/>
                </a:solidFill>
                <a:latin typeface="Calibri"/>
              </a:rPr>
              <a:t>Marius</a:t>
            </a:r>
          </a:p>
        </p:txBody>
      </p:sp>
      <p:sp>
        <p:nvSpPr>
          <p:cNvPr id="11" name="TextBox 10"/>
          <p:cNvSpPr txBox="1"/>
          <p:nvPr/>
        </p:nvSpPr>
        <p:spPr>
          <a:xfrm>
            <a:off x="2926080" y="2340864"/>
            <a:ext cx="3749039" cy="457200"/>
          </a:xfrm>
          <a:prstGeom prst="rect">
            <a:avLst/>
          </a:prstGeom>
          <a:noFill/>
        </p:spPr>
        <p:txBody>
          <a:bodyPr wrap="square" anchor="t" lIns="0" rIns="0" tIns="0" bIns="0">
            <a:spAutoFit/>
          </a:bodyPr>
          <a:lstStyle/>
          <a:p>
            <a:pPr algn="l">
              <a:spcBef>
                <a:spcPts val="0"/>
              </a:spcBef>
              <a:spcAft>
                <a:spcPts val="100"/>
              </a:spcAft>
            </a:pPr>
            <a:r>
              <a:rPr sz="1050" b="0">
                <a:solidFill>
                  <a:srgbClr val="1B1B24"/>
                </a:solidFill>
                <a:latin typeface="Consolas"/>
              </a:rPr>
              <a:t>CapitalCityBibliothek</a:t>
            </a:r>
          </a:p>
          <a:p>
            <a:pPr algn="l">
              <a:spcBef>
                <a:spcPts val="0"/>
              </a:spcBef>
              <a:spcAft>
                <a:spcPts val="0"/>
              </a:spcAft>
            </a:pPr>
            <a:r>
              <a:rPr sz="1050" b="0">
                <a:solidFill>
                  <a:srgbClr val="5E5E70"/>
                </a:solidFill>
                <a:latin typeface="Calibri"/>
              </a:rPr>
              <a:t>Ark — the library</a:t>
            </a:r>
          </a:p>
        </p:txBody>
      </p:sp>
      <p:sp>
        <p:nvSpPr>
          <p:cNvPr id="12" name="Rectangle 11"/>
          <p:cNvSpPr/>
          <p:nvPr/>
        </p:nvSpPr>
        <p:spPr>
          <a:xfrm>
            <a:off x="6720840" y="2423160"/>
            <a:ext cx="1188720" cy="292608"/>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Cleric</a:t>
            </a:r>
          </a:p>
        </p:txBody>
      </p:sp>
      <p:sp>
        <p:nvSpPr>
          <p:cNvPr id="13" name="Rectangle 12"/>
          <p:cNvSpPr/>
          <p:nvPr/>
        </p:nvSpPr>
        <p:spPr>
          <a:xfrm>
            <a:off x="7982712" y="2423160"/>
            <a:ext cx="1188720"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14" name="Rectangle 13"/>
          <p:cNvSpPr/>
          <p:nvPr/>
        </p:nvSpPr>
        <p:spPr>
          <a:xfrm>
            <a:off x="9244584" y="2423160"/>
            <a:ext cx="1188720" cy="292608"/>
          </a:xfrm>
          <a:prstGeom prst="rect">
            <a:avLst/>
          </a:prstGeom>
          <a:solidFill>
            <a:srgbClr val="3F773F"/>
          </a:solidFill>
          <a:ln>
            <a:noFill/>
          </a:ln>
          <a:effectLst/>
        </p:spPr>
        <p:txBody>
          <a:bodyPr rtlCol="0" anchor="ctr" wrap="square" lIns="73152" rIns="73152"/>
          <a:lstStyle/>
          <a:p>
            <a:pPr algn="ctr"/>
            <a:r>
              <a:rPr sz="1050" b="1">
                <a:solidFill>
                  <a:srgbClr val="FFFFFF"/>
                </a:solidFill>
                <a:latin typeface="Calibri"/>
              </a:rPr>
              <a:t>Druid</a:t>
            </a:r>
          </a:p>
        </p:txBody>
      </p:sp>
      <p:sp>
        <p:nvSpPr>
          <p:cNvPr id="15" name="Rectangle 14"/>
          <p:cNvSpPr/>
          <p:nvPr/>
        </p:nvSpPr>
        <p:spPr>
          <a:xfrm>
            <a:off x="10506456" y="2423160"/>
            <a:ext cx="1188720" cy="292608"/>
          </a:xfrm>
          <a:prstGeom prst="rect">
            <a:avLst/>
          </a:prstGeom>
          <a:solidFill>
            <a:srgbClr val="2A6E77"/>
          </a:solidFill>
          <a:ln>
            <a:noFill/>
          </a:ln>
          <a:effectLst/>
        </p:spPr>
        <p:txBody>
          <a:bodyPr rtlCol="0" anchor="ctr" wrap="square" lIns="73152" rIns="73152"/>
          <a:lstStyle/>
          <a:p>
            <a:pPr algn="ctr"/>
            <a:r>
              <a:rPr sz="1050" b="1">
                <a:solidFill>
                  <a:srgbClr val="FFFFFF"/>
                </a:solidFill>
                <a:latin typeface="Calibri"/>
              </a:rPr>
              <a:t>Shaman</a:t>
            </a:r>
          </a:p>
        </p:txBody>
      </p:sp>
      <p:sp>
        <p:nvSpPr>
          <p:cNvPr id="16" name="Rectangle 15"/>
          <p:cNvSpPr/>
          <p:nvPr/>
        </p:nvSpPr>
        <p:spPr>
          <a:xfrm>
            <a:off x="896112" y="2889504"/>
            <a:ext cx="10881360" cy="530352"/>
          </a:xfrm>
          <a:prstGeom prst="rect">
            <a:avLst/>
          </a:prstGeom>
          <a:solidFill>
            <a:srgbClr val="FFFFFF"/>
          </a:solidFill>
          <a:ln w="9525">
            <a:solidFill>
              <a:srgbClr val="D6D6DE"/>
            </a:solidFill>
          </a:ln>
          <a:effectLst/>
        </p:spPr>
        <p:txBody>
          <a:bodyPr rtlCol="0" anchor="ctr" wrap="square"/>
          <a:lstStyle/>
          <a:p>
            <a:pPr algn="ctr"/>
          </a:p>
        </p:txBody>
      </p:sp>
      <p:sp>
        <p:nvSpPr>
          <p:cNvPr id="17" name="TextBox 16"/>
          <p:cNvSpPr txBox="1"/>
          <p:nvPr/>
        </p:nvSpPr>
        <p:spPr>
          <a:xfrm>
            <a:off x="1051560" y="3008376"/>
            <a:ext cx="1920240" cy="320040"/>
          </a:xfrm>
          <a:prstGeom prst="rect">
            <a:avLst/>
          </a:prstGeom>
          <a:noFill/>
        </p:spPr>
        <p:txBody>
          <a:bodyPr wrap="square" anchor="t" lIns="0" rIns="0" tIns="0" bIns="0">
            <a:spAutoFit/>
          </a:bodyPr>
          <a:lstStyle/>
          <a:p>
            <a:pPr algn="l">
              <a:spcBef>
                <a:spcPts val="0"/>
              </a:spcBef>
              <a:spcAft>
                <a:spcPts val="0"/>
              </a:spcAft>
            </a:pPr>
            <a:r>
              <a:rPr sz="1350" b="1">
                <a:solidFill>
                  <a:srgbClr val="1B1B24"/>
                </a:solidFill>
                <a:latin typeface="Calibri"/>
              </a:rPr>
              <a:t>Guard Blacksmith</a:t>
            </a:r>
          </a:p>
        </p:txBody>
      </p:sp>
      <p:sp>
        <p:nvSpPr>
          <p:cNvPr id="18" name="TextBox 17"/>
          <p:cNvSpPr txBox="1"/>
          <p:nvPr/>
        </p:nvSpPr>
        <p:spPr>
          <a:xfrm>
            <a:off x="2926080" y="2926080"/>
            <a:ext cx="3749039" cy="457200"/>
          </a:xfrm>
          <a:prstGeom prst="rect">
            <a:avLst/>
          </a:prstGeom>
          <a:noFill/>
        </p:spPr>
        <p:txBody>
          <a:bodyPr wrap="square" anchor="t" lIns="0" rIns="0" tIns="0" bIns="0">
            <a:spAutoFit/>
          </a:bodyPr>
          <a:lstStyle/>
          <a:p>
            <a:pPr algn="l">
              <a:spcBef>
                <a:spcPts val="0"/>
              </a:spcBef>
              <a:spcAft>
                <a:spcPts val="100"/>
              </a:spcAft>
            </a:pPr>
            <a:r>
              <a:rPr sz="1050" b="0">
                <a:solidFill>
                  <a:srgbClr val="1B1B24"/>
                </a:solidFill>
                <a:latin typeface="Consolas"/>
              </a:rPr>
              <a:t>CapitalCityCastleWorld</a:t>
            </a:r>
          </a:p>
          <a:p>
            <a:pPr algn="l">
              <a:spcBef>
                <a:spcPts val="0"/>
              </a:spcBef>
              <a:spcAft>
                <a:spcPts val="0"/>
              </a:spcAft>
            </a:pPr>
            <a:r>
              <a:rPr sz="1050" b="0">
                <a:solidFill>
                  <a:srgbClr val="5E5E70"/>
                </a:solidFill>
                <a:latin typeface="Calibri"/>
              </a:rPr>
              <a:t>Ark — the castle</a:t>
            </a:r>
          </a:p>
        </p:txBody>
      </p:sp>
      <p:sp>
        <p:nvSpPr>
          <p:cNvPr id="19" name="Rectangle 18"/>
          <p:cNvSpPr/>
          <p:nvPr/>
        </p:nvSpPr>
        <p:spPr>
          <a:xfrm>
            <a:off x="6720840" y="3008376"/>
            <a:ext cx="1188720" cy="292608"/>
          </a:xfrm>
          <a:prstGeom prst="rect">
            <a:avLst/>
          </a:prstGeom>
          <a:solidFill>
            <a:srgbClr val="B4862C"/>
          </a:solidFill>
          <a:ln>
            <a:noFill/>
          </a:ln>
          <a:effectLst/>
        </p:spPr>
        <p:txBody>
          <a:bodyPr rtlCol="0" anchor="ctr" wrap="square" lIns="73152" rIns="73152"/>
          <a:lstStyle/>
          <a:p>
            <a:pPr algn="ctr"/>
            <a:r>
              <a:rPr sz="1050" b="1">
                <a:solidFill>
                  <a:srgbClr val="FFFFFF"/>
                </a:solidFill>
                <a:latin typeface="Calibri"/>
              </a:rPr>
              <a:t>Cleric</a:t>
            </a:r>
          </a:p>
        </p:txBody>
      </p:sp>
      <p:sp>
        <p:nvSpPr>
          <p:cNvPr id="20" name="Rectangle 19"/>
          <p:cNvSpPr/>
          <p:nvPr/>
        </p:nvSpPr>
        <p:spPr>
          <a:xfrm>
            <a:off x="896112" y="3474720"/>
            <a:ext cx="10881360" cy="530352"/>
          </a:xfrm>
          <a:prstGeom prst="rect">
            <a:avLst/>
          </a:prstGeom>
          <a:solidFill>
            <a:srgbClr val="FFFFFF"/>
          </a:solidFill>
          <a:ln w="9525">
            <a:solidFill>
              <a:srgbClr val="D6D6DE"/>
            </a:solidFill>
          </a:ln>
          <a:effectLst/>
        </p:spPr>
        <p:txBody>
          <a:bodyPr rtlCol="0" anchor="ctr" wrap="square"/>
          <a:lstStyle/>
          <a:p>
            <a:pPr algn="ctr"/>
          </a:p>
        </p:txBody>
      </p:sp>
      <p:sp>
        <p:nvSpPr>
          <p:cNvPr id="21" name="TextBox 20"/>
          <p:cNvSpPr txBox="1"/>
          <p:nvPr/>
        </p:nvSpPr>
        <p:spPr>
          <a:xfrm>
            <a:off x="1051560" y="3593592"/>
            <a:ext cx="1920240" cy="320040"/>
          </a:xfrm>
          <a:prstGeom prst="rect">
            <a:avLst/>
          </a:prstGeom>
          <a:noFill/>
        </p:spPr>
        <p:txBody>
          <a:bodyPr wrap="square" anchor="t" lIns="0" rIns="0" tIns="0" bIns="0">
            <a:spAutoFit/>
          </a:bodyPr>
          <a:lstStyle/>
          <a:p>
            <a:pPr algn="l">
              <a:spcBef>
                <a:spcPts val="0"/>
              </a:spcBef>
              <a:spcAft>
                <a:spcPts val="0"/>
              </a:spcAft>
            </a:pPr>
            <a:r>
              <a:rPr sz="1350" b="1">
                <a:solidFill>
                  <a:srgbClr val="1B1B24"/>
                </a:solidFill>
                <a:latin typeface="Calibri"/>
              </a:rPr>
              <a:t>Shrouded Mage</a:t>
            </a:r>
          </a:p>
        </p:txBody>
      </p:sp>
      <p:sp>
        <p:nvSpPr>
          <p:cNvPr id="22" name="TextBox 21"/>
          <p:cNvSpPr txBox="1"/>
          <p:nvPr/>
        </p:nvSpPr>
        <p:spPr>
          <a:xfrm>
            <a:off x="2926080" y="3511296"/>
            <a:ext cx="3749039" cy="457200"/>
          </a:xfrm>
          <a:prstGeom prst="rect">
            <a:avLst/>
          </a:prstGeom>
          <a:noFill/>
        </p:spPr>
        <p:txBody>
          <a:bodyPr wrap="square" anchor="t" lIns="0" rIns="0" tIns="0" bIns="0">
            <a:spAutoFit/>
          </a:bodyPr>
          <a:lstStyle/>
          <a:p>
            <a:pPr algn="l">
              <a:spcBef>
                <a:spcPts val="0"/>
              </a:spcBef>
              <a:spcAft>
                <a:spcPts val="100"/>
              </a:spcAft>
            </a:pPr>
            <a:r>
              <a:rPr sz="1050" b="0">
                <a:solidFill>
                  <a:srgbClr val="1B1B24"/>
                </a:solidFill>
                <a:latin typeface="Consolas"/>
              </a:rPr>
              <a:t>UndercityBarracks1</a:t>
            </a:r>
          </a:p>
          <a:p>
            <a:pPr algn="l">
              <a:spcBef>
                <a:spcPts val="0"/>
              </a:spcBef>
              <a:spcAft>
                <a:spcPts val="0"/>
              </a:spcAft>
            </a:pPr>
            <a:r>
              <a:rPr sz="1050" b="0">
                <a:solidFill>
                  <a:srgbClr val="5E5E70"/>
                </a:solidFill>
                <a:latin typeface="Calibri"/>
              </a:rPr>
              <a:t>Undercity</a:t>
            </a:r>
          </a:p>
        </p:txBody>
      </p:sp>
      <p:sp>
        <p:nvSpPr>
          <p:cNvPr id="23" name="Rectangle 22"/>
          <p:cNvSpPr/>
          <p:nvPr/>
        </p:nvSpPr>
        <p:spPr>
          <a:xfrm>
            <a:off x="6720840" y="3593592"/>
            <a:ext cx="1188720" cy="292608"/>
          </a:xfrm>
          <a:prstGeom prst="rect">
            <a:avLst/>
          </a:prstGeom>
          <a:solidFill>
            <a:srgbClr val="8C2F39"/>
          </a:solidFill>
          <a:ln>
            <a:noFill/>
          </a:ln>
          <a:effectLst/>
        </p:spPr>
        <p:txBody>
          <a:bodyPr rtlCol="0" anchor="ctr" wrap="square" lIns="73152" rIns="73152"/>
          <a:lstStyle/>
          <a:p>
            <a:pPr algn="ctr"/>
            <a:r>
              <a:rPr sz="1050" b="1">
                <a:solidFill>
                  <a:srgbClr val="FFFFFF"/>
                </a:solidFill>
                <a:latin typeface="Calibri"/>
              </a:rPr>
              <a:t>Warlock</a:t>
            </a:r>
          </a:p>
        </p:txBody>
      </p:sp>
      <p:sp>
        <p:nvSpPr>
          <p:cNvPr id="24" name="Rectangle 23"/>
          <p:cNvSpPr/>
          <p:nvPr/>
        </p:nvSpPr>
        <p:spPr>
          <a:xfrm>
            <a:off x="7982712" y="3593592"/>
            <a:ext cx="1188720"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25" name="Rectangle 24"/>
          <p:cNvSpPr/>
          <p:nvPr/>
        </p:nvSpPr>
        <p:spPr>
          <a:xfrm>
            <a:off x="9244584" y="3593592"/>
            <a:ext cx="1188720" cy="292608"/>
          </a:xfrm>
          <a:prstGeom prst="rect">
            <a:avLst/>
          </a:prstGeom>
          <a:solidFill>
            <a:srgbClr val="3F773F"/>
          </a:solidFill>
          <a:ln>
            <a:noFill/>
          </a:ln>
          <a:effectLst/>
        </p:spPr>
        <p:txBody>
          <a:bodyPr rtlCol="0" anchor="ctr" wrap="square" lIns="73152" rIns="73152"/>
          <a:lstStyle/>
          <a:p>
            <a:pPr algn="ctr"/>
            <a:r>
              <a:rPr sz="1050" b="1">
                <a:solidFill>
                  <a:srgbClr val="FFFFFF"/>
                </a:solidFill>
                <a:latin typeface="Calibri"/>
              </a:rPr>
              <a:t>Druid</a:t>
            </a:r>
          </a:p>
        </p:txBody>
      </p:sp>
      <p:sp>
        <p:nvSpPr>
          <p:cNvPr id="26" name="Rectangle 25"/>
          <p:cNvSpPr/>
          <p:nvPr/>
        </p:nvSpPr>
        <p:spPr>
          <a:xfrm>
            <a:off x="10506456" y="3593592"/>
            <a:ext cx="1188720" cy="292608"/>
          </a:xfrm>
          <a:prstGeom prst="rect">
            <a:avLst/>
          </a:prstGeom>
          <a:solidFill>
            <a:srgbClr val="2A6E77"/>
          </a:solidFill>
          <a:ln>
            <a:noFill/>
          </a:ln>
          <a:effectLst/>
        </p:spPr>
        <p:txBody>
          <a:bodyPr rtlCol="0" anchor="ctr" wrap="square" lIns="73152" rIns="73152"/>
          <a:lstStyle/>
          <a:p>
            <a:pPr algn="ctr"/>
            <a:r>
              <a:rPr sz="1050" b="1">
                <a:solidFill>
                  <a:srgbClr val="FFFFFF"/>
                </a:solidFill>
                <a:latin typeface="Calibri"/>
              </a:rPr>
              <a:t>Shaman</a:t>
            </a:r>
          </a:p>
        </p:txBody>
      </p:sp>
      <p:sp>
        <p:nvSpPr>
          <p:cNvPr id="27" name="Rectangle 26"/>
          <p:cNvSpPr/>
          <p:nvPr/>
        </p:nvSpPr>
        <p:spPr>
          <a:xfrm>
            <a:off x="896112" y="4059936"/>
            <a:ext cx="10881360" cy="530352"/>
          </a:xfrm>
          <a:prstGeom prst="rect">
            <a:avLst/>
          </a:prstGeom>
          <a:solidFill>
            <a:srgbClr val="FFFFFF"/>
          </a:solidFill>
          <a:ln w="9525">
            <a:solidFill>
              <a:srgbClr val="D6D6DE"/>
            </a:solidFill>
          </a:ln>
          <a:effectLst/>
        </p:spPr>
        <p:txBody>
          <a:bodyPr rtlCol="0" anchor="ctr" wrap="square"/>
          <a:lstStyle/>
          <a:p>
            <a:pPr algn="ctr"/>
          </a:p>
        </p:txBody>
      </p:sp>
      <p:sp>
        <p:nvSpPr>
          <p:cNvPr id="28" name="TextBox 27"/>
          <p:cNvSpPr txBox="1"/>
          <p:nvPr/>
        </p:nvSpPr>
        <p:spPr>
          <a:xfrm>
            <a:off x="1051560" y="4178808"/>
            <a:ext cx="1920240" cy="320040"/>
          </a:xfrm>
          <a:prstGeom prst="rect">
            <a:avLst/>
          </a:prstGeom>
          <a:noFill/>
        </p:spPr>
        <p:txBody>
          <a:bodyPr wrap="square" anchor="t" lIns="0" rIns="0" tIns="0" bIns="0">
            <a:spAutoFit/>
          </a:bodyPr>
          <a:lstStyle/>
          <a:p>
            <a:pPr algn="l">
              <a:spcBef>
                <a:spcPts val="0"/>
              </a:spcBef>
              <a:spcAft>
                <a:spcPts val="0"/>
              </a:spcAft>
            </a:pPr>
            <a:r>
              <a:rPr sz="1350" b="1">
                <a:solidFill>
                  <a:srgbClr val="1B1B24"/>
                </a:solidFill>
                <a:latin typeface="Calibri"/>
              </a:rPr>
              <a:t>The Bash Hole</a:t>
            </a:r>
          </a:p>
        </p:txBody>
      </p:sp>
      <p:sp>
        <p:nvSpPr>
          <p:cNvPr id="29" name="TextBox 28"/>
          <p:cNvSpPr txBox="1"/>
          <p:nvPr/>
        </p:nvSpPr>
        <p:spPr>
          <a:xfrm>
            <a:off x="2926080" y="4096512"/>
            <a:ext cx="3749039" cy="457200"/>
          </a:xfrm>
          <a:prstGeom prst="rect">
            <a:avLst/>
          </a:prstGeom>
          <a:noFill/>
        </p:spPr>
        <p:txBody>
          <a:bodyPr wrap="square" anchor="t" lIns="0" rIns="0" tIns="0" bIns="0">
            <a:spAutoFit/>
          </a:bodyPr>
          <a:lstStyle/>
          <a:p>
            <a:pPr algn="l">
              <a:spcBef>
                <a:spcPts val="0"/>
              </a:spcBef>
              <a:spcAft>
                <a:spcPts val="100"/>
              </a:spcAft>
            </a:pPr>
            <a:r>
              <a:rPr sz="1050" b="0">
                <a:solidFill>
                  <a:srgbClr val="1B1B24"/>
                </a:solidFill>
                <a:latin typeface="Consolas"/>
              </a:rPr>
              <a:t>UndercityBarracks3BashHole</a:t>
            </a:r>
          </a:p>
          <a:p>
            <a:pPr algn="l">
              <a:spcBef>
                <a:spcPts val="0"/>
              </a:spcBef>
              <a:spcAft>
                <a:spcPts val="0"/>
              </a:spcAft>
            </a:pPr>
            <a:r>
              <a:rPr sz="1050" b="0">
                <a:solidFill>
                  <a:srgbClr val="5E5E70"/>
                </a:solidFill>
                <a:latin typeface="Calibri"/>
              </a:rPr>
              <a:t>Undercity</a:t>
            </a:r>
          </a:p>
        </p:txBody>
      </p:sp>
      <p:sp>
        <p:nvSpPr>
          <p:cNvPr id="30" name="Rectangle 29"/>
          <p:cNvSpPr/>
          <p:nvPr/>
        </p:nvSpPr>
        <p:spPr>
          <a:xfrm>
            <a:off x="6720840" y="4178808"/>
            <a:ext cx="1188720" cy="292608"/>
          </a:xfrm>
          <a:prstGeom prst="rect">
            <a:avLst/>
          </a:prstGeom>
          <a:solidFill>
            <a:srgbClr val="8C2F39"/>
          </a:solidFill>
          <a:ln>
            <a:noFill/>
          </a:ln>
          <a:effectLst/>
        </p:spPr>
        <p:txBody>
          <a:bodyPr rtlCol="0" anchor="ctr" wrap="square" lIns="73152" rIns="73152"/>
          <a:lstStyle/>
          <a:p>
            <a:pPr algn="ctr"/>
            <a:r>
              <a:rPr sz="1050" b="1">
                <a:solidFill>
                  <a:srgbClr val="FFFFFF"/>
                </a:solidFill>
                <a:latin typeface="Calibri"/>
              </a:rPr>
              <a:t>Warlock</a:t>
            </a:r>
          </a:p>
        </p:txBody>
      </p:sp>
      <p:sp>
        <p:nvSpPr>
          <p:cNvPr id="31" name="Rectangle 30"/>
          <p:cNvSpPr/>
          <p:nvPr/>
        </p:nvSpPr>
        <p:spPr>
          <a:xfrm>
            <a:off x="896112" y="4645152"/>
            <a:ext cx="10881360" cy="530352"/>
          </a:xfrm>
          <a:prstGeom prst="rect">
            <a:avLst/>
          </a:prstGeom>
          <a:solidFill>
            <a:srgbClr val="FFFFFF"/>
          </a:solidFill>
          <a:ln w="9525">
            <a:solidFill>
              <a:srgbClr val="D6D6DE"/>
            </a:solidFill>
          </a:ln>
          <a:effectLst/>
        </p:spPr>
        <p:txBody>
          <a:bodyPr rtlCol="0" anchor="ctr" wrap="square"/>
          <a:lstStyle/>
          <a:p>
            <a:pPr algn="ctr"/>
          </a:p>
        </p:txBody>
      </p:sp>
      <p:sp>
        <p:nvSpPr>
          <p:cNvPr id="32" name="TextBox 31"/>
          <p:cNvSpPr txBox="1"/>
          <p:nvPr/>
        </p:nvSpPr>
        <p:spPr>
          <a:xfrm>
            <a:off x="1051560" y="4764024"/>
            <a:ext cx="1920240" cy="320040"/>
          </a:xfrm>
          <a:prstGeom prst="rect">
            <a:avLst/>
          </a:prstGeom>
          <a:noFill/>
        </p:spPr>
        <p:txBody>
          <a:bodyPr wrap="square" anchor="t" lIns="0" rIns="0" tIns="0" bIns="0">
            <a:spAutoFit/>
          </a:bodyPr>
          <a:lstStyle/>
          <a:p>
            <a:pPr algn="l">
              <a:spcBef>
                <a:spcPts val="0"/>
              </a:spcBef>
              <a:spcAft>
                <a:spcPts val="0"/>
              </a:spcAft>
            </a:pPr>
            <a:r>
              <a:rPr sz="1350" b="1">
                <a:solidFill>
                  <a:srgbClr val="1B1B24"/>
                </a:solidFill>
                <a:latin typeface="Calibri"/>
              </a:rPr>
              <a:t>The Fence</a:t>
            </a:r>
          </a:p>
        </p:txBody>
      </p:sp>
      <p:sp>
        <p:nvSpPr>
          <p:cNvPr id="33" name="TextBox 32"/>
          <p:cNvSpPr txBox="1"/>
          <p:nvPr/>
        </p:nvSpPr>
        <p:spPr>
          <a:xfrm>
            <a:off x="2926080" y="4681728"/>
            <a:ext cx="3749039" cy="457200"/>
          </a:xfrm>
          <a:prstGeom prst="rect">
            <a:avLst/>
          </a:prstGeom>
          <a:noFill/>
        </p:spPr>
        <p:txBody>
          <a:bodyPr wrap="square" anchor="t" lIns="0" rIns="0" tIns="0" bIns="0">
            <a:spAutoFit/>
          </a:bodyPr>
          <a:lstStyle/>
          <a:p>
            <a:pPr algn="l">
              <a:spcBef>
                <a:spcPts val="0"/>
              </a:spcBef>
              <a:spcAft>
                <a:spcPts val="100"/>
              </a:spcAft>
            </a:pPr>
            <a:r>
              <a:rPr sz="1050" b="0">
                <a:solidFill>
                  <a:srgbClr val="1B1B24"/>
                </a:solidFill>
                <a:latin typeface="Consolas"/>
              </a:rPr>
              <a:t>UndercityBarracks0FalseDogTavern</a:t>
            </a:r>
          </a:p>
          <a:p>
            <a:pPr algn="l">
              <a:spcBef>
                <a:spcPts val="0"/>
              </a:spcBef>
              <a:spcAft>
                <a:spcPts val="0"/>
              </a:spcAft>
            </a:pPr>
            <a:r>
              <a:rPr sz="1050" b="0">
                <a:solidFill>
                  <a:srgbClr val="5E5E70"/>
                </a:solidFill>
                <a:latin typeface="Calibri"/>
              </a:rPr>
              <a:t>Undercity</a:t>
            </a:r>
          </a:p>
        </p:txBody>
      </p:sp>
      <p:sp>
        <p:nvSpPr>
          <p:cNvPr id="34" name="Rectangle 33"/>
          <p:cNvSpPr/>
          <p:nvPr/>
        </p:nvSpPr>
        <p:spPr>
          <a:xfrm>
            <a:off x="6720840" y="4764024"/>
            <a:ext cx="1188720" cy="292608"/>
          </a:xfrm>
          <a:prstGeom prst="rect">
            <a:avLst/>
          </a:prstGeom>
          <a:solidFill>
            <a:srgbClr val="4B3A6B"/>
          </a:solidFill>
          <a:ln>
            <a:noFill/>
          </a:ln>
          <a:effectLst/>
        </p:spPr>
        <p:txBody>
          <a:bodyPr rtlCol="0" anchor="ctr" wrap="square" lIns="73152" rIns="73152"/>
          <a:lstStyle/>
          <a:p>
            <a:pPr algn="ctr"/>
            <a:r>
              <a:rPr sz="1050" b="1">
                <a:solidFill>
                  <a:srgbClr val="FFFFFF"/>
                </a:solidFill>
                <a:latin typeface="Calibri"/>
              </a:rPr>
              <a:t>Shadow</a:t>
            </a:r>
          </a:p>
        </p:txBody>
      </p:sp>
      <p:sp>
        <p:nvSpPr>
          <p:cNvPr id="35" name="TextBox 34"/>
          <p:cNvSpPr txBox="1"/>
          <p:nvPr/>
        </p:nvSpPr>
        <p:spPr>
          <a:xfrm>
            <a:off x="896112" y="5815584"/>
            <a:ext cx="10881360" cy="502920"/>
          </a:xfrm>
          <a:prstGeom prst="rect">
            <a:avLst/>
          </a:prstGeom>
          <a:noFill/>
        </p:spPr>
        <p:txBody>
          <a:bodyPr wrap="square" anchor="t" lIns="0" rIns="0" tIns="0" bIns="0">
            <a:spAutoFit/>
          </a:bodyPr>
          <a:lstStyle/>
          <a:p>
            <a:pPr algn="l">
              <a:lnSpc>
                <a:spcPct val="120000"/>
              </a:lnSpc>
              <a:spcBef>
                <a:spcPts val="0"/>
              </a:spcBef>
              <a:spcAft>
                <a:spcPts val="0"/>
              </a:spcAft>
            </a:pPr>
            <a:r>
              <a:rPr sz="1150" b="0">
                <a:solidFill>
                  <a:srgbClr val="5E5E70"/>
                </a:solidFill>
                <a:latin typeface="Calibri"/>
              </a:rPr>
              <a:t>Druid and Shaman have no Ark/Undercity vendor of their own, so they go to the two shops that can justify carrying anything — the library and the Shrouded Mage. Sister Envy is NOT Undercity: her chest sits in FSNQR03RhalataTemple, so the richest vendor in the set keeps the low tiers only.</a:t>
            </a:r>
          </a:p>
        </p:txBody>
      </p:sp>
      <p:sp>
        <p:nvSpPr>
          <p:cNvPr id="36" name="Rectangle 35"/>
          <p:cNvSpPr/>
          <p:nvPr/>
        </p:nvSpPr>
        <p:spPr>
          <a:xfrm>
            <a:off x="896112" y="5303520"/>
            <a:ext cx="10881360" cy="420624"/>
          </a:xfrm>
          <a:prstGeom prst="rect">
            <a:avLst/>
          </a:prstGeom>
          <a:solidFill>
            <a:srgbClr val="F0F0F5"/>
          </a:solidFill>
          <a:ln>
            <a:noFill/>
          </a:ln>
          <a:effectLst/>
        </p:spPr>
        <p:txBody>
          <a:bodyPr rtlCol="0" anchor="ctr" wrap="square" lIns="73152" rIns="73152"/>
          <a:lstStyle/>
          <a:p>
            <a:pPr algn="ctr"/>
            <a:r>
              <a:rPr sz="1250" b="1">
                <a:solidFill>
                  <a:srgbClr val="2C2A4A"/>
                </a:solidFill>
                <a:latin typeface="Calibri"/>
              </a:rPr>
              <a:t>Every archetype keeps at least two Expert/Master sources  ·  asserted: all 30 high-tier tomes reachable ONLY from these five chests</a:t>
            </a:r>
          </a:p>
        </p:txBody>
      </p:sp>
      <p:sp>
        <p:nvSpPr>
          <p:cNvPr id="37" name="TextBox 36"/>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Locations resolved from each container's placed ref, not from its name</a:t>
            </a:r>
          </a:p>
        </p:txBody>
      </p:sp>
      <p:sp>
        <p:nvSpPr>
          <p:cNvPr id="38" name="TextBox 37"/>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a:effectLst/>
        </p:spPr>
        <p:txBody>
          <a:bodyPr rtlCol="0" anchor="ctr"/>
          <a:lstStyle/>
          <a:p>
            <a:pPr algn="ctr"/>
          </a:p>
        </p:txBody>
      </p:sp>
      <p:sp>
        <p:nvSpPr>
          <p:cNvPr id="3" name="Rectangle 2"/>
          <p:cNvSpPr/>
          <p:nvPr/>
        </p:nvSpPr>
        <p:spPr>
          <a:xfrm>
            <a:off x="640080" y="475488"/>
            <a:ext cx="82296" cy="658368"/>
          </a:xfrm>
          <a:prstGeom prst="rect">
            <a:avLst/>
          </a:prstGeom>
          <a:solidFill>
            <a:srgbClr val="2C2A4A"/>
          </a:solidFill>
          <a:ln>
            <a:noFill/>
          </a:ln>
          <a:effectLst/>
        </p:spPr>
        <p:txBody>
          <a:bodyPr rtlCol="0" anchor="ctr" wrap="square"/>
          <a:lstStyle/>
          <a:p>
            <a:pPr algn="ctr"/>
          </a:p>
        </p:txBody>
      </p:sp>
      <p:sp>
        <p:nvSpPr>
          <p:cNvPr id="4" name="TextBox 3"/>
          <p:cNvSpPr txBox="1"/>
          <p:nvPr/>
        </p:nvSpPr>
        <p:spPr>
          <a:xfrm>
            <a:off x="896112" y="402336"/>
            <a:ext cx="10607040" cy="822960"/>
          </a:xfrm>
          <a:prstGeom prst="rect">
            <a:avLst/>
          </a:prstGeom>
          <a:noFill/>
        </p:spPr>
        <p:txBody>
          <a:bodyPr wrap="square" anchor="t" lIns="0" rIns="0" tIns="0" bIns="0">
            <a:spAutoFit/>
          </a:bodyPr>
          <a:lstStyle/>
          <a:p>
            <a:pPr algn="l">
              <a:spcBef>
                <a:spcPts val="0"/>
              </a:spcBef>
              <a:spcAft>
                <a:spcPts val="200"/>
              </a:spcAft>
            </a:pPr>
            <a:r>
              <a:rPr sz="1150" b="1">
                <a:solidFill>
                  <a:srgbClr val="2C2A4A"/>
                </a:solidFill>
                <a:latin typeface="Calibri"/>
              </a:rPr>
              <a:t>WHERE IT STANDS</a:t>
            </a:r>
          </a:p>
          <a:p>
            <a:pPr algn="l">
              <a:lnSpc>
                <a:spcPct val="95000"/>
              </a:lnSpc>
              <a:spcBef>
                <a:spcPts val="0"/>
              </a:spcBef>
              <a:spcAft>
                <a:spcPts val="0"/>
              </a:spcAft>
            </a:pPr>
            <a:r>
              <a:rPr sz="3000" b="1">
                <a:solidFill>
                  <a:srgbClr val="1B1B24"/>
                </a:solidFill>
                <a:latin typeface="Calibri"/>
              </a:rPr>
              <a:t>Verified, and what is still open</a:t>
            </a:r>
          </a:p>
        </p:txBody>
      </p:sp>
      <p:sp>
        <p:nvSpPr>
          <p:cNvPr id="5" name="TextBox 4"/>
          <p:cNvSpPr txBox="1"/>
          <p:nvPr/>
        </p:nvSpPr>
        <p:spPr>
          <a:xfrm>
            <a:off x="896112" y="1316736"/>
            <a:ext cx="5120640" cy="274320"/>
          </a:xfrm>
          <a:prstGeom prst="rect">
            <a:avLst/>
          </a:prstGeom>
          <a:noFill/>
        </p:spPr>
        <p:txBody>
          <a:bodyPr wrap="square" anchor="t" lIns="0" rIns="0" tIns="0" bIns="0">
            <a:spAutoFit/>
          </a:bodyPr>
          <a:lstStyle/>
          <a:p>
            <a:pPr algn="l">
              <a:spcBef>
                <a:spcPts val="0"/>
              </a:spcBef>
              <a:spcAft>
                <a:spcPts val="0"/>
              </a:spcAft>
            </a:pPr>
            <a:r>
              <a:rPr sz="1100" b="1">
                <a:solidFill>
                  <a:srgbClr val="2E6F4F"/>
                </a:solidFill>
                <a:latin typeface="Calibri"/>
              </a:rPr>
              <a:t>VERIFIED</a:t>
            </a:r>
          </a:p>
        </p:txBody>
      </p:sp>
      <p:sp>
        <p:nvSpPr>
          <p:cNvPr id="6" name="Rectangle 5"/>
          <p:cNvSpPr/>
          <p:nvPr/>
        </p:nvSpPr>
        <p:spPr>
          <a:xfrm>
            <a:off x="896112" y="1609344"/>
            <a:ext cx="5212080" cy="877824"/>
          </a:xfrm>
          <a:prstGeom prst="rect">
            <a:avLst/>
          </a:prstGeom>
          <a:solidFill>
            <a:srgbClr val="FFFFFF"/>
          </a:solidFill>
          <a:ln w="9525">
            <a:solidFill>
              <a:srgbClr val="D6D6DE"/>
            </a:solidFill>
          </a:ln>
          <a:effectLst/>
        </p:spPr>
        <p:txBody>
          <a:bodyPr rtlCol="0" anchor="ctr" wrap="square"/>
          <a:lstStyle/>
          <a:p>
            <a:pPr algn="ctr"/>
          </a:p>
        </p:txBody>
      </p:sp>
      <p:sp>
        <p:nvSpPr>
          <p:cNvPr id="7" name="Rectangle 6"/>
          <p:cNvSpPr/>
          <p:nvPr/>
        </p:nvSpPr>
        <p:spPr>
          <a:xfrm>
            <a:off x="896112" y="1609344"/>
            <a:ext cx="59436" cy="877824"/>
          </a:xfrm>
          <a:prstGeom prst="rect">
            <a:avLst/>
          </a:prstGeom>
          <a:solidFill>
            <a:srgbClr val="2E6F4F"/>
          </a:solidFill>
          <a:ln>
            <a:noFill/>
          </a:ln>
          <a:effectLst/>
        </p:spPr>
        <p:txBody>
          <a:bodyPr rtlCol="0" anchor="ctr" wrap="square"/>
          <a:lstStyle/>
          <a:p>
            <a:pPr algn="ctr"/>
          </a:p>
        </p:txBody>
      </p:sp>
      <p:sp>
        <p:nvSpPr>
          <p:cNvPr id="8" name="TextBox 7"/>
          <p:cNvSpPr txBox="1"/>
          <p:nvPr/>
        </p:nvSpPr>
        <p:spPr>
          <a:xfrm>
            <a:off x="1115568" y="1755648"/>
            <a:ext cx="4754880" cy="73152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Zero container overrides</a:t>
            </a:r>
          </a:p>
          <a:p>
            <a:pPr algn="l">
              <a:lnSpc>
                <a:spcPct val="115000"/>
              </a:lnSpc>
              <a:spcBef>
                <a:spcPts val="0"/>
              </a:spcBef>
              <a:spcAft>
                <a:spcPts val="0"/>
              </a:spcAft>
            </a:pPr>
            <a:r>
              <a:rPr sz="1050" b="0">
                <a:solidFill>
                  <a:srgbClr val="5E5E70"/>
                </a:solidFill>
                <a:latin typeface="Calibri"/>
              </a:rPr>
              <a:t>The whole override surface is 10 LeveledItems — each confirmed absent from EGO's conflict index and from Apocalypse</a:t>
            </a:r>
          </a:p>
        </p:txBody>
      </p:sp>
      <p:sp>
        <p:nvSpPr>
          <p:cNvPr id="9" name="Rectangle 8"/>
          <p:cNvSpPr/>
          <p:nvPr/>
        </p:nvSpPr>
        <p:spPr>
          <a:xfrm>
            <a:off x="896112" y="2578608"/>
            <a:ext cx="5212080" cy="877824"/>
          </a:xfrm>
          <a:prstGeom prst="rect">
            <a:avLst/>
          </a:prstGeom>
          <a:solidFill>
            <a:srgbClr val="FFFFFF"/>
          </a:solidFill>
          <a:ln w="9525">
            <a:solidFill>
              <a:srgbClr val="D6D6DE"/>
            </a:solidFill>
          </a:ln>
          <a:effectLst/>
        </p:spPr>
        <p:txBody>
          <a:bodyPr rtlCol="0" anchor="ctr" wrap="square"/>
          <a:lstStyle/>
          <a:p>
            <a:pPr algn="ctr"/>
          </a:p>
        </p:txBody>
      </p:sp>
      <p:sp>
        <p:nvSpPr>
          <p:cNvPr id="10" name="Rectangle 9"/>
          <p:cNvSpPr/>
          <p:nvPr/>
        </p:nvSpPr>
        <p:spPr>
          <a:xfrm>
            <a:off x="896112" y="2578608"/>
            <a:ext cx="59436" cy="877824"/>
          </a:xfrm>
          <a:prstGeom prst="rect">
            <a:avLst/>
          </a:prstGeom>
          <a:solidFill>
            <a:srgbClr val="2E6F4F"/>
          </a:solidFill>
          <a:ln>
            <a:noFill/>
          </a:ln>
          <a:effectLst/>
        </p:spPr>
        <p:txBody>
          <a:bodyPr rtlCol="0" anchor="ctr" wrap="square"/>
          <a:lstStyle/>
          <a:p>
            <a:pPr algn="ctr"/>
          </a:p>
        </p:txBody>
      </p:sp>
      <p:sp>
        <p:nvSpPr>
          <p:cNvPr id="11" name="TextBox 10"/>
          <p:cNvSpPr txBox="1"/>
          <p:nvPr/>
        </p:nvSpPr>
        <p:spPr>
          <a:xfrm>
            <a:off x="1115568" y="2724912"/>
            <a:ext cx="4754880" cy="73152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Byte-identical across two builds</a:t>
            </a:r>
          </a:p>
          <a:p>
            <a:pPr algn="l">
              <a:lnSpc>
                <a:spcPct val="115000"/>
              </a:lnSpc>
              <a:spcBef>
                <a:spcPts val="0"/>
              </a:spcBef>
              <a:spcAft>
                <a:spcPts val="0"/>
              </a:spcAft>
            </a:pPr>
            <a:r>
              <a:rPr sz="1050" b="0">
                <a:solidFill>
                  <a:srgbClr val="5E5E70"/>
                </a:solidFill>
                <a:latin typeface="Calibri"/>
              </a:rPr>
              <a:t>SHA-256 43B8EF1E…161510, 739,071 bytes — the guard against Spriggit dropping leveled-list entries</a:t>
            </a:r>
          </a:p>
        </p:txBody>
      </p:sp>
      <p:sp>
        <p:nvSpPr>
          <p:cNvPr id="12" name="Rectangle 11"/>
          <p:cNvSpPr/>
          <p:nvPr/>
        </p:nvSpPr>
        <p:spPr>
          <a:xfrm>
            <a:off x="896112" y="3547872"/>
            <a:ext cx="5212080" cy="877824"/>
          </a:xfrm>
          <a:prstGeom prst="rect">
            <a:avLst/>
          </a:prstGeom>
          <a:solidFill>
            <a:srgbClr val="FFFFFF"/>
          </a:solidFill>
          <a:ln w="9525">
            <a:solidFill>
              <a:srgbClr val="D6D6DE"/>
            </a:solidFill>
          </a:ln>
          <a:effectLst/>
        </p:spPr>
        <p:txBody>
          <a:bodyPr rtlCol="0" anchor="ctr" wrap="square"/>
          <a:lstStyle/>
          <a:p>
            <a:pPr algn="ctr"/>
          </a:p>
        </p:txBody>
      </p:sp>
      <p:sp>
        <p:nvSpPr>
          <p:cNvPr id="13" name="Rectangle 12"/>
          <p:cNvSpPr/>
          <p:nvPr/>
        </p:nvSpPr>
        <p:spPr>
          <a:xfrm>
            <a:off x="896112" y="3547872"/>
            <a:ext cx="59436" cy="877824"/>
          </a:xfrm>
          <a:prstGeom prst="rect">
            <a:avLst/>
          </a:prstGeom>
          <a:solidFill>
            <a:srgbClr val="2E6F4F"/>
          </a:solidFill>
          <a:ln>
            <a:noFill/>
          </a:ln>
          <a:effectLst/>
        </p:spPr>
        <p:txBody>
          <a:bodyPr rtlCol="0" anchor="ctr" wrap="square"/>
          <a:lstStyle/>
          <a:p>
            <a:pPr algn="ctr"/>
          </a:p>
        </p:txBody>
      </p:sp>
      <p:sp>
        <p:nvSpPr>
          <p:cNvPr id="14" name="TextBox 13"/>
          <p:cNvSpPr txBox="1"/>
          <p:nvPr/>
        </p:nvSpPr>
        <p:spPr>
          <a:xfrm>
            <a:off x="1115568" y="3694176"/>
            <a:ext cx="4754880" cy="73152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HEDR 1.70, masters intact; 40 missing refs</a:t>
            </a:r>
          </a:p>
          <a:p>
            <a:pPr algn="l">
              <a:lnSpc>
                <a:spcPct val="115000"/>
              </a:lnSpc>
              <a:spcBef>
                <a:spcPts val="0"/>
              </a:spcBef>
              <a:spcAft>
                <a:spcPts val="0"/>
              </a:spcAft>
            </a:pPr>
            <a:r>
              <a:rPr sz="1050" b="0">
                <a:solidFill>
                  <a:srgbClr val="5E5E70"/>
                </a:solidFill>
                <a:latin typeface="Calibri"/>
              </a:rPr>
              <a:t>Header re-read from the built binary; the ref audit still at its documented pre-existing baseline</a:t>
            </a:r>
          </a:p>
        </p:txBody>
      </p:sp>
      <p:sp>
        <p:nvSpPr>
          <p:cNvPr id="15" name="Rectangle 14"/>
          <p:cNvSpPr/>
          <p:nvPr/>
        </p:nvSpPr>
        <p:spPr>
          <a:xfrm>
            <a:off x="896112" y="4517136"/>
            <a:ext cx="5212080" cy="877824"/>
          </a:xfrm>
          <a:prstGeom prst="rect">
            <a:avLst/>
          </a:prstGeom>
          <a:solidFill>
            <a:srgbClr val="FFFFFF"/>
          </a:solidFill>
          <a:ln w="9525">
            <a:solidFill>
              <a:srgbClr val="D6D6DE"/>
            </a:solidFill>
          </a:ln>
          <a:effectLst/>
        </p:spPr>
        <p:txBody>
          <a:bodyPr rtlCol="0" anchor="ctr" wrap="square"/>
          <a:lstStyle/>
          <a:p>
            <a:pPr algn="ctr"/>
          </a:p>
        </p:txBody>
      </p:sp>
      <p:sp>
        <p:nvSpPr>
          <p:cNvPr id="16" name="Rectangle 15"/>
          <p:cNvSpPr/>
          <p:nvPr/>
        </p:nvSpPr>
        <p:spPr>
          <a:xfrm>
            <a:off x="896112" y="4517136"/>
            <a:ext cx="59436" cy="877824"/>
          </a:xfrm>
          <a:prstGeom prst="rect">
            <a:avLst/>
          </a:prstGeom>
          <a:solidFill>
            <a:srgbClr val="2E6F4F"/>
          </a:solidFill>
          <a:ln>
            <a:noFill/>
          </a:ln>
          <a:effectLst/>
        </p:spPr>
        <p:txBody>
          <a:bodyPr rtlCol="0" anchor="ctr" wrap="square"/>
          <a:lstStyle/>
          <a:p>
            <a:pPr algn="ctr"/>
          </a:p>
        </p:txBody>
      </p:sp>
      <p:sp>
        <p:nvSpPr>
          <p:cNvPr id="17" name="TextBox 16"/>
          <p:cNvSpPr txBox="1"/>
          <p:nvPr/>
        </p:nvSpPr>
        <p:spPr>
          <a:xfrm>
            <a:off x="1115568" y="4663440"/>
            <a:ext cx="4754880" cy="73152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75/75 tomes obtainable, 15 per tier</a:t>
            </a:r>
          </a:p>
          <a:p>
            <a:pPr algn="l">
              <a:lnSpc>
                <a:spcPct val="115000"/>
              </a:lnSpc>
              <a:spcBef>
                <a:spcPts val="0"/>
              </a:spcBef>
              <a:spcAft>
                <a:spcPts val="0"/>
              </a:spcAft>
            </a:pPr>
            <a:r>
              <a:rPr sz="1050" b="0">
                <a:solidFill>
                  <a:srgbClr val="5E5E70"/>
                </a:solidFill>
                <a:latin typeface="Calibri"/>
              </a:rPr>
              <a:t>All 30 Expert/Master confined to the five Ark/Undercity merchants; both generators idempotent</a:t>
            </a:r>
          </a:p>
        </p:txBody>
      </p:sp>
      <p:sp>
        <p:nvSpPr>
          <p:cNvPr id="18" name="TextBox 17"/>
          <p:cNvSpPr txBox="1"/>
          <p:nvPr/>
        </p:nvSpPr>
        <p:spPr>
          <a:xfrm>
            <a:off x="6446520" y="1316736"/>
            <a:ext cx="5303520" cy="274320"/>
          </a:xfrm>
          <a:prstGeom prst="rect">
            <a:avLst/>
          </a:prstGeom>
          <a:noFill/>
        </p:spPr>
        <p:txBody>
          <a:bodyPr wrap="square" anchor="t" lIns="0" rIns="0" tIns="0" bIns="0">
            <a:spAutoFit/>
          </a:bodyPr>
          <a:lstStyle/>
          <a:p>
            <a:pPr algn="l">
              <a:spcBef>
                <a:spcPts val="0"/>
              </a:spcBef>
              <a:spcAft>
                <a:spcPts val="0"/>
              </a:spcAft>
            </a:pPr>
            <a:r>
              <a:rPr sz="1100" b="1">
                <a:solidFill>
                  <a:srgbClr val="A8332B"/>
                </a:solidFill>
                <a:latin typeface="Calibri"/>
              </a:rPr>
              <a:t>OPEN</a:t>
            </a:r>
          </a:p>
        </p:txBody>
      </p:sp>
      <p:sp>
        <p:nvSpPr>
          <p:cNvPr id="19" name="Rectangle 18"/>
          <p:cNvSpPr/>
          <p:nvPr/>
        </p:nvSpPr>
        <p:spPr>
          <a:xfrm>
            <a:off x="6446520" y="1609344"/>
            <a:ext cx="5330952" cy="1207008"/>
          </a:xfrm>
          <a:prstGeom prst="rect">
            <a:avLst/>
          </a:prstGeom>
          <a:solidFill>
            <a:srgbClr val="FFFFFF"/>
          </a:solidFill>
          <a:ln w="9525">
            <a:solidFill>
              <a:srgbClr val="D6D6DE"/>
            </a:solidFill>
          </a:ln>
          <a:effectLst/>
        </p:spPr>
        <p:txBody>
          <a:bodyPr rtlCol="0" anchor="ctr" wrap="square"/>
          <a:lstStyle/>
          <a:p>
            <a:pPr algn="ctr"/>
          </a:p>
        </p:txBody>
      </p:sp>
      <p:sp>
        <p:nvSpPr>
          <p:cNvPr id="20" name="Rectangle 19"/>
          <p:cNvSpPr/>
          <p:nvPr/>
        </p:nvSpPr>
        <p:spPr>
          <a:xfrm>
            <a:off x="6446520" y="1609344"/>
            <a:ext cx="59436" cy="1207008"/>
          </a:xfrm>
          <a:prstGeom prst="rect">
            <a:avLst/>
          </a:prstGeom>
          <a:solidFill>
            <a:srgbClr val="B4862C"/>
          </a:solidFill>
          <a:ln>
            <a:noFill/>
          </a:ln>
          <a:effectLst/>
        </p:spPr>
        <p:txBody>
          <a:bodyPr rtlCol="0" anchor="ctr" wrap="square"/>
          <a:lstStyle/>
          <a:p>
            <a:pPr algn="ctr"/>
          </a:p>
        </p:txBody>
      </p:sp>
      <p:sp>
        <p:nvSpPr>
          <p:cNvPr id="21" name="TextBox 20"/>
          <p:cNvSpPr txBox="1"/>
          <p:nvPr/>
        </p:nvSpPr>
        <p:spPr>
          <a:xfrm>
            <a:off x="6675120" y="1755648"/>
            <a:ext cx="4892040" cy="109728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Not yet proven in game</a:t>
            </a:r>
          </a:p>
          <a:p>
            <a:pPr algn="l">
              <a:lnSpc>
                <a:spcPct val="118000"/>
              </a:lnSpc>
              <a:spcBef>
                <a:spcPts val="0"/>
              </a:spcBef>
              <a:spcAft>
                <a:spcPts val="0"/>
              </a:spcAft>
            </a:pPr>
            <a:r>
              <a:rPr sz="1050" b="0">
                <a:solidFill>
                  <a:srgbClr val="5E5E70"/>
                </a:solidFill>
                <a:latin typeface="Calibri"/>
              </a:rPr>
              <a:t>A clean build is not a working patch. At the vendor visit, confirm an Expert or Master tome AT Marius or an Undercity merchant — and its ABSENCE from Adreyo and the Shrouded Mages.</a:t>
            </a:r>
          </a:p>
        </p:txBody>
      </p:sp>
      <p:sp>
        <p:nvSpPr>
          <p:cNvPr id="22" name="Rectangle 21"/>
          <p:cNvSpPr/>
          <p:nvPr/>
        </p:nvSpPr>
        <p:spPr>
          <a:xfrm>
            <a:off x="6446520" y="2907792"/>
            <a:ext cx="5330952" cy="1207008"/>
          </a:xfrm>
          <a:prstGeom prst="rect">
            <a:avLst/>
          </a:prstGeom>
          <a:solidFill>
            <a:srgbClr val="FFFFFF"/>
          </a:solidFill>
          <a:ln w="9525">
            <a:solidFill>
              <a:srgbClr val="D6D6DE"/>
            </a:solidFill>
          </a:ln>
          <a:effectLst/>
        </p:spPr>
        <p:txBody>
          <a:bodyPr rtlCol="0" anchor="ctr" wrap="square"/>
          <a:lstStyle/>
          <a:p>
            <a:pPr algn="ctr"/>
          </a:p>
        </p:txBody>
      </p:sp>
      <p:sp>
        <p:nvSpPr>
          <p:cNvPr id="23" name="Rectangle 22"/>
          <p:cNvSpPr/>
          <p:nvPr/>
        </p:nvSpPr>
        <p:spPr>
          <a:xfrm>
            <a:off x="6446520" y="2907792"/>
            <a:ext cx="59436" cy="1207008"/>
          </a:xfrm>
          <a:prstGeom prst="rect">
            <a:avLst/>
          </a:prstGeom>
          <a:solidFill>
            <a:srgbClr val="B4862C"/>
          </a:solidFill>
          <a:ln>
            <a:noFill/>
          </a:ln>
          <a:effectLst/>
        </p:spPr>
        <p:txBody>
          <a:bodyPr rtlCol="0" anchor="ctr" wrap="square"/>
          <a:lstStyle/>
          <a:p>
            <a:pPr algn="ctr"/>
          </a:p>
        </p:txBody>
      </p:sp>
      <p:sp>
        <p:nvSpPr>
          <p:cNvPr id="24" name="TextBox 23"/>
          <p:cNvSpPr txBox="1"/>
          <p:nvPr/>
        </p:nvSpPr>
        <p:spPr>
          <a:xfrm>
            <a:off x="6675120" y="3054096"/>
            <a:ext cx="4892040" cy="109728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Hooks verified statically, not played</a:t>
            </a:r>
          </a:p>
          <a:p>
            <a:pPr algn="l">
              <a:lnSpc>
                <a:spcPct val="118000"/>
              </a:lnSpc>
              <a:spcBef>
                <a:spcPts val="0"/>
              </a:spcBef>
              <a:spcAft>
                <a:spcPts val="0"/>
              </a:spcAft>
            </a:pPr>
            <a:r>
              <a:rPr sz="1050" b="0">
                <a:solidFill>
                  <a:srgbClr val="5E5E70"/>
                </a:solidFill>
                <a:latin typeface="Calibri"/>
              </a:rPr>
              <a:t>They are wired into the chests and carry the right flags — UseAll, no ChanceNone, no Global — but nobody has yet watched one produce an item in game.</a:t>
            </a:r>
          </a:p>
        </p:txBody>
      </p:sp>
      <p:sp>
        <p:nvSpPr>
          <p:cNvPr id="25" name="Rectangle 24"/>
          <p:cNvSpPr/>
          <p:nvPr/>
        </p:nvSpPr>
        <p:spPr>
          <a:xfrm>
            <a:off x="6446520" y="4206240"/>
            <a:ext cx="5330952" cy="1207008"/>
          </a:xfrm>
          <a:prstGeom prst="rect">
            <a:avLst/>
          </a:prstGeom>
          <a:solidFill>
            <a:srgbClr val="FFFFFF"/>
          </a:solidFill>
          <a:ln w="9525">
            <a:solidFill>
              <a:srgbClr val="D6D6DE"/>
            </a:solidFill>
          </a:ln>
          <a:effectLst/>
        </p:spPr>
        <p:txBody>
          <a:bodyPr rtlCol="0" anchor="ctr" wrap="square"/>
          <a:lstStyle/>
          <a:p>
            <a:pPr algn="ctr"/>
          </a:p>
        </p:txBody>
      </p:sp>
      <p:sp>
        <p:nvSpPr>
          <p:cNvPr id="26" name="Rectangle 25"/>
          <p:cNvSpPr/>
          <p:nvPr/>
        </p:nvSpPr>
        <p:spPr>
          <a:xfrm>
            <a:off x="6446520" y="4206240"/>
            <a:ext cx="59436" cy="1207008"/>
          </a:xfrm>
          <a:prstGeom prst="rect">
            <a:avLst/>
          </a:prstGeom>
          <a:solidFill>
            <a:srgbClr val="2E6F4F"/>
          </a:solidFill>
          <a:ln>
            <a:noFill/>
          </a:ln>
          <a:effectLst/>
        </p:spPr>
        <p:txBody>
          <a:bodyPr rtlCol="0" anchor="ctr" wrap="square"/>
          <a:lstStyle/>
          <a:p>
            <a:pPr algn="ctr"/>
          </a:p>
        </p:txBody>
      </p:sp>
      <p:sp>
        <p:nvSpPr>
          <p:cNvPr id="27" name="TextBox 26"/>
          <p:cNvSpPr txBox="1"/>
          <p:nvPr/>
        </p:nvSpPr>
        <p:spPr>
          <a:xfrm>
            <a:off x="6675120" y="4352544"/>
            <a:ext cx="4892040" cy="1097280"/>
          </a:xfrm>
          <a:prstGeom prst="rect">
            <a:avLst/>
          </a:prstGeom>
          <a:noFill/>
        </p:spPr>
        <p:txBody>
          <a:bodyPr wrap="square" anchor="t" lIns="0" rIns="0" tIns="0" bIns="0">
            <a:spAutoFit/>
          </a:bodyPr>
          <a:lstStyle/>
          <a:p>
            <a:pPr algn="l">
              <a:lnSpc>
                <a:spcPct val="110000"/>
              </a:lnSpc>
              <a:spcBef>
                <a:spcPts val="0"/>
              </a:spcBef>
              <a:spcAft>
                <a:spcPts val="300"/>
              </a:spcAft>
            </a:pPr>
            <a:r>
              <a:rPr sz="1250" b="1">
                <a:solidFill>
                  <a:srgbClr val="1B1B24"/>
                </a:solidFill>
                <a:latin typeface="Calibri"/>
              </a:rPr>
              <a:t>RESOLVED: the EGO collision</a:t>
            </a:r>
          </a:p>
          <a:p>
            <a:pPr algn="l">
              <a:lnSpc>
                <a:spcPct val="118000"/>
              </a:lnSpc>
              <a:spcBef>
                <a:spcPts val="0"/>
              </a:spcBef>
              <a:spcAft>
                <a:spcPts val="0"/>
              </a:spcAft>
            </a:pPr>
            <a:r>
              <a:rPr sz="1050" b="0">
                <a:solidFill>
                  <a:srgbClr val="5E5E70"/>
                </a:solidFill>
                <a:latin typeface="Calibri"/>
              </a:rPr>
              <a:t>Three chests — CCBlacksmithArkGuard, Sister Envy, Hehler — were in EGO's 319 container overrides. Moving to the hooks removed every chest override, so there is nothing left to conflict.</a:t>
            </a:r>
          </a:p>
        </p:txBody>
      </p:sp>
      <p:sp>
        <p:nvSpPr>
          <p:cNvPr id="28" name="Rectangle 27"/>
          <p:cNvSpPr/>
          <p:nvPr/>
        </p:nvSpPr>
        <p:spPr>
          <a:xfrm>
            <a:off x="896112" y="5532120"/>
            <a:ext cx="10881360" cy="530352"/>
          </a:xfrm>
          <a:prstGeom prst="rect">
            <a:avLst/>
          </a:prstGeom>
          <a:solidFill>
            <a:srgbClr val="F0F0F5"/>
          </a:solidFill>
          <a:ln>
            <a:noFill/>
          </a:ln>
          <a:effectLst/>
        </p:spPr>
        <p:txBody>
          <a:bodyPr rtlCol="0" anchor="ctr" wrap="square" lIns="73152" rIns="73152"/>
          <a:lstStyle/>
          <a:p>
            <a:pPr algn="l"/>
            <a:r>
              <a:rPr sz="1150" b="0">
                <a:solidFill>
                  <a:srgbClr val="5E5E70"/>
                </a:solidFill>
                <a:latin typeface="Consolas"/>
              </a:rPr>
              <a:t>Sources:  tools/15-distribution.ps1 + 17-tier-gating.ps1  ·  arch-docs/Triumvirate/vendor-mapping.md  ·  enderal-gap-audit.md</a:t>
            </a:r>
          </a:p>
        </p:txBody>
      </p:sp>
      <p:sp>
        <p:nvSpPr>
          <p:cNvPr id="29" name="TextBox 28"/>
          <p:cNvSpPr txBox="1"/>
          <p:nvPr/>
        </p:nvSpPr>
        <p:spPr>
          <a:xfrm>
            <a:off x="640080" y="6327648"/>
            <a:ext cx="9692640" cy="292608"/>
          </a:xfrm>
          <a:prstGeom prst="rect">
            <a:avLst/>
          </a:prstGeom>
          <a:noFill/>
        </p:spPr>
        <p:txBody>
          <a:bodyPr wrap="square" anchor="t" lIns="0" rIns="0" tIns="0" bIns="0">
            <a:spAutoFit/>
          </a:bodyPr>
          <a:lstStyle/>
          <a:p>
            <a:pPr algn="l">
              <a:spcBef>
                <a:spcPts val="0"/>
              </a:spcBef>
              <a:spcAft>
                <a:spcPts val="0"/>
              </a:spcAft>
            </a:pPr>
            <a:r>
              <a:rPr sz="1050" b="0">
                <a:solidFill>
                  <a:srgbClr val="5E5E70"/>
                </a:solidFill>
                <a:latin typeface="Calibri"/>
              </a:rPr>
              <a:t>Triumvirate — Mage Archetypes, Enderal conversion</a:t>
            </a:r>
          </a:p>
        </p:txBody>
      </p:sp>
      <p:sp>
        <p:nvSpPr>
          <p:cNvPr id="30" name="TextBox 29"/>
          <p:cNvSpPr txBox="1"/>
          <p:nvPr/>
        </p:nvSpPr>
        <p:spPr>
          <a:xfrm>
            <a:off x="10515600" y="6327648"/>
            <a:ext cx="1033271" cy="292608"/>
          </a:xfrm>
          <a:prstGeom prst="rect">
            <a:avLst/>
          </a:prstGeom>
          <a:noFill/>
        </p:spPr>
        <p:txBody>
          <a:bodyPr wrap="square" anchor="t" lIns="0" rIns="0" tIns="0" bIns="0">
            <a:spAutoFit/>
          </a:bodyPr>
          <a:lstStyle/>
          <a:p>
            <a:pPr algn="r">
              <a:spcBef>
                <a:spcPts val="0"/>
              </a:spcBef>
              <a:spcAft>
                <a:spcPts val="0"/>
              </a:spcAft>
            </a:pPr>
            <a:r>
              <a:rPr sz="1050" b="0">
                <a:solidFill>
                  <a:srgbClr val="5E5E70"/>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